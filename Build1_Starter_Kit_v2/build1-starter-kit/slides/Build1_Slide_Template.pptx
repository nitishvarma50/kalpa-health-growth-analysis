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question and the claim, nothing else. Twenty seconds. The cover is read, 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itgn_seal.png"/>
          <p:cNvPicPr>
            <a:picLocks noChangeAspect="1"/>
          </p:cNvPicPr>
          <p:nvPr/>
        </p:nvPicPr>
        <p:blipFill>
          <a:blip r:embed="rId2"/>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200" b="1">
                <a:solidFill>
                  <a:srgbClr val="E9B04C"/>
                </a:solidFill>
                <a:latin typeface="Arial"/>
              </a:rPr>
              <a:t>BRIEF &lt;LETTER&gt; · &lt;BRIEF NAME&gt; · GROUP &lt;N&gt;</a:t>
            </a:r>
          </a:p>
        </p:txBody>
      </p:sp>
      <p:sp>
        <p:nvSpPr>
          <p:cNvPr id="7" name="TextBox 6"/>
          <p:cNvSpPr txBox="1"/>
          <p:nvPr/>
        </p:nvSpPr>
        <p:spPr>
          <a:xfrm>
            <a:off x="548640" y="2651760"/>
            <a:ext cx="10972800" cy="1463040"/>
          </a:xfrm>
          <a:prstGeom prst="rect">
            <a:avLst/>
          </a:prstGeom>
          <a:noFill/>
        </p:spPr>
        <p:txBody>
          <a:bodyPr wrap="square">
            <a:spAutoFit/>
          </a:bodyPr>
          <a:lstStyle/>
          <a:p>
            <a:pPr algn="l"/>
            <a:r>
              <a:rPr sz="4000" b="1">
                <a:solidFill>
                  <a:srgbClr val="FFFFFF"/>
                </a:solidFill>
                <a:latin typeface="Georgia"/>
              </a:rPr>
              <a:t>&lt;The question, as a title&gt;</a:t>
            </a:r>
          </a:p>
        </p:txBody>
      </p:sp>
      <p:sp>
        <p:nvSpPr>
          <p:cNvPr id="8" name="TextBox 7"/>
          <p:cNvSpPr txBox="1"/>
          <p:nvPr/>
        </p:nvSpPr>
        <p:spPr>
          <a:xfrm>
            <a:off x="548640" y="4206240"/>
            <a:ext cx="10058400" cy="731520"/>
          </a:xfrm>
          <a:prstGeom prst="rect">
            <a:avLst/>
          </a:prstGeom>
          <a:noFill/>
        </p:spPr>
        <p:txBody>
          <a:bodyPr wrap="square">
            <a:spAutoFit/>
          </a:bodyPr>
          <a:lstStyle/>
          <a:p>
            <a:pPr algn="l"/>
            <a:r>
              <a:rPr sz="1800" b="0">
                <a:solidFill>
                  <a:srgbClr val="DCD6F7"/>
                </a:solidFill>
                <a:latin typeface="Arial"/>
              </a:rPr>
              <a:t>&lt;The claim, in one sentence, with its number, denominator and period&gt;</a:t>
            </a:r>
          </a:p>
        </p:txBody>
      </p:sp>
      <p:sp>
        <p:nvSpPr>
          <p:cNvPr id="9" name="TextBox 8"/>
          <p:cNvSpPr txBox="1"/>
          <p:nvPr/>
        </p:nvSpPr>
        <p:spPr>
          <a:xfrm>
            <a:off x="548640" y="5852160"/>
            <a:ext cx="10972800" cy="457200"/>
          </a:xfrm>
          <a:prstGeom prst="rect">
            <a:avLst/>
          </a:prstGeom>
          <a:noFill/>
        </p:spPr>
        <p:txBody>
          <a:bodyPr wrap="square">
            <a:spAutoFit/>
          </a:bodyPr>
          <a:lstStyle/>
          <a:p>
            <a:pPr algn="l"/>
            <a:r>
              <a:rPr sz="1200" b="0">
                <a:solidFill>
                  <a:srgbClr val="B9B0E6"/>
                </a:solidFill>
                <a:latin typeface="Arial"/>
              </a:rPr>
              <a:t>&lt;Member&gt; · &lt;Member&gt; · &lt;Member&gt; · &lt;Member&gt;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&lt;Dr Menon's words, and your translation&gt;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Her words:</a:t>
            </a:r>
          </a:p>
          <a:p>
            <a:pPr algn="l"/>
            <a:r>
              <a:rPr sz="1600" b="0">
                <a:solidFill>
                  <a:srgbClr val="1A1440"/>
                </a:solidFill>
                <a:latin typeface="Arial"/>
              </a:rPr>
              <a:t>“&lt;quote&gt;”</a:t>
            </a:r>
          </a:p>
          <a:p>
            <a:pPr algn="l"/>
            <a:r>
              <a:rPr sz="1600" b="0">
                <a:solidFill>
                  <a:srgbClr val="1A1440"/>
                </a:solidFill>
                <a:latin typeface="Arial"/>
              </a:rPr>
              <a:t/>
            </a:r>
          </a:p>
          <a:p>
            <a:pPr algn="l"/>
            <a:r>
              <a:rPr sz="1600" b="0">
                <a:solidFill>
                  <a:srgbClr val="1A1440"/>
                </a:solidFill>
                <a:latin typeface="Arial"/>
              </a:rPr>
              <a:t>Our translation:</a:t>
            </a:r>
          </a:p>
          <a:p>
            <a:pPr algn="l"/>
            <a:r>
              <a:rPr sz="1600" b="0">
                <a:solidFill>
                  <a:srgbClr val="1A1440"/>
                </a:solidFill>
                <a:latin typeface="Arial"/>
              </a:rPr>
              <a:t>&lt;the tree / the ladder / the bridge / the chance reference / the fair comparison&gt;</a:t>
            </a:r>
          </a:p>
          <a:p>
            <a:pPr algn="l"/>
            <a:r>
              <a:rPr sz="1600" b="0">
                <a:solidFill>
                  <a:srgbClr val="1A1440"/>
                </a:solidFill>
                <a:latin typeface="Arial"/>
              </a:rPr>
              <a:t/>
            </a:r>
          </a:p>
          <a:p>
            <a:pPr algn="l"/>
            <a:r>
              <a:rPr sz="1600" b="0">
                <a:solidFill>
                  <a:srgbClr val="1A1440"/>
                </a:solidFill>
                <a:latin typeface="Arial"/>
              </a:rPr>
              <a:t>The decision it drives:</a:t>
            </a:r>
          </a:p>
          <a:p>
            <a:pPr algn="l"/>
            <a:r>
              <a:rPr sz="1600" b="0">
                <a:solidFill>
                  <a:srgbClr val="1A1440"/>
                </a:solidFill>
                <a:latin typeface="Arial"/>
              </a:rPr>
              <a:t>&lt;what she does differently depending on the answer&gt;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&lt;Your completed diagram, numbered&gt;</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17520"/>
            <a:ext cx="10515600" cy="1463040"/>
          </a:xfrm>
          <a:prstGeom prst="rect">
            <a:avLst/>
          </a:prstGeom>
          <a:noFill/>
        </p:spPr>
        <p:txBody>
          <a:bodyPr wrap="square">
            <a:spAutoFit/>
          </a:bodyPr>
          <a:lstStyle/>
          <a:p>
            <a:pPr algn="ctr"/>
            <a:r>
              <a:rPr sz="1400" b="0">
                <a:solidFill>
                  <a:srgbClr val="6B6690"/>
                </a:solidFill>
                <a:latin typeface="Arial"/>
              </a:rPr>
              <a:t>[Insert the diagram: the tree with both years in every box, the ladder with every rung, the bridge with every bar, the chance band with the real rate marked, or the fair-comparison grid]</a:t>
            </a:r>
          </a:p>
          <a:p>
            <a:pPr algn="ctr"/>
            <a:r>
              <a:rPr sz="1400" b="0">
                <a:solidFill>
                  <a:srgbClr val="6B6690"/>
                </a:solidFill>
                <a:latin typeface="Arial"/>
              </a:rPr>
              <a:t/>
            </a:r>
          </a:p>
          <a:p>
            <a:pPr algn="ctr"/>
            <a:r>
              <a:rPr sz="1400" b="0">
                <a:solidFill>
                  <a:srgbClr val="6B6690"/>
                </a:solidFill>
                <a:latin typeface="Arial"/>
              </a:rPr>
              <a:t>One diagram. No bullet points on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600" b="1">
                <a:solidFill>
                  <a:srgbClr val="1A1440"/>
                </a:solidFill>
                <a:latin typeface="Georgia"/>
              </a:rPr>
              <a:t>&lt;One sentence&gt;</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86000"/>
            <a:ext cx="10515600" cy="1828800"/>
          </a:xfrm>
          <a:prstGeom prst="rect">
            <a:avLst/>
          </a:prstGeom>
          <a:noFill/>
        </p:spPr>
        <p:txBody>
          <a:bodyPr wrap="square">
            <a:spAutoFit/>
          </a:bodyPr>
          <a:lstStyle/>
          <a:p>
            <a:pPr algn="ctr"/>
            <a:r>
              <a:rPr sz="2800" b="1">
                <a:solidFill>
                  <a:srgbClr val="1A0F5C"/>
                </a:solidFill>
                <a:latin typeface="Georgia"/>
              </a:rPr>
              <a:t>&lt;The sentence Dr Menon can say to her board. A number, a denominator, a period.&gt;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&lt;Two or three numbers, one chart&gt;</a:t>
            </a:r>
          </a:p>
        </p:txBody>
      </p:sp>
      <p:sp>
        <p:nvSpPr>
          <p:cNvPr id="8" name="TextBox 7"/>
          <p:cNvSpPr txBox="1"/>
          <p:nvPr/>
        </p:nvSpPr>
        <p:spPr>
          <a:xfrm>
            <a:off x="457200" y="1645920"/>
            <a:ext cx="4754880" cy="4114800"/>
          </a:xfrm>
          <a:prstGeom prst="rect">
            <a:avLst/>
          </a:prstGeom>
          <a:noFill/>
        </p:spPr>
        <p:txBody>
          <a:bodyPr wrap="square">
            <a:spAutoFit/>
          </a:bodyPr>
          <a:lstStyle/>
          <a:p>
            <a:pPr algn="l"/>
            <a:r>
              <a:rPr sz="1600" b="0">
                <a:solidFill>
                  <a:srgbClr val="1A1440"/>
                </a:solidFill>
                <a:latin typeface="Arial"/>
              </a:rPr>
              <a:t>Number 1: &lt;value&gt; of &lt;denominator&gt;, &lt;period&gt;</a:t>
            </a:r>
          </a:p>
          <a:p>
            <a:pPr algn="l"/>
            <a:r>
              <a:rPr sz="1600" b="0">
                <a:solidFill>
                  <a:srgbClr val="1A1440"/>
                </a:solidFill>
                <a:latin typeface="Arial"/>
              </a:rPr>
              <a:t>Number 2: &lt;value&gt; of &lt;denominator&gt;, &lt;period&gt;</a:t>
            </a:r>
          </a:p>
          <a:p>
            <a:pPr algn="l"/>
            <a:r>
              <a:rPr sz="1600" b="0">
                <a:solidFill>
                  <a:srgbClr val="1A1440"/>
                </a:solidFill>
                <a:latin typeface="Arial"/>
              </a:rPr>
              <a:t>Number 3: &lt;value&gt; of &lt;denominator&gt;, &lt;period&gt;</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3474720"/>
            <a:ext cx="5669280" cy="731520"/>
          </a:xfrm>
          <a:prstGeom prst="rect">
            <a:avLst/>
          </a:prstGeom>
          <a:noFill/>
        </p:spPr>
        <p:txBody>
          <a:bodyPr wrap="square">
            <a:spAutoFit/>
          </a:bodyPr>
          <a:lstStyle/>
          <a:p>
            <a:pPr algn="ctr"/>
            <a:r>
              <a:rPr sz="1200" b="0">
                <a:solidFill>
                  <a:srgbClr val="6B6690"/>
                </a:solidFill>
                <a:latin typeface="Arial"/>
              </a:rPr>
              <a:t>[Insert slides/slide4_chart.png]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would change the claim; the approach you rejected&gt;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The one thing that would change this claim:</a:t>
            </a:r>
          </a:p>
          <a:p>
            <a:pPr algn="l"/>
            <a:r>
              <a:rPr sz="1600" b="0">
                <a:solidFill>
                  <a:srgbClr val="1A1440"/>
                </a:solidFill>
                <a:latin typeface="Arial"/>
              </a:rPr>
              <a:t>&lt;caveat, with the size of the effect if it is true&gt;</a:t>
            </a:r>
          </a:p>
          <a:p>
            <a:pPr algn="l"/>
            <a:r>
              <a:rPr sz="1600" b="0">
                <a:solidFill>
                  <a:srgbClr val="1A1440"/>
                </a:solidFill>
                <a:latin typeface="Arial"/>
              </a:rPr>
              <a:t/>
            </a:r>
          </a:p>
          <a:p>
            <a:pPr algn="l"/>
            <a:r>
              <a:rPr sz="1600" b="0">
                <a:solidFill>
                  <a:srgbClr val="1A1440"/>
                </a:solidFill>
                <a:latin typeface="Arial"/>
              </a:rPr>
              <a:t>The approach we rejected on the way here:</a:t>
            </a:r>
          </a:p>
          <a:p>
            <a:pPr algn="l"/>
            <a:r>
              <a:rPr sz="1600" b="0">
                <a:solidFill>
                  <a:srgbClr val="1A1440"/>
                </a:solidFill>
                <a:latin typeface="Arial"/>
              </a:rPr>
              <a:t>&lt;alternative&gt;, because &lt;reason&gt;, which would have moved the number by about &lt;size&gt;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to do, what it costs, what being wrong costs&gt;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Do: &lt;the action, on Monday&gt;</a:t>
            </a:r>
          </a:p>
          <a:p>
            <a:pPr algn="l"/>
            <a:r>
              <a:rPr sz="1600" b="0">
                <a:solidFill>
                  <a:srgbClr val="1A1440"/>
                </a:solidFill>
                <a:latin typeface="Arial"/>
              </a:rPr>
              <a:t>It costs: &lt;money, people, time&gt;</a:t>
            </a:r>
          </a:p>
          <a:p>
            <a:pPr algn="l"/>
            <a:r>
              <a:rPr sz="1600" b="0">
                <a:solidFill>
                  <a:srgbClr val="1A1440"/>
                </a:solidFill>
                <a:latin typeface="Arial"/>
              </a:rPr>
              <a:t>If we are wrong, it costs: &lt;the other side of the bet&gt;</a:t>
            </a:r>
          </a:p>
          <a:p>
            <a:pPr algn="l"/>
            <a:r>
              <a:rPr sz="1600" b="0">
                <a:solidFill>
                  <a:srgbClr val="1A1440"/>
                </a:solidFill>
                <a:latin typeface="Arial"/>
              </a:rPr>
              <a:t/>
            </a:r>
          </a:p>
          <a:p>
            <a:pPr algn="l"/>
            <a:r>
              <a:rPr sz="1600" b="0">
                <a:solidFill>
                  <a:srgbClr val="1A1440"/>
                </a:solidFill>
                <a:latin typeface="Arial"/>
              </a:rPr>
              <a:t>What we would do with two more days: &lt;one line&gt;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914400"/>
          </a:xfrm>
          <a:prstGeom prst="rect">
            <a:avLst/>
          </a:prstGeom>
          <a:noFill/>
        </p:spPr>
        <p:txBody>
          <a:bodyPr wrap="square">
            <a:spAutoFit/>
          </a:bodyPr>
          <a:lstStyle/>
          <a:p>
            <a:pPr algn="l"/>
            <a:r>
              <a:rPr sz="1600" b="0">
                <a:solidFill>
                  <a:srgbClr val="DCD6F7"/>
                </a:solidFill>
                <a:latin typeface="Arial"/>
              </a:rPr>
              <a:t>The approach log, the decisions log and the challenges log are open in the repository: &lt;URL&gt;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Rule 1: &lt;what, why, rows, effect on headline&gt;</a:t>
            </a:r>
          </a:p>
          <a:p>
            <a:pPr algn="l"/>
            <a:r>
              <a:rPr sz="1600" b="0">
                <a:solidFill>
                  <a:srgbClr val="1A1440"/>
                </a:solidFill>
                <a:latin typeface="Arial"/>
              </a:rPr>
              <a:t>Rule 2: &lt;...&gt;</a:t>
            </a:r>
          </a:p>
          <a:p>
            <a:pPr algn="l"/>
            <a:r>
              <a:rPr sz="1600" b="0">
                <a:solidFill>
                  <a:srgbClr val="1A1440"/>
                </a:solidFill>
                <a:latin typeface="Arial"/>
              </a:rPr>
              <a:t>Rule 3: &lt;...&gt;</a:t>
            </a:r>
          </a:p>
          <a:p>
            <a:pPr algn="l"/>
            <a:r>
              <a:rPr sz="1600" b="0">
                <a:solidFill>
                  <a:srgbClr val="1A1440"/>
                </a:solidFill>
                <a:latin typeface="Arial"/>
              </a:rPr>
              <a:t/>
            </a:r>
          </a:p>
          <a:p>
            <a:pPr algn="l"/>
            <a:r>
              <a:rPr sz="1600" b="0">
                <a:solidFill>
                  <a:srgbClr val="1A1440"/>
                </a:solidFill>
                <a:latin typeface="Arial"/>
              </a:rPr>
              <a:t>Every other rule is in docs/decisions-log.md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The cold run</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Fresh Codespace, &lt;date&gt;, run by &lt;member who did not write the notebooks&gt;</a:t>
            </a:r>
          </a:p>
          <a:p>
            <a:pPr algn="l"/>
            <a:r>
              <a:rPr sz="1600" b="0">
                <a:solidFill>
                  <a:srgbClr val="1A1440"/>
                </a:solidFill>
                <a:latin typeface="Arial"/>
              </a:rPr>
              <a:t>Runtime: &lt;m:ss&gt;</a:t>
            </a:r>
          </a:p>
          <a:p>
            <a:pPr algn="l"/>
            <a:r>
              <a:rPr sz="1600" b="0">
                <a:solidFill>
                  <a:srgbClr val="1A1440"/>
                </a:solidFill>
                <a:latin typeface="Arial"/>
              </a:rPr>
              <a:t>Headline: &lt;number&gt;, identical to slide 3</a:t>
            </a:r>
          </a:p>
          <a:p>
            <a:pPr algn="l"/>
            <a:r>
              <a:rPr sz="1600" b="0">
                <a:solidFill>
                  <a:srgbClr val="1A1440"/>
                </a:solidFill>
                <a:latin typeface="Arial"/>
              </a:rPr>
              <a:t>Commit: &lt;short SHA&gt;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
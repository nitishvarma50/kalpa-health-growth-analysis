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1" r:id="rId8"/>
    <p:sldId id="269" r:id="rId7"/>
    <p:sldId id="263" r:id="rId11"/>
    <p:sldId id="264" r:id="rId12"/>
    <p:sldId id="268" r:id="rId14"/>
    <p:sldId id="270" r:id="rId13"/>
    <p:sldId id="266" r:id="rId15"/>
    <p:sldId id="267" r:id="rId16"/>
    <p:sldId id="272" r:id="rId22"/>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view" id="{30358E57-CC64-EF08-B091-3BFF930101C4}">
          <p14:sldIdLst>
            <p14:sldId id="256"/>
            <p14:sldId id="257"/>
            <p14:sldId id="258"/>
            <p14:sldId id="259"/>
            <p14:sldId id="260"/>
            <p14:sldId id="269"/>
            <p14:sldId id="271"/>
            <p14:sldId id="261"/>
            <p14:sldId id="262"/>
            <p14:sldId id="263"/>
            <p14:sldId id="264"/>
            <p14:sldId id="270"/>
            <p14:sldId id="268"/>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80" autoAdjust="0"/>
    <p:restoredTop sz="94610"/>
  </p:normalViewPr>
  <p:slideViewPr>
    <p:cSldViewPr snapToGrid="0" snapToObjects="1">
      <p:cViewPr>
        <p:scale>
          <a:sx n="75" d="100"/>
          <a:sy n="75" d="100"/>
        </p:scale>
        <p:origin x="672"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Patients (people)</c:v>
                </c:pt>
              </c:strCache>
            </c:strRef>
          </c:tx>
          <c:spPr>
            <a:solidFill>
              <a:srgbClr val="4E38AB"/>
            </a:solidFill>
          </c:spPr>
          <c:invertIfNegative val="0"/>
          <c:dLbls>
            <c:numFmt formatCode="\+0.0&quot;%&quot;;\-0.0&quot;%&quot;" sourceLinked="0"/>
            <c:spPr>
              <a:noFill/>
              <a:ln>
                <a:noFill/>
              </a:ln>
              <a:effectLst/>
            </c:spPr>
            <c:txPr>
              <a:bodyPr/>
              <a:lstStyle/>
              <a:p>
                <a:pPr>
                  <a:defRPr sz="1000">
                    <a:solidFill>
                      <a:srgbClr val="1A144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Ahmedabad</c:v>
                </c:pt>
                <c:pt idx="1">
                  <c:v>Bengaluru</c:v>
                </c:pt>
                <c:pt idx="2">
                  <c:v>Chennai</c:v>
                </c:pt>
                <c:pt idx="3">
                  <c:v>Hyderabad</c:v>
                </c:pt>
                <c:pt idx="4">
                  <c:v>Jaipur</c:v>
                </c:pt>
                <c:pt idx="5">
                  <c:v>Pune</c:v>
                </c:pt>
              </c:strCache>
            </c:strRef>
          </c:cat>
          <c:val>
            <c:numRef>
              <c:f>Sheet1!$B$2:$B$7</c:f>
              <c:numCache>
                <c:formatCode>General</c:formatCode>
                <c:ptCount val="6"/>
                <c:pt idx="0">
                  <c:v>9.6</c:v>
                </c:pt>
                <c:pt idx="1">
                  <c:v>7.2</c:v>
                </c:pt>
                <c:pt idx="2">
                  <c:v>-5</c:v>
                </c:pt>
                <c:pt idx="3">
                  <c:v>8.1</c:v>
                </c:pt>
                <c:pt idx="4">
                  <c:v>-12.1</c:v>
                </c:pt>
                <c:pt idx="5">
                  <c:v>8.9</c:v>
                </c:pt>
              </c:numCache>
            </c:numRef>
          </c:val>
          <c:extLst>
            <c:ext xmlns:c16="http://schemas.microsoft.com/office/drawing/2014/chart" uri="{C3380CC4-5D6E-409C-BE32-E72D297353CC}">
              <c16:uniqueId val="{00000000-4231-40EC-ADE1-94B607BEF4FD}"/>
            </c:ext>
          </c:extLst>
        </c:ser>
        <c:ser>
          <c:idx val="1"/>
          <c:order val="1"/>
          <c:tx>
            <c:strRef>
              <c:f>Sheet1!$C$1</c:f>
              <c:strCache>
                <c:ptCount val="1"/>
                <c:pt idx="0">
                  <c:v>Plan (tests)</c:v>
                </c:pt>
              </c:strCache>
            </c:strRef>
          </c:tx>
          <c:spPr>
            <a:solidFill>
              <a:srgbClr val="E9B04C"/>
            </a:solidFill>
          </c:spPr>
          <c:invertIfNegative val="0"/>
          <c:dLbls>
            <c:numFmt formatCode="\+0.0&quot;%&quot;;\-0.0&quot;%&quot;" sourceLinked="0"/>
            <c:spPr>
              <a:noFill/>
              <a:ln>
                <a:noFill/>
              </a:ln>
              <a:effectLst/>
            </c:spPr>
            <c:txPr>
              <a:bodyPr/>
              <a:lstStyle/>
              <a:p>
                <a:pPr>
                  <a:defRPr sz="1000">
                    <a:solidFill>
                      <a:srgbClr val="1A144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Ahmedabad</c:v>
                </c:pt>
                <c:pt idx="1">
                  <c:v>Bengaluru</c:v>
                </c:pt>
                <c:pt idx="2">
                  <c:v>Chennai</c:v>
                </c:pt>
                <c:pt idx="3">
                  <c:v>Hyderabad</c:v>
                </c:pt>
                <c:pt idx="4">
                  <c:v>Jaipur</c:v>
                </c:pt>
                <c:pt idx="5">
                  <c:v>Pune</c:v>
                </c:pt>
              </c:strCache>
            </c:strRef>
          </c:cat>
          <c:val>
            <c:numRef>
              <c:f>Sheet1!$C$2:$C$7</c:f>
              <c:numCache>
                <c:formatCode>General</c:formatCode>
                <c:ptCount val="6"/>
                <c:pt idx="0">
                  <c:v>18.3</c:v>
                </c:pt>
                <c:pt idx="1">
                  <c:v>20.399999999999999</c:v>
                </c:pt>
                <c:pt idx="2">
                  <c:v>17.399999999999999</c:v>
                </c:pt>
                <c:pt idx="3">
                  <c:v>18.3</c:v>
                </c:pt>
                <c:pt idx="4">
                  <c:v>16.3</c:v>
                </c:pt>
                <c:pt idx="5">
                  <c:v>19.399999999999999</c:v>
                </c:pt>
              </c:numCache>
            </c:numRef>
          </c:val>
          <c:extLst>
            <c:ext xmlns:c16="http://schemas.microsoft.com/office/drawing/2014/chart" uri="{C3380CC4-5D6E-409C-BE32-E72D297353CC}">
              <c16:uniqueId val="{00000001-4231-40EC-ADE1-94B607BEF4FD}"/>
            </c:ext>
          </c:extLst>
        </c:ser>
        <c:dLbls>
          <c:dLblPos val="outEnd"/>
          <c:showLegendKey val="0"/>
          <c:showVal val="1"/>
          <c:showCatName val="0"/>
          <c:showSerName val="0"/>
          <c:showPercent val="0"/>
          <c:showBubbleSize val="0"/>
        </c:dLbls>
        <c:gapWidth val="50"/>
        <c:overlap val="-1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A9A4C4"/>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max val="25"/>
          <c:min val="-15"/>
        </c:scaling>
        <c:delete val="0"/>
        <c:axPos val="l"/>
        <c:majorGridlines>
          <c:spPr>
            <a:ln w="9525">
              <a:solidFill>
                <a:srgbClr val="E4E0F4"/>
              </a:solidFill>
            </a:ln>
          </c:spPr>
        </c:majorGridlines>
        <c:numFmt formatCode="0&quot;%&quot;" sourceLinked="0"/>
        <c:majorTickMark val="out"/>
        <c:minorTickMark val="none"/>
        <c:tickLblPos val="nextTo"/>
        <c:spPr>
          <a:ln>
            <a:noFill/>
          </a:ln>
        </c:spPr>
        <c:txPr>
          <a:bodyPr/>
          <a:lstStyle/>
          <a:p>
            <a:pPr>
              <a:defRPr sz="1000"/>
            </a:pPr>
            <a:endParaRPr lang="en-US"/>
          </a:p>
        </c:txPr>
        <c:crossAx val="-2068027336"/>
        <c:crosses val="autoZero"/>
        <c:crossBetween val="between"/>
        <c:majorUnit val="5"/>
      </c:valAx>
    </c:plotArea>
    <c:legend>
      <c:legendPos val="b"/>
      <c:overlay val="0"/>
      <c:txPr>
        <a:bodyPr/>
        <a:lstStyle/>
        <a:p>
          <a:pPr>
            <a:defRPr sz="1000"/>
          </a:pPr>
          <a:endParaRPr lang="en-US"/>
        </a:p>
      </c:txPr>
    </c:legend>
    <c:plotVisOnly val="1"/>
    <c:dispBlanksAs val="gap"/>
    <c:showDLblsOverMax val="1"/>
  </c:chart>
  <c:txPr>
    <a:bodyPr/>
    <a:lstStyle/>
    <a:p>
      <a:pPr>
        <a:defRPr sz="1000">
          <a:solidFill>
            <a:srgbClr val="6B669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A1440"/>
                </a:solidFill>
                <a:latin typeface="Arial"/>
              </a:defRPr>
            </a:pPr>
            <a:r>
              <a:rPr lang="en-IN" sz="1400" b="0" i="0" u="none" strike="noStrike">
                <a:solidFill>
                  <a:srgbClr val="1A1440"/>
                </a:solidFill>
                <a:latin typeface="Arial"/>
              </a:rPr>
              <a:t>Chennai: visits per month</a:t>
            </a:r>
          </a:p>
        </c:rich>
      </c:tx>
      <c:overlay val="0"/>
    </c:title>
    <c:autoTitleDeleted val="0"/>
    <c:plotArea>
      <c:layout/>
      <c:lineChart>
        <c:grouping val="standard"/>
        <c:varyColors val="0"/>
        <c:ser>
          <c:idx val="0"/>
          <c:order val="0"/>
          <c:tx>
            <c:strRef>
              <c:f>Sheet1!$B$1</c:f>
              <c:strCache>
                <c:ptCount val="1"/>
                <c:pt idx="0">
                  <c:v>H1 2025</c:v>
                </c:pt>
              </c:strCache>
            </c:strRef>
          </c:tx>
          <c:spPr>
            <a:ln w="38100" cap="flat">
              <a:solidFill>
                <a:srgbClr val="A9A4C4"/>
              </a:solidFill>
              <a:prstDash val="solid"/>
              <a:round/>
            </a:ln>
            <a:effectLst/>
          </c:spPr>
          <c:marker>
            <c:symbol val="circle"/>
            <c:size val="7"/>
            <c:spPr>
              <a:solidFill>
                <a:srgbClr val="A9A4C4"/>
              </a:solidFill>
              <a:ln w="9525" cap="flat">
                <a:solidFill>
                  <a:srgbClr val="A9A4C4"/>
                </a:solidFill>
                <a:prstDash val="solid"/>
                <a:round/>
              </a:ln>
              <a:effectLst/>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5713</c:v>
                </c:pt>
                <c:pt idx="1">
                  <c:v>5609</c:v>
                </c:pt>
                <c:pt idx="2">
                  <c:v>6107</c:v>
                </c:pt>
                <c:pt idx="3">
                  <c:v>5821</c:v>
                </c:pt>
                <c:pt idx="4">
                  <c:v>5826</c:v>
                </c:pt>
                <c:pt idx="5">
                  <c:v>5811</c:v>
                </c:pt>
              </c:numCache>
            </c:numRef>
          </c:val>
          <c:smooth val="0"/>
          <c:extLst>
            <c:ext xmlns:c16="http://schemas.microsoft.com/office/drawing/2014/chart" uri="{C3380CC4-5D6E-409C-BE32-E72D297353CC}">
              <c16:uniqueId val="{00000000-9620-4EA4-B106-73E4785E62B0}"/>
            </c:ext>
          </c:extLst>
        </c:ser>
        <c:ser>
          <c:idx val="1"/>
          <c:order val="1"/>
          <c:tx>
            <c:strRef>
              <c:f>Sheet1!$C$1</c:f>
              <c:strCache>
                <c:ptCount val="1"/>
                <c:pt idx="0">
                  <c:v>H1 2026</c:v>
                </c:pt>
              </c:strCache>
            </c:strRef>
          </c:tx>
          <c:spPr>
            <a:ln w="38100" cap="flat">
              <a:solidFill>
                <a:srgbClr val="4E38AB"/>
              </a:solidFill>
              <a:prstDash val="solid"/>
              <a:round/>
            </a:ln>
            <a:effectLst/>
          </c:spPr>
          <c:marker>
            <c:symbol val="circle"/>
            <c:size val="7"/>
            <c:spPr>
              <a:solidFill>
                <a:srgbClr val="4E38AB"/>
              </a:solidFill>
              <a:ln w="9525" cap="flat">
                <a:solidFill>
                  <a:srgbClr val="4E38AB"/>
                </a:solidFill>
                <a:prstDash val="solid"/>
                <a:round/>
              </a:ln>
              <a:effectLst/>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5765</c:v>
                </c:pt>
                <c:pt idx="1">
                  <c:v>6180</c:v>
                </c:pt>
                <c:pt idx="2">
                  <c:v>5664</c:v>
                </c:pt>
                <c:pt idx="3">
                  <c:v>5535</c:v>
                </c:pt>
                <c:pt idx="4">
                  <c:v>5571</c:v>
                </c:pt>
                <c:pt idx="5">
                  <c:v>5479</c:v>
                </c:pt>
              </c:numCache>
            </c:numRef>
          </c:val>
          <c:smooth val="0"/>
          <c:extLst>
            <c:ext xmlns:c16="http://schemas.microsoft.com/office/drawing/2014/chart" uri="{C3380CC4-5D6E-409C-BE32-E72D297353CC}">
              <c16:uniqueId val="{00000001-9620-4EA4-B106-73E4785E62B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6690"/>
                </a:solidFill>
                <a:latin typeface="Arial"/>
              </a:defRPr>
            </a:pPr>
            <a:endParaRPr lang="en-US"/>
          </a:p>
        </c:txPr>
        <c:crossAx val="2094734552"/>
        <c:crosses val="autoZero"/>
        <c:auto val="1"/>
        <c:lblAlgn val="ctr"/>
        <c:lblOffset val="100"/>
        <c:noMultiLvlLbl val="1"/>
      </c:catAx>
      <c:valAx>
        <c:axId val="2094734552"/>
        <c:scaling>
          <c:orientation val="minMax"/>
          <c:max val="6500"/>
          <c:min val="4500"/>
        </c:scaling>
        <c:delete val="0"/>
        <c:axPos val="l"/>
        <c:majorGridlines>
          <c:spPr>
            <a:ln w="9525" cap="flat">
              <a:solidFill>
                <a:srgbClr val="E4E0F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6B669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690"/>
              </a:solidFill>
              <a:latin typeface="Arial"/>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A1440"/>
                </a:solidFill>
                <a:latin typeface="Arial"/>
              </a:defRPr>
            </a:pPr>
            <a:r>
              <a:rPr lang="en-IN" sz="1400" b="0" i="0" u="none" strike="noStrike">
                <a:solidFill>
                  <a:srgbClr val="1A1440"/>
                </a:solidFill>
                <a:latin typeface="Arial"/>
              </a:rPr>
              <a:t>Jaipur: visits per month</a:t>
            </a:r>
          </a:p>
        </c:rich>
      </c:tx>
      <c:overlay val="0"/>
    </c:title>
    <c:autoTitleDeleted val="0"/>
    <c:plotArea>
      <c:layout/>
      <c:lineChart>
        <c:grouping val="standard"/>
        <c:varyColors val="0"/>
        <c:ser>
          <c:idx val="0"/>
          <c:order val="0"/>
          <c:tx>
            <c:strRef>
              <c:f>Sheet1!$B$1</c:f>
              <c:strCache>
                <c:ptCount val="1"/>
                <c:pt idx="0">
                  <c:v>H1 2025</c:v>
                </c:pt>
              </c:strCache>
            </c:strRef>
          </c:tx>
          <c:spPr>
            <a:ln w="38100" cap="flat">
              <a:solidFill>
                <a:srgbClr val="A9A4C4"/>
              </a:solidFill>
              <a:prstDash val="solid"/>
              <a:round/>
            </a:ln>
            <a:effectLst/>
          </c:spPr>
          <c:marker>
            <c:symbol val="circle"/>
            <c:size val="7"/>
            <c:spPr>
              <a:solidFill>
                <a:srgbClr val="A9A4C4"/>
              </a:solidFill>
              <a:ln w="9525" cap="flat">
                <a:solidFill>
                  <a:srgbClr val="A9A4C4"/>
                </a:solidFill>
                <a:prstDash val="solid"/>
                <a:round/>
              </a:ln>
              <a:effectLst/>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3331</c:v>
                </c:pt>
                <c:pt idx="1">
                  <c:v>3491</c:v>
                </c:pt>
                <c:pt idx="2">
                  <c:v>3605</c:v>
                </c:pt>
                <c:pt idx="3">
                  <c:v>2941</c:v>
                </c:pt>
                <c:pt idx="4">
                  <c:v>3189</c:v>
                </c:pt>
                <c:pt idx="5">
                  <c:v>3031</c:v>
                </c:pt>
              </c:numCache>
            </c:numRef>
          </c:val>
          <c:smooth val="0"/>
          <c:extLst>
            <c:ext xmlns:c16="http://schemas.microsoft.com/office/drawing/2014/chart" uri="{C3380CC4-5D6E-409C-BE32-E72D297353CC}">
              <c16:uniqueId val="{00000000-D4AE-43CF-A8EB-D99BEB1D107A}"/>
            </c:ext>
          </c:extLst>
        </c:ser>
        <c:ser>
          <c:idx val="1"/>
          <c:order val="1"/>
          <c:tx>
            <c:strRef>
              <c:f>Sheet1!$C$1</c:f>
              <c:strCache>
                <c:ptCount val="1"/>
                <c:pt idx="0">
                  <c:v>H1 2026</c:v>
                </c:pt>
              </c:strCache>
            </c:strRef>
          </c:tx>
          <c:spPr>
            <a:ln w="38100" cap="flat">
              <a:solidFill>
                <a:srgbClr val="4E38AB"/>
              </a:solidFill>
              <a:prstDash val="solid"/>
              <a:round/>
            </a:ln>
            <a:effectLst/>
          </c:spPr>
          <c:marker>
            <c:symbol val="circle"/>
            <c:size val="7"/>
            <c:spPr>
              <a:solidFill>
                <a:srgbClr val="4E38AB"/>
              </a:solidFill>
              <a:ln w="9525" cap="flat">
                <a:solidFill>
                  <a:srgbClr val="4E38AB"/>
                </a:solidFill>
                <a:prstDash val="solid"/>
                <a:round/>
              </a:ln>
              <a:effectLst/>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2905</c:v>
                </c:pt>
                <c:pt idx="1">
                  <c:v>2930</c:v>
                </c:pt>
                <c:pt idx="2">
                  <c:v>2940</c:v>
                </c:pt>
                <c:pt idx="3">
                  <c:v>2754</c:v>
                </c:pt>
                <c:pt idx="4">
                  <c:v>2771</c:v>
                </c:pt>
                <c:pt idx="5">
                  <c:v>2869</c:v>
                </c:pt>
              </c:numCache>
            </c:numRef>
          </c:val>
          <c:smooth val="0"/>
          <c:extLst>
            <c:ext xmlns:c16="http://schemas.microsoft.com/office/drawing/2014/chart" uri="{C3380CC4-5D6E-409C-BE32-E72D297353CC}">
              <c16:uniqueId val="{00000001-D4AE-43CF-A8EB-D99BEB1D107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6690"/>
                </a:solidFill>
                <a:latin typeface="Arial"/>
              </a:defRPr>
            </a:pPr>
            <a:endParaRPr lang="en-US"/>
          </a:p>
        </c:txPr>
        <c:crossAx val="2094734552"/>
        <c:crosses val="autoZero"/>
        <c:auto val="1"/>
        <c:lblAlgn val="ctr"/>
        <c:lblOffset val="100"/>
        <c:noMultiLvlLbl val="1"/>
      </c:catAx>
      <c:valAx>
        <c:axId val="2094734552"/>
        <c:scaling>
          <c:orientation val="minMax"/>
          <c:max val="4000"/>
          <c:min val="2000"/>
        </c:scaling>
        <c:delete val="0"/>
        <c:axPos val="l"/>
        <c:majorGridlines>
          <c:spPr>
            <a:ln w="9525" cap="flat">
              <a:solidFill>
                <a:srgbClr val="E4E0F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6B669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690"/>
              </a:solidFill>
              <a:latin typeface="Arial"/>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A1440"/>
                </a:solidFill>
                <a:latin typeface="Arial"/>
              </a:defRPr>
            </a:pPr>
            <a:r>
              <a:rPr lang="en-IN" sz="1400" b="0" i="0" u="none" strike="noStrike">
                <a:solidFill>
                  <a:srgbClr val="1A1440"/>
                </a:solidFill>
                <a:latin typeface="Arial"/>
              </a:rPr>
              <a:t>Growth, H1 2026 vs H1 2025</a:t>
            </a:r>
          </a:p>
        </c:rich>
      </c:tx>
      <c:overlay val="0"/>
    </c:title>
    <c:autoTitleDeleted val="0"/>
    <c:plotArea>
      <c:layout/>
      <c:barChart>
        <c:barDir val="col"/>
        <c:grouping val="clustered"/>
        <c:varyColors val="0"/>
        <c:ser>
          <c:idx val="0"/>
          <c:order val="0"/>
          <c:tx>
            <c:strRef>
              <c:f>Sheet1!$B$1</c:f>
              <c:strCache>
                <c:ptCount val="1"/>
                <c:pt idx="0">
                  <c:v>Booked tests</c:v>
                </c:pt>
              </c:strCache>
            </c:strRef>
          </c:tx>
          <c:spPr>
            <a:solidFill>
              <a:srgbClr val="A9A4C4"/>
            </a:solidFill>
            <a:effectLst/>
          </c:spPr>
          <c:invertIfNegative val="0"/>
          <c:dLbls>
            <c:numFmt formatCode="\+0.0&quot;%&quot;;\-0.0&quot;%&quot;;0.0&quot;%&quot;" sourceLinked="0"/>
            <c:spPr>
              <a:noFill/>
              <a:ln>
                <a:noFill/>
              </a:ln>
              <a:effectLst/>
            </c:spPr>
            <c:txPr>
              <a:bodyPr/>
              <a:lstStyle/>
              <a:p>
                <a:pPr>
                  <a:defRPr sz="1100" b="0" i="0" u="none" strike="noStrike">
                    <a:solidFill>
                      <a:srgbClr val="1A14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Chennai Jan-Mar (old)</c:v>
                </c:pt>
                <c:pt idx="1">
                  <c:v>Chennai Apr-Jun (new)</c:v>
                </c:pt>
                <c:pt idx="2">
                  <c:v>Jaipur Jan-Mar (old)</c:v>
                </c:pt>
                <c:pt idx="3">
                  <c:v>Jaipur Apr-Jun (new)</c:v>
                </c:pt>
              </c:strCache>
            </c:strRef>
          </c:cat>
          <c:val>
            <c:numRef>
              <c:f>Sheet1!$B$2:$B$5</c:f>
              <c:numCache>
                <c:formatCode>General</c:formatCode>
                <c:ptCount val="4"/>
                <c:pt idx="0">
                  <c:v>3.8</c:v>
                </c:pt>
                <c:pt idx="1">
                  <c:v>-2.2999999999999998</c:v>
                </c:pt>
                <c:pt idx="2">
                  <c:v>-14.7</c:v>
                </c:pt>
                <c:pt idx="3">
                  <c:v>-6.3</c:v>
                </c:pt>
              </c:numCache>
            </c:numRef>
          </c:val>
          <c:extLst>
            <c:ext xmlns:c16="http://schemas.microsoft.com/office/drawing/2014/chart" uri="{C3380CC4-5D6E-409C-BE32-E72D297353CC}">
              <c16:uniqueId val="{00000000-6A5C-463B-91ED-12C82325DE74}"/>
            </c:ext>
          </c:extLst>
        </c:ser>
        <c:ser>
          <c:idx val="1"/>
          <c:order val="1"/>
          <c:tx>
            <c:strRef>
              <c:f>Sheet1!$C$1</c:f>
              <c:strCache>
                <c:ptCount val="1"/>
                <c:pt idx="0">
                  <c:v>Collected tests</c:v>
                </c:pt>
              </c:strCache>
            </c:strRef>
          </c:tx>
          <c:spPr>
            <a:solidFill>
              <a:srgbClr val="4E38AB"/>
            </a:solidFill>
            <a:effectLst/>
          </c:spPr>
          <c:invertIfNegative val="0"/>
          <c:dLbls>
            <c:numFmt formatCode="\+0.0&quot;%&quot;;\-0.0&quot;%&quot;;0.0&quot;%&quot;" sourceLinked="0"/>
            <c:spPr>
              <a:noFill/>
              <a:ln>
                <a:noFill/>
              </a:ln>
              <a:effectLst/>
            </c:spPr>
            <c:txPr>
              <a:bodyPr/>
              <a:lstStyle/>
              <a:p>
                <a:pPr>
                  <a:defRPr sz="1100" b="0" i="0" u="none" strike="noStrike">
                    <a:solidFill>
                      <a:srgbClr val="1A14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Chennai Jan-Mar (old)</c:v>
                </c:pt>
                <c:pt idx="1">
                  <c:v>Chennai Apr-Jun (new)</c:v>
                </c:pt>
                <c:pt idx="2">
                  <c:v>Jaipur Jan-Mar (old)</c:v>
                </c:pt>
                <c:pt idx="3">
                  <c:v>Jaipur Apr-Jun (new)</c:v>
                </c:pt>
              </c:strCache>
            </c:strRef>
          </c:cat>
          <c:val>
            <c:numRef>
              <c:f>Sheet1!$C$2:$C$5</c:f>
              <c:numCache>
                <c:formatCode>General</c:formatCode>
                <c:ptCount val="4"/>
                <c:pt idx="0">
                  <c:v>4.8</c:v>
                </c:pt>
                <c:pt idx="1">
                  <c:v>-7.7</c:v>
                </c:pt>
                <c:pt idx="2">
                  <c:v>-12.9</c:v>
                </c:pt>
                <c:pt idx="3">
                  <c:v>-12.3</c:v>
                </c:pt>
              </c:numCache>
            </c:numRef>
          </c:val>
          <c:extLst>
            <c:ext xmlns:c16="http://schemas.microsoft.com/office/drawing/2014/chart" uri="{C3380CC4-5D6E-409C-BE32-E72D297353CC}">
              <c16:uniqueId val="{00000001-6A5C-463B-91ED-12C82325DE74}"/>
            </c:ext>
          </c:extLst>
        </c:ser>
        <c:ser>
          <c:idx val="2"/>
          <c:order val="2"/>
          <c:tx>
            <c:strRef>
              <c:f>Sheet1!$D$1</c:f>
              <c:strCache>
                <c:ptCount val="1"/>
                <c:pt idx="0">
                  <c:v>Tested (lab results)</c:v>
                </c:pt>
              </c:strCache>
            </c:strRef>
          </c:tx>
          <c:spPr>
            <a:solidFill>
              <a:srgbClr val="1A1440"/>
            </a:solidFill>
            <a:effectLst/>
          </c:spPr>
          <c:invertIfNegative val="0"/>
          <c:dLbls>
            <c:numFmt formatCode="\+0.0&quot;%&quot;;\-0.0&quot;%&quot;;0.0&quot;%&quot;" sourceLinked="0"/>
            <c:spPr>
              <a:noFill/>
              <a:ln>
                <a:noFill/>
              </a:ln>
              <a:effectLst/>
            </c:spPr>
            <c:txPr>
              <a:bodyPr/>
              <a:lstStyle/>
              <a:p>
                <a:pPr>
                  <a:defRPr sz="1100" b="0" i="0" u="none" strike="noStrike">
                    <a:solidFill>
                      <a:srgbClr val="1A14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Chennai Jan-Mar (old)</c:v>
                </c:pt>
                <c:pt idx="1">
                  <c:v>Chennai Apr-Jun (new)</c:v>
                </c:pt>
                <c:pt idx="2">
                  <c:v>Jaipur Jan-Mar (old)</c:v>
                </c:pt>
                <c:pt idx="3">
                  <c:v>Jaipur Apr-Jun (new)</c:v>
                </c:pt>
              </c:strCache>
            </c:strRef>
          </c:cat>
          <c:val>
            <c:numRef>
              <c:f>Sheet1!$D$2:$D$5</c:f>
              <c:numCache>
                <c:formatCode>General</c:formatCode>
                <c:ptCount val="4"/>
                <c:pt idx="0">
                  <c:v>5</c:v>
                </c:pt>
                <c:pt idx="1">
                  <c:v>-7.8</c:v>
                </c:pt>
                <c:pt idx="2">
                  <c:v>-12.8</c:v>
                </c:pt>
                <c:pt idx="3">
                  <c:v>-12.3</c:v>
                </c:pt>
              </c:numCache>
            </c:numRef>
          </c:val>
          <c:extLst>
            <c:ext xmlns:c16="http://schemas.microsoft.com/office/drawing/2014/chart" uri="{C3380CC4-5D6E-409C-BE32-E72D297353CC}">
              <c16:uniqueId val="{00000002-6A5C-463B-91ED-12C82325DE74}"/>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6690"/>
                </a:solidFill>
                <a:latin typeface="Arial"/>
              </a:defRPr>
            </a:pPr>
            <a:endParaRPr lang="en-US"/>
          </a:p>
        </c:txPr>
        <c:crossAx val="2094734552"/>
        <c:crosses val="autoZero"/>
        <c:auto val="1"/>
        <c:lblAlgn val="ctr"/>
        <c:lblOffset val="100"/>
        <c:noMultiLvlLbl val="1"/>
      </c:catAx>
      <c:valAx>
        <c:axId val="2094734552"/>
        <c:scaling>
          <c:orientation val="minMax"/>
          <c:max val="10"/>
          <c:min val="-20"/>
        </c:scaling>
        <c:delete val="0"/>
        <c:axPos val="l"/>
        <c:majorGridlines>
          <c:spPr>
            <a:ln w="9525" cap="flat">
              <a:solidFill>
                <a:srgbClr val="E4E0F4"/>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6B669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690"/>
              </a:solidFill>
              <a:latin typeface="Arial"/>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No-show rate</c:v>
                </c:pt>
              </c:strCache>
            </c:strRef>
          </c:tx>
          <c:invertIfNegative val="1"/>
          <c:dPt>
            <c:idx val="0"/>
            <c:invertIfNegative val="1"/>
            <c:bubble3D val="0"/>
            <c:spPr>
              <a:solidFill>
                <a:srgbClr val="A9A4C4"/>
              </a:solidFill>
            </c:spPr>
            <c:extLst>
              <c:ext xmlns:c16="http://schemas.microsoft.com/office/drawing/2014/chart" uri="{C3380CC4-5D6E-409C-BE32-E72D297353CC}">
                <c16:uniqueId val="{00000001-05FE-4601-86DB-BCB9F7B23BD6}"/>
              </c:ext>
            </c:extLst>
          </c:dPt>
          <c:dPt>
            <c:idx val="1"/>
            <c:invertIfNegative val="1"/>
            <c:bubble3D val="0"/>
            <c:spPr>
              <a:solidFill>
                <a:srgbClr val="DCD6F7"/>
              </a:solidFill>
            </c:spPr>
            <c:extLst>
              <c:ext xmlns:c16="http://schemas.microsoft.com/office/drawing/2014/chart" uri="{C3380CC4-5D6E-409C-BE32-E72D297353CC}">
                <c16:uniqueId val="{00000003-05FE-4601-86DB-BCB9F7B23BD6}"/>
              </c:ext>
            </c:extLst>
          </c:dPt>
          <c:dPt>
            <c:idx val="2"/>
            <c:invertIfNegative val="1"/>
            <c:bubble3D val="0"/>
            <c:spPr>
              <a:solidFill>
                <a:srgbClr val="E9B04C"/>
              </a:solidFill>
            </c:spPr>
            <c:extLst>
              <c:ext xmlns:c16="http://schemas.microsoft.com/office/drawing/2014/chart" uri="{C3380CC4-5D6E-409C-BE32-E72D297353CC}">
                <c16:uniqueId val="{00000005-05FE-4601-86DB-BCB9F7B23BD6}"/>
              </c:ext>
            </c:extLst>
          </c:dPt>
          <c:dLbls>
            <c:numFmt formatCode="0.0&quot;%&quot;" sourceLinked="0"/>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Rest of network</c:v>
                </c:pt>
                <c:pt idx="1">
                  <c:v>CHE-03 on network rates</c:v>
                </c:pt>
                <c:pt idx="2">
                  <c:v>CHE-03 actual*</c:v>
                </c:pt>
              </c:strCache>
            </c:strRef>
          </c:cat>
          <c:val>
            <c:numRef>
              <c:f>Sheet1!$B$2:$B$4</c:f>
              <c:numCache>
                <c:formatCode>General</c:formatCode>
                <c:ptCount val="3"/>
                <c:pt idx="0">
                  <c:v>14.3</c:v>
                </c:pt>
                <c:pt idx="1">
                  <c:v>16.8</c:v>
                </c:pt>
                <c:pt idx="2">
                  <c:v>17.2</c:v>
                </c:pt>
              </c:numCache>
            </c:numRef>
          </c:val>
          <c:extLst>
            <c:ext xmlns:c16="http://schemas.microsoft.com/office/drawing/2014/chart" uri="{C3380CC4-5D6E-409C-BE32-E72D297353CC}">
              <c16:uniqueId val="{00000006-05FE-4601-86DB-BCB9F7B23BD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A9A4C4"/>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max val="20"/>
          <c:min val="0"/>
        </c:scaling>
        <c:delete val="0"/>
        <c:axPos val="l"/>
        <c:majorGridlines>
          <c:spPr>
            <a:ln w="9525">
              <a:solidFill>
                <a:srgbClr val="E4E0F4"/>
              </a:solidFill>
            </a:ln>
          </c:spPr>
        </c:majorGridlines>
        <c:numFmt formatCode="0&quot;%&quot;" sourceLinked="0"/>
        <c:majorTickMark val="out"/>
        <c:minorTickMark val="none"/>
        <c:tickLblPos val="nextTo"/>
        <c:spPr>
          <a:ln>
            <a:noFill/>
          </a:ln>
        </c:spPr>
        <c:txPr>
          <a:bodyPr/>
          <a:lstStyle/>
          <a:p>
            <a:pPr>
              <a:defRPr sz="1000"/>
            </a:pPr>
            <a:endParaRPr lang="en-US"/>
          </a:p>
        </c:txPr>
        <c:crossAx val="-2068027336"/>
        <c:crosses val="autoZero"/>
        <c:crossBetween val="between"/>
        <c:majorUnit val="5"/>
      </c:valAx>
    </c:plotArea>
    <c:plotVisOnly val="1"/>
    <c:dispBlanksAs val="gap"/>
    <c:showDLblsOverMax val="1"/>
  </c:chart>
  <c:txPr>
    <a:bodyPr/>
    <a:lstStyle/>
    <a:p>
      <a:pPr>
        <a:defRPr sz="1000">
          <a:solidFill>
            <a:srgbClr val="6B6690"/>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Other clinics</c:v>
                </c:pt>
              </c:strCache>
            </c:strRef>
          </c:tx>
          <c:spPr>
            <a:ln w="47625">
              <a:noFill/>
            </a:ln>
          </c:spPr>
          <c:marker>
            <c:symbol val="circle"/>
            <c:size val="8"/>
            <c:spPr>
              <a:solidFill>
                <a:srgbClr val="A9A4C4"/>
              </a:solidFill>
              <a:ln>
                <a:solidFill>
                  <a:srgbClr val="FFFFFF"/>
                </a:solidFill>
              </a:ln>
            </c:spPr>
          </c:marker>
          <c:xVal>
            <c:numRef>
              <c:f>Sheet1!$A$2:$A$30</c:f>
              <c:numCache>
                <c:formatCode>General</c:formatCode>
                <c:ptCount val="29"/>
                <c:pt idx="0">
                  <c:v>33543</c:v>
                </c:pt>
                <c:pt idx="1">
                  <c:v>22573</c:v>
                </c:pt>
                <c:pt idx="2">
                  <c:v>17828</c:v>
                </c:pt>
                <c:pt idx="3">
                  <c:v>13373</c:v>
                </c:pt>
                <c:pt idx="4">
                  <c:v>11254</c:v>
                </c:pt>
                <c:pt idx="5">
                  <c:v>39202</c:v>
                </c:pt>
                <c:pt idx="6">
                  <c:v>26554</c:v>
                </c:pt>
                <c:pt idx="7">
                  <c:v>21137</c:v>
                </c:pt>
                <c:pt idx="8">
                  <c:v>15576</c:v>
                </c:pt>
                <c:pt idx="9">
                  <c:v>13154</c:v>
                </c:pt>
                <c:pt idx="10">
                  <c:v>10681</c:v>
                </c:pt>
                <c:pt idx="11">
                  <c:v>34303</c:v>
                </c:pt>
                <c:pt idx="12">
                  <c:v>23146</c:v>
                </c:pt>
                <c:pt idx="13">
                  <c:v>13833</c:v>
                </c:pt>
                <c:pt idx="14">
                  <c:v>11475</c:v>
                </c:pt>
                <c:pt idx="15">
                  <c:v>31487</c:v>
                </c:pt>
                <c:pt idx="16">
                  <c:v>21099</c:v>
                </c:pt>
                <c:pt idx="17">
                  <c:v>16739</c:v>
                </c:pt>
                <c:pt idx="18">
                  <c:v>12719</c:v>
                </c:pt>
                <c:pt idx="19">
                  <c:v>10384</c:v>
                </c:pt>
                <c:pt idx="20">
                  <c:v>20783</c:v>
                </c:pt>
                <c:pt idx="21">
                  <c:v>13492</c:v>
                </c:pt>
                <c:pt idx="22">
                  <c:v>11045</c:v>
                </c:pt>
                <c:pt idx="23">
                  <c:v>8080</c:v>
                </c:pt>
                <c:pt idx="24">
                  <c:v>26563</c:v>
                </c:pt>
                <c:pt idx="25">
                  <c:v>17466</c:v>
                </c:pt>
                <c:pt idx="26">
                  <c:v>14041</c:v>
                </c:pt>
                <c:pt idx="27">
                  <c:v>10743</c:v>
                </c:pt>
                <c:pt idx="28">
                  <c:v>8797</c:v>
                </c:pt>
              </c:numCache>
            </c:numRef>
          </c:xVal>
          <c:yVal>
            <c:numRef>
              <c:f>Sheet1!$B$2:$B$30</c:f>
              <c:numCache>
                <c:formatCode>General</c:formatCode>
                <c:ptCount val="29"/>
                <c:pt idx="0">
                  <c:v>14.61</c:v>
                </c:pt>
                <c:pt idx="1">
                  <c:v>14.59</c:v>
                </c:pt>
                <c:pt idx="2">
                  <c:v>14.14</c:v>
                </c:pt>
                <c:pt idx="3">
                  <c:v>14.19</c:v>
                </c:pt>
                <c:pt idx="4">
                  <c:v>14.29</c:v>
                </c:pt>
                <c:pt idx="5">
                  <c:v>14.45</c:v>
                </c:pt>
                <c:pt idx="6">
                  <c:v>14.35</c:v>
                </c:pt>
                <c:pt idx="7">
                  <c:v>14.22</c:v>
                </c:pt>
                <c:pt idx="8">
                  <c:v>14.02</c:v>
                </c:pt>
                <c:pt idx="9">
                  <c:v>14.44</c:v>
                </c:pt>
                <c:pt idx="10">
                  <c:v>14.11</c:v>
                </c:pt>
                <c:pt idx="11">
                  <c:v>14.57</c:v>
                </c:pt>
                <c:pt idx="12">
                  <c:v>14.04</c:v>
                </c:pt>
                <c:pt idx="13">
                  <c:v>13.86</c:v>
                </c:pt>
                <c:pt idx="14">
                  <c:v>14.76</c:v>
                </c:pt>
                <c:pt idx="15">
                  <c:v>14.07</c:v>
                </c:pt>
                <c:pt idx="16">
                  <c:v>14.17</c:v>
                </c:pt>
                <c:pt idx="17">
                  <c:v>14.39</c:v>
                </c:pt>
                <c:pt idx="18">
                  <c:v>14.4</c:v>
                </c:pt>
                <c:pt idx="19">
                  <c:v>14.64</c:v>
                </c:pt>
                <c:pt idx="20">
                  <c:v>14.07</c:v>
                </c:pt>
                <c:pt idx="21">
                  <c:v>14.32</c:v>
                </c:pt>
                <c:pt idx="22">
                  <c:v>14.14</c:v>
                </c:pt>
                <c:pt idx="23">
                  <c:v>14.7</c:v>
                </c:pt>
                <c:pt idx="24">
                  <c:v>14.15</c:v>
                </c:pt>
                <c:pt idx="25">
                  <c:v>14.13</c:v>
                </c:pt>
                <c:pt idx="26">
                  <c:v>14.12</c:v>
                </c:pt>
                <c:pt idx="27">
                  <c:v>14.65</c:v>
                </c:pt>
                <c:pt idx="28">
                  <c:v>14.25</c:v>
                </c:pt>
              </c:numCache>
            </c:numRef>
          </c:yVal>
          <c:smooth val="0"/>
          <c:extLst>
            <c:ext xmlns:c16="http://schemas.microsoft.com/office/drawing/2014/chart" uri="{C3380CC4-5D6E-409C-BE32-E72D297353CC}">
              <c16:uniqueId val="{00000000-EE04-4927-BC3E-5F2CDE7FEC07}"/>
            </c:ext>
          </c:extLst>
        </c:ser>
        <c:ser>
          <c:idx val="1"/>
          <c:order val="1"/>
          <c:tx>
            <c:strRef>
              <c:f>Sheet1!$B$32</c:f>
              <c:strCache>
                <c:ptCount val="1"/>
                <c:pt idx="0">
                  <c:v>CHE-03</c:v>
                </c:pt>
              </c:strCache>
            </c:strRef>
          </c:tx>
          <c:spPr>
            <a:ln w="47625">
              <a:noFill/>
            </a:ln>
          </c:spPr>
          <c:marker>
            <c:symbol val="diamond"/>
            <c:size val="14"/>
            <c:spPr>
              <a:solidFill>
                <a:srgbClr val="E9B04C"/>
              </a:solidFill>
              <a:ln>
                <a:solidFill>
                  <a:srgbClr val="FFFFFF"/>
                </a:solidFill>
              </a:ln>
            </c:spPr>
          </c:marker>
          <c:dLbls>
            <c:dLbl>
              <c:idx val="0"/>
              <c:tx>
                <c:rich>
                  <a:bodyPr/>
                  <a:lstStyle/>
                  <a:p>
                    <a:r>
                      <a:rPr lang="en-US" sz="1000" b="1"/>
                      <a:t>CHE-03 17.3%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E04-4927-BC3E-5F2CDE7FEC0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Sheet1!$A$33:$A$33</c:f>
              <c:numCache>
                <c:formatCode>General</c:formatCode>
                <c:ptCount val="1"/>
                <c:pt idx="0">
                  <c:v>18373</c:v>
                </c:pt>
              </c:numCache>
            </c:numRef>
          </c:xVal>
          <c:yVal>
            <c:numRef>
              <c:f>Sheet1!$B$33:$B$33</c:f>
              <c:numCache>
                <c:formatCode>General</c:formatCode>
                <c:ptCount val="1"/>
                <c:pt idx="0">
                  <c:v>17.25</c:v>
                </c:pt>
              </c:numCache>
            </c:numRef>
          </c:yVal>
          <c:smooth val="0"/>
          <c:extLst>
            <c:ext xmlns:c16="http://schemas.microsoft.com/office/drawing/2014/chart" uri="{C3380CC4-5D6E-409C-BE32-E72D297353CC}">
              <c16:uniqueId val="{00000002-EE04-4927-BC3E-5F2CDE7FEC07}"/>
            </c:ext>
          </c:extLst>
        </c:ser>
        <c:ser>
          <c:idx val="2"/>
          <c:order val="2"/>
          <c:tx>
            <c:strRef>
              <c:f>Sheet1!$B$35</c:f>
              <c:strCache>
                <c:ptCount val="1"/>
                <c:pt idx="0">
                  <c:v>JAI-05 (tiny)</c:v>
                </c:pt>
              </c:strCache>
            </c:strRef>
          </c:tx>
          <c:spPr>
            <a:ln w="47625">
              <a:noFill/>
            </a:ln>
          </c:spPr>
          <c:marker>
            <c:symbol val="triangle"/>
            <c:size val="9"/>
            <c:spPr>
              <a:solidFill>
                <a:srgbClr val="B83227"/>
              </a:solidFill>
              <a:ln>
                <a:solidFill>
                  <a:srgbClr val="FFFFFF"/>
                </a:solidFill>
              </a:ln>
            </c:spPr>
          </c:marker>
          <c:dLbls>
            <c:dLbl>
              <c:idx val="0"/>
              <c:tx>
                <c:rich>
                  <a:bodyPr/>
                  <a:lstStyle/>
                  <a:p>
                    <a:r>
                      <a:rPr lang="en-US" sz="1000" b="1"/>
                      <a:t>JAI-05 (155 visits)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E04-4927-BC3E-5F2CDE7FEC0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Sheet1!$A$36:$A$36</c:f>
              <c:numCache>
                <c:formatCode>General</c:formatCode>
                <c:ptCount val="1"/>
                <c:pt idx="0">
                  <c:v>155</c:v>
                </c:pt>
              </c:numCache>
            </c:numRef>
          </c:xVal>
          <c:yVal>
            <c:numRef>
              <c:f>Sheet1!$B$36:$B$36</c:f>
              <c:numCache>
                <c:formatCode>General</c:formatCode>
                <c:ptCount val="1"/>
                <c:pt idx="0">
                  <c:v>17.420000000000002</c:v>
                </c:pt>
              </c:numCache>
            </c:numRef>
          </c:yVal>
          <c:smooth val="0"/>
          <c:extLst>
            <c:ext xmlns:c16="http://schemas.microsoft.com/office/drawing/2014/chart" uri="{C3380CC4-5D6E-409C-BE32-E72D297353CC}">
              <c16:uniqueId val="{00000004-EE04-4927-BC3E-5F2CDE7FEC07}"/>
            </c:ext>
          </c:extLst>
        </c:ser>
        <c:ser>
          <c:idx val="3"/>
          <c:order val="3"/>
          <c:tx>
            <c:strRef>
              <c:f>Sheet1!$B$38</c:f>
              <c:strCache>
                <c:ptCount val="1"/>
                <c:pt idx="0">
                  <c:v>Chance band, 95%</c:v>
                </c:pt>
              </c:strCache>
            </c:strRef>
          </c:tx>
          <c:spPr>
            <a:ln w="22225">
              <a:solidFill>
                <a:srgbClr val="4E38AB"/>
              </a:solidFill>
            </a:ln>
          </c:spPr>
          <c:marker>
            <c:symbol val="none"/>
          </c:marker>
          <c:xVal>
            <c:numRef>
              <c:f>Sheet1!$A$39:$A$158</c:f>
              <c:numCache>
                <c:formatCode>General</c:formatCode>
                <c:ptCount val="120"/>
                <c:pt idx="0">
                  <c:v>150</c:v>
                </c:pt>
                <c:pt idx="1">
                  <c:v>758</c:v>
                </c:pt>
                <c:pt idx="2">
                  <c:v>1365</c:v>
                </c:pt>
                <c:pt idx="3">
                  <c:v>1973</c:v>
                </c:pt>
                <c:pt idx="4">
                  <c:v>2581</c:v>
                </c:pt>
                <c:pt idx="5">
                  <c:v>3188</c:v>
                </c:pt>
                <c:pt idx="6">
                  <c:v>3796</c:v>
                </c:pt>
                <c:pt idx="7">
                  <c:v>4403</c:v>
                </c:pt>
                <c:pt idx="8">
                  <c:v>5011</c:v>
                </c:pt>
                <c:pt idx="9">
                  <c:v>5619</c:v>
                </c:pt>
                <c:pt idx="10">
                  <c:v>6226</c:v>
                </c:pt>
                <c:pt idx="11">
                  <c:v>6834</c:v>
                </c:pt>
                <c:pt idx="12">
                  <c:v>7442</c:v>
                </c:pt>
                <c:pt idx="13">
                  <c:v>8049</c:v>
                </c:pt>
                <c:pt idx="14">
                  <c:v>8657</c:v>
                </c:pt>
                <c:pt idx="15">
                  <c:v>9264</c:v>
                </c:pt>
                <c:pt idx="16">
                  <c:v>9872</c:v>
                </c:pt>
                <c:pt idx="17">
                  <c:v>10480</c:v>
                </c:pt>
                <c:pt idx="18">
                  <c:v>11087</c:v>
                </c:pt>
                <c:pt idx="19">
                  <c:v>11695</c:v>
                </c:pt>
                <c:pt idx="20">
                  <c:v>12303</c:v>
                </c:pt>
                <c:pt idx="21">
                  <c:v>12910</c:v>
                </c:pt>
                <c:pt idx="22">
                  <c:v>13518</c:v>
                </c:pt>
                <c:pt idx="23">
                  <c:v>14125</c:v>
                </c:pt>
                <c:pt idx="24">
                  <c:v>14733</c:v>
                </c:pt>
                <c:pt idx="25">
                  <c:v>15341</c:v>
                </c:pt>
                <c:pt idx="26">
                  <c:v>15948</c:v>
                </c:pt>
                <c:pt idx="27">
                  <c:v>16556</c:v>
                </c:pt>
                <c:pt idx="28">
                  <c:v>17164</c:v>
                </c:pt>
                <c:pt idx="29">
                  <c:v>17771</c:v>
                </c:pt>
                <c:pt idx="30">
                  <c:v>18379</c:v>
                </c:pt>
                <c:pt idx="31">
                  <c:v>18986</c:v>
                </c:pt>
                <c:pt idx="32">
                  <c:v>19594</c:v>
                </c:pt>
                <c:pt idx="33">
                  <c:v>20202</c:v>
                </c:pt>
                <c:pt idx="34">
                  <c:v>20809</c:v>
                </c:pt>
                <c:pt idx="35">
                  <c:v>21417</c:v>
                </c:pt>
                <c:pt idx="36">
                  <c:v>22025</c:v>
                </c:pt>
                <c:pt idx="37">
                  <c:v>22632</c:v>
                </c:pt>
                <c:pt idx="38">
                  <c:v>23240</c:v>
                </c:pt>
                <c:pt idx="39">
                  <c:v>23847</c:v>
                </c:pt>
                <c:pt idx="40">
                  <c:v>24455</c:v>
                </c:pt>
                <c:pt idx="41">
                  <c:v>25063</c:v>
                </c:pt>
                <c:pt idx="42">
                  <c:v>25670</c:v>
                </c:pt>
                <c:pt idx="43">
                  <c:v>26278</c:v>
                </c:pt>
                <c:pt idx="44">
                  <c:v>26886</c:v>
                </c:pt>
                <c:pt idx="45">
                  <c:v>27493</c:v>
                </c:pt>
                <c:pt idx="46">
                  <c:v>28101</c:v>
                </c:pt>
                <c:pt idx="47">
                  <c:v>28708</c:v>
                </c:pt>
                <c:pt idx="48">
                  <c:v>29316</c:v>
                </c:pt>
                <c:pt idx="49">
                  <c:v>29924</c:v>
                </c:pt>
                <c:pt idx="50">
                  <c:v>30531</c:v>
                </c:pt>
                <c:pt idx="51">
                  <c:v>31139</c:v>
                </c:pt>
                <c:pt idx="52">
                  <c:v>31747</c:v>
                </c:pt>
                <c:pt idx="53">
                  <c:v>32354</c:v>
                </c:pt>
                <c:pt idx="54">
                  <c:v>32962</c:v>
                </c:pt>
                <c:pt idx="55">
                  <c:v>33569</c:v>
                </c:pt>
                <c:pt idx="56">
                  <c:v>34177</c:v>
                </c:pt>
                <c:pt idx="57">
                  <c:v>34785</c:v>
                </c:pt>
                <c:pt idx="58">
                  <c:v>35392</c:v>
                </c:pt>
                <c:pt idx="59">
                  <c:v>36000</c:v>
                </c:pt>
                <c:pt idx="60">
                  <c:v>36000</c:v>
                </c:pt>
                <c:pt idx="61">
                  <c:v>35392</c:v>
                </c:pt>
                <c:pt idx="62">
                  <c:v>34785</c:v>
                </c:pt>
                <c:pt idx="63">
                  <c:v>34177</c:v>
                </c:pt>
                <c:pt idx="64">
                  <c:v>33569</c:v>
                </c:pt>
                <c:pt idx="65">
                  <c:v>32962</c:v>
                </c:pt>
                <c:pt idx="66">
                  <c:v>32354</c:v>
                </c:pt>
                <c:pt idx="67">
                  <c:v>31747</c:v>
                </c:pt>
                <c:pt idx="68">
                  <c:v>31139</c:v>
                </c:pt>
                <c:pt idx="69">
                  <c:v>30531</c:v>
                </c:pt>
                <c:pt idx="70">
                  <c:v>29924</c:v>
                </c:pt>
                <c:pt idx="71">
                  <c:v>29316</c:v>
                </c:pt>
                <c:pt idx="72">
                  <c:v>28708</c:v>
                </c:pt>
                <c:pt idx="73">
                  <c:v>28101</c:v>
                </c:pt>
                <c:pt idx="74">
                  <c:v>27493</c:v>
                </c:pt>
                <c:pt idx="75">
                  <c:v>26886</c:v>
                </c:pt>
                <c:pt idx="76">
                  <c:v>26278</c:v>
                </c:pt>
                <c:pt idx="77">
                  <c:v>25670</c:v>
                </c:pt>
                <c:pt idx="78">
                  <c:v>25063</c:v>
                </c:pt>
                <c:pt idx="79">
                  <c:v>24455</c:v>
                </c:pt>
                <c:pt idx="80">
                  <c:v>23847</c:v>
                </c:pt>
                <c:pt idx="81">
                  <c:v>23240</c:v>
                </c:pt>
                <c:pt idx="82">
                  <c:v>22632</c:v>
                </c:pt>
                <c:pt idx="83">
                  <c:v>22025</c:v>
                </c:pt>
                <c:pt idx="84">
                  <c:v>21417</c:v>
                </c:pt>
                <c:pt idx="85">
                  <c:v>20809</c:v>
                </c:pt>
                <c:pt idx="86">
                  <c:v>20202</c:v>
                </c:pt>
                <c:pt idx="87">
                  <c:v>19594</c:v>
                </c:pt>
                <c:pt idx="88">
                  <c:v>18986</c:v>
                </c:pt>
                <c:pt idx="89">
                  <c:v>18379</c:v>
                </c:pt>
                <c:pt idx="90">
                  <c:v>17771</c:v>
                </c:pt>
                <c:pt idx="91">
                  <c:v>17164</c:v>
                </c:pt>
                <c:pt idx="92">
                  <c:v>16556</c:v>
                </c:pt>
                <c:pt idx="93">
                  <c:v>15948</c:v>
                </c:pt>
                <c:pt idx="94">
                  <c:v>15341</c:v>
                </c:pt>
                <c:pt idx="95">
                  <c:v>14733</c:v>
                </c:pt>
                <c:pt idx="96">
                  <c:v>14125</c:v>
                </c:pt>
                <c:pt idx="97">
                  <c:v>13518</c:v>
                </c:pt>
                <c:pt idx="98">
                  <c:v>12910</c:v>
                </c:pt>
                <c:pt idx="99">
                  <c:v>12303</c:v>
                </c:pt>
                <c:pt idx="100">
                  <c:v>11695</c:v>
                </c:pt>
                <c:pt idx="101">
                  <c:v>11087</c:v>
                </c:pt>
                <c:pt idx="102">
                  <c:v>10480</c:v>
                </c:pt>
                <c:pt idx="103">
                  <c:v>9872</c:v>
                </c:pt>
                <c:pt idx="104">
                  <c:v>9264</c:v>
                </c:pt>
                <c:pt idx="105">
                  <c:v>8657</c:v>
                </c:pt>
                <c:pt idx="106">
                  <c:v>8049</c:v>
                </c:pt>
                <c:pt idx="107">
                  <c:v>7442</c:v>
                </c:pt>
                <c:pt idx="108">
                  <c:v>6834</c:v>
                </c:pt>
                <c:pt idx="109">
                  <c:v>6226</c:v>
                </c:pt>
                <c:pt idx="110">
                  <c:v>5619</c:v>
                </c:pt>
                <c:pt idx="111">
                  <c:v>5011</c:v>
                </c:pt>
                <c:pt idx="112">
                  <c:v>4403</c:v>
                </c:pt>
                <c:pt idx="113">
                  <c:v>3796</c:v>
                </c:pt>
                <c:pt idx="114">
                  <c:v>3188</c:v>
                </c:pt>
                <c:pt idx="115">
                  <c:v>2581</c:v>
                </c:pt>
                <c:pt idx="116">
                  <c:v>1973</c:v>
                </c:pt>
                <c:pt idx="117">
                  <c:v>1365</c:v>
                </c:pt>
                <c:pt idx="118">
                  <c:v>758</c:v>
                </c:pt>
                <c:pt idx="119">
                  <c:v>150</c:v>
                </c:pt>
              </c:numCache>
            </c:numRef>
          </c:xVal>
          <c:yVal>
            <c:numRef>
              <c:f>Sheet1!$B$39:$B$158</c:f>
              <c:numCache>
                <c:formatCode>General</c:formatCode>
                <c:ptCount val="120"/>
                <c:pt idx="0">
                  <c:v>20.02</c:v>
                </c:pt>
                <c:pt idx="1">
                  <c:v>16.91</c:v>
                </c:pt>
                <c:pt idx="2">
                  <c:v>16.27</c:v>
                </c:pt>
                <c:pt idx="3">
                  <c:v>15.95</c:v>
                </c:pt>
                <c:pt idx="4">
                  <c:v>15.76</c:v>
                </c:pt>
                <c:pt idx="5">
                  <c:v>15.62</c:v>
                </c:pt>
                <c:pt idx="6">
                  <c:v>15.52</c:v>
                </c:pt>
                <c:pt idx="7">
                  <c:v>15.44</c:v>
                </c:pt>
                <c:pt idx="8">
                  <c:v>15.38</c:v>
                </c:pt>
                <c:pt idx="9">
                  <c:v>15.32</c:v>
                </c:pt>
                <c:pt idx="10">
                  <c:v>15.28</c:v>
                </c:pt>
                <c:pt idx="11">
                  <c:v>15.24</c:v>
                </c:pt>
                <c:pt idx="12">
                  <c:v>15.2</c:v>
                </c:pt>
                <c:pt idx="13">
                  <c:v>15.17</c:v>
                </c:pt>
                <c:pt idx="14">
                  <c:v>15.15</c:v>
                </c:pt>
                <c:pt idx="15">
                  <c:v>15.12</c:v>
                </c:pt>
                <c:pt idx="16">
                  <c:v>15.1</c:v>
                </c:pt>
                <c:pt idx="17">
                  <c:v>15.08</c:v>
                </c:pt>
                <c:pt idx="18">
                  <c:v>15.06</c:v>
                </c:pt>
                <c:pt idx="19">
                  <c:v>15.04</c:v>
                </c:pt>
                <c:pt idx="20">
                  <c:v>15.03</c:v>
                </c:pt>
                <c:pt idx="21">
                  <c:v>15.01</c:v>
                </c:pt>
                <c:pt idx="22">
                  <c:v>15</c:v>
                </c:pt>
                <c:pt idx="23">
                  <c:v>14.98</c:v>
                </c:pt>
                <c:pt idx="24">
                  <c:v>14.97</c:v>
                </c:pt>
                <c:pt idx="25">
                  <c:v>14.96</c:v>
                </c:pt>
                <c:pt idx="26">
                  <c:v>14.95</c:v>
                </c:pt>
                <c:pt idx="27">
                  <c:v>14.94</c:v>
                </c:pt>
                <c:pt idx="28">
                  <c:v>14.93</c:v>
                </c:pt>
                <c:pt idx="29">
                  <c:v>14.92</c:v>
                </c:pt>
                <c:pt idx="30">
                  <c:v>14.91</c:v>
                </c:pt>
                <c:pt idx="31">
                  <c:v>14.9</c:v>
                </c:pt>
                <c:pt idx="32">
                  <c:v>14.9</c:v>
                </c:pt>
                <c:pt idx="33">
                  <c:v>14.89</c:v>
                </c:pt>
                <c:pt idx="34">
                  <c:v>14.88</c:v>
                </c:pt>
                <c:pt idx="35">
                  <c:v>14.88</c:v>
                </c:pt>
                <c:pt idx="36">
                  <c:v>14.87</c:v>
                </c:pt>
                <c:pt idx="37">
                  <c:v>14.86</c:v>
                </c:pt>
                <c:pt idx="38">
                  <c:v>14.86</c:v>
                </c:pt>
                <c:pt idx="39">
                  <c:v>14.85</c:v>
                </c:pt>
                <c:pt idx="40">
                  <c:v>14.85</c:v>
                </c:pt>
                <c:pt idx="41">
                  <c:v>14.84</c:v>
                </c:pt>
                <c:pt idx="42">
                  <c:v>14.84</c:v>
                </c:pt>
                <c:pt idx="43">
                  <c:v>14.83</c:v>
                </c:pt>
                <c:pt idx="44">
                  <c:v>14.83</c:v>
                </c:pt>
                <c:pt idx="45">
                  <c:v>14.82</c:v>
                </c:pt>
                <c:pt idx="46">
                  <c:v>14.82</c:v>
                </c:pt>
                <c:pt idx="47">
                  <c:v>14.81</c:v>
                </c:pt>
                <c:pt idx="48">
                  <c:v>14.81</c:v>
                </c:pt>
                <c:pt idx="49">
                  <c:v>14.8</c:v>
                </c:pt>
                <c:pt idx="50">
                  <c:v>14.8</c:v>
                </c:pt>
                <c:pt idx="51">
                  <c:v>14.8</c:v>
                </c:pt>
                <c:pt idx="52">
                  <c:v>14.79</c:v>
                </c:pt>
                <c:pt idx="53">
                  <c:v>14.79</c:v>
                </c:pt>
                <c:pt idx="54">
                  <c:v>14.78</c:v>
                </c:pt>
                <c:pt idx="55">
                  <c:v>14.78</c:v>
                </c:pt>
                <c:pt idx="56">
                  <c:v>14.78</c:v>
                </c:pt>
                <c:pt idx="57">
                  <c:v>14.77</c:v>
                </c:pt>
                <c:pt idx="58">
                  <c:v>14.77</c:v>
                </c:pt>
                <c:pt idx="59">
                  <c:v>14.77</c:v>
                </c:pt>
                <c:pt idx="60">
                  <c:v>14.04</c:v>
                </c:pt>
                <c:pt idx="61">
                  <c:v>14.04</c:v>
                </c:pt>
                <c:pt idx="62">
                  <c:v>14.04</c:v>
                </c:pt>
                <c:pt idx="63">
                  <c:v>14.03</c:v>
                </c:pt>
                <c:pt idx="64">
                  <c:v>14.03</c:v>
                </c:pt>
                <c:pt idx="65">
                  <c:v>14.03</c:v>
                </c:pt>
                <c:pt idx="66">
                  <c:v>14.02</c:v>
                </c:pt>
                <c:pt idx="67">
                  <c:v>14.02</c:v>
                </c:pt>
                <c:pt idx="68">
                  <c:v>14.02</c:v>
                </c:pt>
                <c:pt idx="69">
                  <c:v>14.01</c:v>
                </c:pt>
                <c:pt idx="70">
                  <c:v>14.01</c:v>
                </c:pt>
                <c:pt idx="71">
                  <c:v>14</c:v>
                </c:pt>
                <c:pt idx="72">
                  <c:v>14</c:v>
                </c:pt>
                <c:pt idx="73">
                  <c:v>13.99</c:v>
                </c:pt>
                <c:pt idx="74">
                  <c:v>13.99</c:v>
                </c:pt>
                <c:pt idx="75">
                  <c:v>13.99</c:v>
                </c:pt>
                <c:pt idx="76">
                  <c:v>13.98</c:v>
                </c:pt>
                <c:pt idx="77">
                  <c:v>13.98</c:v>
                </c:pt>
                <c:pt idx="78">
                  <c:v>13.97</c:v>
                </c:pt>
                <c:pt idx="79">
                  <c:v>13.97</c:v>
                </c:pt>
                <c:pt idx="80">
                  <c:v>13.96</c:v>
                </c:pt>
                <c:pt idx="81">
                  <c:v>13.95</c:v>
                </c:pt>
                <c:pt idx="82">
                  <c:v>13.95</c:v>
                </c:pt>
                <c:pt idx="83">
                  <c:v>13.94</c:v>
                </c:pt>
                <c:pt idx="84">
                  <c:v>13.94</c:v>
                </c:pt>
                <c:pt idx="85">
                  <c:v>13.93</c:v>
                </c:pt>
                <c:pt idx="86">
                  <c:v>13.92</c:v>
                </c:pt>
                <c:pt idx="87">
                  <c:v>13.91</c:v>
                </c:pt>
                <c:pt idx="88">
                  <c:v>13.91</c:v>
                </c:pt>
                <c:pt idx="89">
                  <c:v>13.9</c:v>
                </c:pt>
                <c:pt idx="90">
                  <c:v>13.89</c:v>
                </c:pt>
                <c:pt idx="91">
                  <c:v>13.88</c:v>
                </c:pt>
                <c:pt idx="92">
                  <c:v>13.87</c:v>
                </c:pt>
                <c:pt idx="93">
                  <c:v>13.86</c:v>
                </c:pt>
                <c:pt idx="94">
                  <c:v>13.85</c:v>
                </c:pt>
                <c:pt idx="95">
                  <c:v>13.84</c:v>
                </c:pt>
                <c:pt idx="96">
                  <c:v>13.83</c:v>
                </c:pt>
                <c:pt idx="97">
                  <c:v>13.81</c:v>
                </c:pt>
                <c:pt idx="98">
                  <c:v>13.8</c:v>
                </c:pt>
                <c:pt idx="99">
                  <c:v>13.78</c:v>
                </c:pt>
                <c:pt idx="100">
                  <c:v>13.77</c:v>
                </c:pt>
                <c:pt idx="101">
                  <c:v>13.75</c:v>
                </c:pt>
                <c:pt idx="102">
                  <c:v>13.73</c:v>
                </c:pt>
                <c:pt idx="103">
                  <c:v>13.71</c:v>
                </c:pt>
                <c:pt idx="104">
                  <c:v>13.69</c:v>
                </c:pt>
                <c:pt idx="105">
                  <c:v>13.67</c:v>
                </c:pt>
                <c:pt idx="106">
                  <c:v>13.64</c:v>
                </c:pt>
                <c:pt idx="107">
                  <c:v>13.61</c:v>
                </c:pt>
                <c:pt idx="108">
                  <c:v>13.57</c:v>
                </c:pt>
                <c:pt idx="109">
                  <c:v>13.53</c:v>
                </c:pt>
                <c:pt idx="110">
                  <c:v>13.49</c:v>
                </c:pt>
                <c:pt idx="111">
                  <c:v>13.43</c:v>
                </c:pt>
                <c:pt idx="112">
                  <c:v>13.37</c:v>
                </c:pt>
                <c:pt idx="113">
                  <c:v>13.29</c:v>
                </c:pt>
                <c:pt idx="114">
                  <c:v>13.19</c:v>
                </c:pt>
                <c:pt idx="115">
                  <c:v>13.05</c:v>
                </c:pt>
                <c:pt idx="116">
                  <c:v>12.86</c:v>
                </c:pt>
                <c:pt idx="117">
                  <c:v>12.54</c:v>
                </c:pt>
                <c:pt idx="118">
                  <c:v>11.91</c:v>
                </c:pt>
                <c:pt idx="119">
                  <c:v>8.7899999999999991</c:v>
                </c:pt>
              </c:numCache>
            </c:numRef>
          </c:yVal>
          <c:smooth val="0"/>
          <c:extLst>
            <c:ext xmlns:c16="http://schemas.microsoft.com/office/drawing/2014/chart" uri="{C3380CC4-5D6E-409C-BE32-E72D297353CC}">
              <c16:uniqueId val="{00000005-EE04-4927-BC3E-5F2CDE7FEC07}"/>
            </c:ext>
          </c:extLst>
        </c:ser>
        <c:ser>
          <c:idx val="4"/>
          <c:order val="4"/>
          <c:tx>
            <c:strRef>
              <c:f>Sheet1!$B$160</c:f>
              <c:strCache>
                <c:ptCount val="1"/>
                <c:pt idx="0">
                  <c:v>Network rate</c:v>
                </c:pt>
              </c:strCache>
            </c:strRef>
          </c:tx>
          <c:spPr>
            <a:ln w="15875">
              <a:solidFill>
                <a:srgbClr val="6B6690"/>
              </a:solidFill>
              <a:prstDash val="dash"/>
            </a:ln>
          </c:spPr>
          <c:marker>
            <c:symbol val="none"/>
          </c:marker>
          <c:xVal>
            <c:numRef>
              <c:f>Sheet1!$A$161:$A$162</c:f>
              <c:numCache>
                <c:formatCode>General</c:formatCode>
                <c:ptCount val="2"/>
                <c:pt idx="0">
                  <c:v>0</c:v>
                </c:pt>
                <c:pt idx="1">
                  <c:v>36000</c:v>
                </c:pt>
              </c:numCache>
            </c:numRef>
          </c:xVal>
          <c:yVal>
            <c:numRef>
              <c:f>Sheet1!$B$161:$B$162</c:f>
              <c:numCache>
                <c:formatCode>General</c:formatCode>
                <c:ptCount val="2"/>
                <c:pt idx="0">
                  <c:v>14.41</c:v>
                </c:pt>
                <c:pt idx="1">
                  <c:v>14.41</c:v>
                </c:pt>
              </c:numCache>
            </c:numRef>
          </c:yVal>
          <c:smooth val="0"/>
          <c:extLst>
            <c:ext xmlns:c16="http://schemas.microsoft.com/office/drawing/2014/chart" uri="{C3380CC4-5D6E-409C-BE32-E72D297353CC}">
              <c16:uniqueId val="{00000006-EE04-4927-BC3E-5F2CDE7FEC07}"/>
            </c:ext>
          </c:extLst>
        </c:ser>
        <c:dLbls>
          <c:showLegendKey val="0"/>
          <c:showVal val="0"/>
          <c:showCatName val="0"/>
          <c:showSerName val="0"/>
          <c:showPercent val="0"/>
          <c:showBubbleSize val="0"/>
        </c:dLbls>
        <c:axId val="-2128940872"/>
        <c:axId val="-2129643912"/>
      </c:scatterChart>
      <c:valAx>
        <c:axId val="-2128940872"/>
        <c:scaling>
          <c:orientation val="minMax"/>
          <c:max val="36000"/>
          <c:min val="0"/>
        </c:scaling>
        <c:delete val="0"/>
        <c:axPos val="b"/>
        <c:title>
          <c:tx>
            <c:rich>
              <a:bodyPr/>
              <a:lstStyle/>
              <a:p>
                <a:r>
                  <a:rPr lang="en-US" sz="1000"/>
                  <a:t>Visits that reached the collection app, Jan 2025 to Jun 2026</a:t>
                </a:r>
              </a:p>
            </c:rich>
          </c:tx>
          <c:overlay val="0"/>
        </c:title>
        <c:numFmt formatCode="#,##0" sourceLinked="0"/>
        <c:majorTickMark val="out"/>
        <c:minorTickMark val="none"/>
        <c:tickLblPos val="nextTo"/>
        <c:crossAx val="-2129643912"/>
        <c:crosses val="autoZero"/>
        <c:crossBetween val="midCat"/>
        <c:majorUnit val="6000"/>
      </c:valAx>
      <c:valAx>
        <c:axId val="-2129643912"/>
        <c:scaling>
          <c:orientation val="minMax"/>
          <c:max val="24"/>
          <c:min val="8"/>
        </c:scaling>
        <c:delete val="0"/>
        <c:axPos val="l"/>
        <c:majorGridlines>
          <c:spPr>
            <a:ln>
              <a:solidFill>
                <a:srgbClr val="E4E0F4"/>
              </a:solidFill>
            </a:ln>
          </c:spPr>
        </c:majorGridlines>
        <c:title>
          <c:tx>
            <c:rich>
              <a:bodyPr/>
              <a:lstStyle/>
              <a:p>
                <a:r>
                  <a:rPr lang="en-IN" sz="1000"/>
                  <a:t>No-show rate</a:t>
                </a:r>
              </a:p>
            </c:rich>
          </c:tx>
          <c:overlay val="0"/>
        </c:title>
        <c:numFmt formatCode="0&quot;%&quot;" sourceLinked="0"/>
        <c:majorTickMark val="out"/>
        <c:minorTickMark val="none"/>
        <c:tickLblPos val="nextTo"/>
        <c:crossAx val="-2128940872"/>
        <c:crosses val="autoZero"/>
        <c:crossBetween val="midCat"/>
        <c:majorUnit val="2"/>
      </c:valAx>
    </c:plotArea>
    <c:legend>
      <c:legendPos val="b"/>
      <c:overlay val="0"/>
    </c:legend>
    <c:plotVisOnly val="1"/>
    <c:dispBlanksAs val="gap"/>
    <c:showDLblsOverMax val="0"/>
  </c:chart>
  <c:txPr>
    <a:bodyPr/>
    <a:lstStyle/>
    <a:p>
      <a:pPr>
        <a:defRPr sz="1100">
          <a:solidFill>
            <a:srgbClr val="6B669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525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question and the claim, nothing else. Twenty seconds. The plan was 18.6% growth on last year's first half; we delivered 5.0%, which is 58,952 tests short. This talk covers Brief A (which part of the business is short), Brief B (why bookings fell in Chennai and Jaipur) and Brief D (whether CHE-03's no-show rate is real), plus one extra finding on home collection.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minute. The COO's question: where did our growth fall short? Plan +18.6%, actual +5.0%, 58,952 tests short. We translated it into three briefs. A: which part is short - patients, +3.8% when about 17% was needed; all six cities missed, Chennai and Jaipur are 43% of the gap. B: why Chennai and Jaipur fell - the fall is real, not the new booking system. D: CHE-03's no-show rate is not chance, but most of it is its booking mix. Extra finding, not part of any brief: home collection grew 37.5% while clinic tests fell 11.9%.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shown only if the panel asks. Two booking systems, legacy and Nova, had different formats, so we first made them one table and kept a record of every row we changed or rejected. Raw 1,315,204 = accepted 1,312,740 + rejected 2,464, so no rows were lost. Bangalore was spelled two ways and the plan file uses Bangalore, so this rename matters for the plan comparison. Gap: we have not yet measured how much each cleaning step changes the headline growth 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Each number with its denominator. Number 1: patients +3.8% against 17.1% needed. Number 2: 58,952 short; Chennai and Jaipur are 29% of last year's volume but 43% of the gap (25,484 of 58,952). Number 3: the other two parts moved little. The table splits it by city: four cities gained 7% to 10% patients; Chennai lost 5.0% and Jaipur 12.1%. Tests per visit rose in every city (1.6% to 2.8%), so the problem is the number of patients, not tests per patient. Bengaluru's shortfall is mostly its 20.4% target. Plan growth is the city target divided by last year's tests.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Tests split into three parts that multiply: patients x visits per patient x tests per visit. 1.0376 x 0.9903 x 1.0220 = 1.0501, the 5% the COO quoted (435,008 to 456,788 tests). Patients +3.8% (94,477 to 98,025), visits per patient -1.0% (bookings 189,500 to 194,713), tests per visit +2.2%. With the other two as observed, patients needed +17.1% to reach the plan of 515,740 (the sum of the six city targets). Collected (+4.9%) and tested (+5.0%) counts agree with booked, so the 5% does not depend on the table. Bottom row: the 58,952 gap by city; point at Chennai plus Jaipur, 43% of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booking system, Nova, started in April 2026 in both cities. If the new system caused the fall, Jaipur would look normal in January to March. It does not: Jaipur visits were already down 15.8% in the first quarter on the old system. Chennai was flat in the first quarter (up 1.0%) and fell 5.0% in the second quarter, which fits with the new system or with a new competitor, and the data cannot separate the two. The other four cities grew visits 4.4% to 6.1% in the second quarter.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test for Brief B. If the new system only changed how we count, then booked tests would fall but collected tests and tested tests would stay the same. We see the opposite: after the new system started, collected and tested counts fell more than booked counts. In the new system quarter, 8.5% of bookings have no collection record, against 3.0% a year ago. That is about 1,375 extra bookings, close to the 1,500 rescheduled bookings, so booked numbers look a little better than the real situation. What the data cannot tell us is why patients left.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Number 1: the rate with its count. Number 2: chance cannot explain CHE-03; it can explain JAI-05. Number 3: the mix. Compared like with like (same channel, booking source, evening slot, tests per visit) the gap shrinks from 2.9 points to 0.4, and the band includes zero.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This is the chance reference as a picture: the band narrows as clinics get bigger. CHE-03 is far outside it; JAI-05 is the highest raw rate but sits inside the band because it has 155 visits.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Ninety seconds. Left: the limits, in simple words. The most important is the last one: the data shows what happened in Chennai and Jaipur but not why. Right: one rejected approach per brief, each with the size of what it would have changed. This slide is where the panel decides whether we thought or just computed.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minute. Four actions, one per finding. First, reset the plan: the four stable cities grew 8.4% against a 19.2% plan; one point of patient growth is about 4,350 tests. Second, find the cause in Chennai and Jaipur before cutting staff: back to last year's level is worth 4,239 tests, back to plan 25,484. Third, CHE-03: its no-show gap is mostly its booking mix, so act on evening and phone-booked visits before the clinic itself. Fourth, study home collection. End on the cost of being wrong: cutting staff in Chennai and Jaipur before the cause is known. Then say 'questions' and stop.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Leave this up during questions. When asked 'why this and not that', open the notebook section on screen rather than answering from memory.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828800"/>
            <a:ext cx="1005840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822960" y="3383280"/>
            <a:ext cx="9601200" cy="109728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marL="0" indent="0">
              <a:buNone/>
            </a:pPr>
            <a:r>
              <a:rPr lang="en-US" sz="1000" dirty="0">
                <a:solidFill>
                  <a:schemeClr val="accent6"/>
                </a:solidFill>
              </a:rPr>
              <a:t>Kalpa Health  |  H1 2026 growth review</a:t>
            </a:r>
            <a:endParaRPr lang="en-US" sz="1000" dirty="0"/>
          </a:p>
        </p:txBody>
      </p:sp>
      <p:sp>
        <p:nvSpPr>
          <p:cNvPr id="3" name="Text 1"/>
          <p:cNvSpPr>
            <a:spLocks noGrp="1"/>
          </p:cNvSpPr>
          <p:nvPr>
            <p:ph type="title" idx="101" hasCustomPrompt="1"/>
          </p:nvPr>
        </p:nvSpPr>
        <p:spPr>
          <a:xfrm>
            <a:off x="548640" y="365760"/>
            <a:ext cx="11091672" cy="91440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84907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chart" Target="../charts/char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2" descr="iitgn_seal.png"/>
          <p:cNvPicPr>
            <a:picLocks noChangeAspect="1"/>
          </p:cNvPicPr>
          <p:nvPr/>
        </p:nvPicPr>
        <p:blipFill>
          <a:blip r:embed="rId3"/>
          <a:stretch>
            <a:fillRect/>
          </a:stretch>
        </p:blipFill>
        <p:spPr>
          <a:xfrm>
            <a:off x="548640" y="457200"/>
            <a:ext cx="914400" cy="914400"/>
          </a:xfrm>
          <a:prstGeom prst="rect">
            <a:avLst/>
          </a:prstGeom>
        </p:spPr>
      </p:pic>
      <p:sp>
        <p:nvSpPr>
          <p:cNvPr id="5"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6"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7" name="TextBox 5"/>
          <p:cNvSpPr txBox="1"/>
          <p:nvPr/>
        </p:nvSpPr>
        <p:spPr>
          <a:xfrm>
            <a:off x="548640" y="2194560"/>
            <a:ext cx="10972800" cy="457200"/>
          </a:xfrm>
          <a:prstGeom prst="rect">
            <a:avLst/>
          </a:prstGeom>
          <a:noFill/>
        </p:spPr>
        <p:txBody>
          <a:bodyPr wrap="square">
            <a:spAutoFit/>
          </a:bodyPr>
          <a:lstStyle/>
          <a:p>
            <a:pPr algn="l"/>
            <a:r>
              <a:rPr sz="1200" b="1">
                <a:solidFill>
                  <a:srgbClr val="E9B04C"/>
                </a:solidFill>
                <a:latin typeface="Arial"/>
              </a:rPr>
              <a:t>BRIEFS A, B AND D · KALPA HEALTH H1 2026 GROWTH REVIEW</a:t>
            </a:r>
          </a:p>
        </p:txBody>
      </p:sp>
      <p:sp>
        <p:nvSpPr>
          <p:cNvPr id="8" name="TextBox 6"/>
          <p:cNvSpPr txBox="1"/>
          <p:nvPr/>
        </p:nvSpPr>
        <p:spPr>
          <a:xfrm>
            <a:off x="548640" y="2651760"/>
            <a:ext cx="10972800" cy="1463040"/>
          </a:xfrm>
          <a:prstGeom prst="rect">
            <a:avLst/>
          </a:prstGeom>
          <a:noFill/>
        </p:spPr>
        <p:txBody>
          <a:bodyPr wrap="square">
            <a:spAutoFit/>
          </a:bodyPr>
          <a:lstStyle/>
          <a:p>
            <a:pPr algn="l"/>
            <a:r>
              <a:rPr sz="4000" b="1">
                <a:solidFill>
                  <a:srgbClr val="FFFFFF"/>
                </a:solidFill>
                <a:latin typeface="Georgia"/>
              </a:rPr>
              <a:t>Where did our growth fall short?</a:t>
            </a:r>
          </a:p>
        </p:txBody>
      </p:sp>
      <p:sp>
        <p:nvSpPr>
          <p:cNvPr id="9" name="TextBox 7"/>
          <p:cNvSpPr txBox="1"/>
          <p:nvPr/>
        </p:nvSpPr>
        <p:spPr>
          <a:xfrm>
            <a:off x="548640" y="4206240"/>
            <a:ext cx="10058400" cy="731520"/>
          </a:xfrm>
          <a:prstGeom prst="rect">
            <a:avLst/>
          </a:prstGeom>
          <a:noFill/>
        </p:spPr>
        <p:txBody>
          <a:bodyPr wrap="square">
            <a:spAutoFit/>
          </a:bodyPr>
          <a:lstStyle/>
          <a:p>
            <a:pPr algn="l"/>
            <a:r>
              <a:rPr sz="1800" b="0">
                <a:solidFill>
                  <a:srgbClr val="DCD6F7"/>
                </a:solidFill>
                <a:latin typeface="Arial"/>
              </a:rPr>
              <a:t>H1 2026 test volume grew 5.0% (456,788 vs 435,008 tests in H1 2025) against a plan of 18.6%: 58,952 tests short, mainly because patients grew 3.8% when the plan needed 17.1%.</a:t>
            </a:r>
          </a:p>
        </p:txBody>
      </p:sp>
      <p:sp>
        <p:nvSpPr>
          <p:cNvPr id="10" name="TextBox 8"/>
          <p:cNvSpPr txBox="1"/>
          <p:nvPr/>
        </p:nvSpPr>
        <p:spPr>
          <a:xfrm>
            <a:off x="548640" y="5852160"/>
            <a:ext cx="10972800" cy="457200"/>
          </a:xfrm>
          <a:prstGeom prst="rect">
            <a:avLst/>
          </a:prstGeom>
          <a:noFill/>
        </p:spPr>
        <p:txBody>
          <a:bodyPr wrap="square">
            <a:spAutoFit/>
          </a:bodyPr>
          <a:lstStyle/>
          <a:p>
            <a:pPr algn="l"/>
            <a:r>
              <a:rPr sz="1600" b="1">
                <a:solidFill>
                  <a:srgbClr val="FFFFFF"/>
                </a:solidFill>
                <a:latin typeface="Arial"/>
              </a:rPr>
              <a:t>Nitish Varma · Sharad Panchal · Vidit Sharma</a:t>
            </a:r>
          </a:p>
        </p:txBody>
      </p:sp>
      <p:sp>
        <p:nvSpPr>
          <p:cNvPr id="11" name="TextBox"/>
          <p:cNvSpPr txBox="1"/>
          <p:nvPr/>
        </p:nvSpPr>
        <p:spPr>
          <a:xfrm>
            <a:off x="548640" y="4983480"/>
            <a:ext cx="10058400" cy="365760"/>
          </a:xfrm>
          <a:prstGeom prst="rect">
            <a:avLst/>
          </a:prstGeom>
          <a:noFill/>
        </p:spPr>
        <p:txBody>
          <a:bodyPr wrap="square" anchor="t">
            <a:noAutofit/>
          </a:bodyPr>
          <a:lstStyle/>
          <a:p>
            <a:pPr algn="l">
              <a:buNone/>
            </a:pPr>
            <a:r>
              <a:rPr lang="en-US" sz="1200" b="0" dirty="0">
                <a:solidFill>
                  <a:srgbClr val="B9B0E6"/>
                </a:solidFill>
                <a:latin typeface="Arial"/>
              </a:rPr>
              <a:t>For Dr Priya Menon, COO, and the leadership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a:effectLst/>
        </p:spPr>
        <p:txBody>
          <a:bodyPr lIns="0" tIns="0" rIns="0" bIns="0" rtlCol="0" anchor="ctr"/>
          <a:lstStyle/>
          <a:p>
            <a:endParaRPr lang="en-US"/>
          </a:p>
        </p:txBody>
      </p:sp>
      <p:sp>
        <p:nvSpPr>
          <p:cNvPr id="4" name="TextBox"/>
          <p:cNvSpPr txBox="1"/>
          <p:nvPr/>
        </p:nvSpPr>
        <p:spPr>
          <a:xfrm>
            <a:off x="457200" y="228600"/>
            <a:ext cx="7315200" cy="365760"/>
          </a:xfrm>
          <a:prstGeom prst="rect">
            <a:avLst/>
          </a:prstGeom>
          <a:noFill/>
        </p:spPr>
        <p:txBody>
          <a:bodyPr wrap="square" anchor="t">
            <a:noAutofit/>
          </a:bodyPr>
          <a:lstStyle/>
          <a:p>
            <a:pPr algn="l">
              <a:buNone/>
            </a:pPr>
            <a:r>
              <a:rPr lang="en-US" sz="1000" b="1" dirty="0">
                <a:solidFill>
                  <a:srgbClr val="4E38AB"/>
                </a:solidFill>
                <a:latin typeface="Arial"/>
              </a:rPr>
              <a:t>1 · THE QUESTION</a:t>
            </a:r>
          </a:p>
        </p:txBody>
      </p:sp>
      <p:sp>
        <p:nvSpPr>
          <p:cNvPr id="5" name="TextBox"/>
          <p:cNvSpPr txBox="1"/>
          <p:nvPr/>
        </p:nvSpPr>
        <p:spPr>
          <a:xfrm>
            <a:off x="10332720" y="228600"/>
            <a:ext cx="1463040" cy="365760"/>
          </a:xfrm>
          <a:prstGeom prst="rect">
            <a:avLst/>
          </a:prstGeom>
          <a:noFill/>
        </p:spPr>
        <p:txBody>
          <a:bodyPr wrap="square" anchor="t">
            <a:noAutofit/>
          </a:bodyPr>
          <a:lstStyle/>
          <a:p>
            <a:pPr algn="r">
              <a:buNone/>
            </a:pPr>
            <a:r>
              <a:rPr lang="en-US" sz="1000" b="0" dirty="0">
                <a:solidFill>
                  <a:srgbClr val="6B6690"/>
                </a:solidFill>
                <a:latin typeface="Arial"/>
              </a:rPr>
              <a:t>1 / 9</a:t>
            </a:r>
          </a:p>
        </p:txBody>
      </p:sp>
      <p:pic>
        <p:nvPicPr>
          <p:cNvPr id="6" name="Picture 4" descr="IIT Gandhinagar seal"/>
          <p:cNvPicPr>
            <a:picLocks noChangeAspect="1"/>
          </p:cNvPicPr>
          <p:nvPr/>
        </p:nvPicPr>
        <p:blipFill>
          <a:blip r:embed="rId3"/>
          <a:stretch>
            <a:fillRect/>
          </a:stretch>
        </p:blipFill>
        <p:spPr>
          <a:xfrm>
            <a:off x="457200" y="6263640"/>
            <a:ext cx="411480" cy="411480"/>
          </a:xfrm>
          <a:prstGeom prst="rect">
            <a:avLst/>
          </a:prstGeom>
        </p:spPr>
      </p:pic>
      <p:sp>
        <p:nvSpPr>
          <p:cNvPr id="7" name="TextBox"/>
          <p:cNvSpPr txBox="1"/>
          <p:nvPr/>
        </p:nvSpPr>
        <p:spPr>
          <a:xfrm>
            <a:off x="960120" y="6309360"/>
            <a:ext cx="9144000" cy="365760"/>
          </a:xfrm>
          <a:prstGeom prst="rect">
            <a:avLst/>
          </a:prstGeom>
          <a:noFill/>
        </p:spPr>
        <p:txBody>
          <a:bodyPr wrap="square" anchor="t">
            <a:noAutofit/>
          </a:bodyPr>
          <a:lstStyle/>
          <a:p>
            <a:pPr algn="l">
              <a:buNone/>
            </a:pPr>
            <a:r>
              <a:rPr lang="en-US" sz="800" b="0" dirty="0">
                <a:solidFill>
                  <a:srgbClr val="6B6690"/>
                </a:solidFill>
                <a:latin typeface="Arial"/>
              </a:rPr>
              <a:t>Indian Institute of Technology Gandhinagar · PG Diploma in AI-ML and Agentic AI Engineering · Cohort 2 · Build 1</a:t>
            </a:r>
          </a:p>
        </p:txBody>
      </p:sp>
      <p:sp>
        <p:nvSpPr>
          <p:cNvPr id="8"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Plan +18.6%, actual +5.0%: three briefs explain the gap</a:t>
            </a:r>
          </a:p>
        </p:txBody>
      </p:sp>
      <p:sp>
        <p:nvSpPr>
          <p:cNvPr id="9" name="Rounded Rectangle"/>
          <p:cNvSpPr/>
          <p:nvPr/>
        </p:nvSpPr>
        <p:spPr>
          <a:xfrm>
            <a:off x="457200" y="1645920"/>
            <a:ext cx="3017520" cy="1078992"/>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0" name="TextBox"/>
          <p:cNvSpPr txBox="1"/>
          <p:nvPr/>
        </p:nvSpPr>
        <p:spPr>
          <a:xfrm>
            <a:off x="640080" y="1737360"/>
            <a:ext cx="2743200" cy="502920"/>
          </a:xfrm>
          <a:prstGeom prst="rect">
            <a:avLst/>
          </a:prstGeom>
          <a:noFill/>
        </p:spPr>
        <p:txBody>
          <a:bodyPr wrap="square" lIns="0" tIns="0" rIns="0" bIns="0" anchor="t">
            <a:noAutofit/>
          </a:bodyPr>
          <a:lstStyle/>
          <a:p>
            <a:pPr algn="l">
              <a:buNone/>
            </a:pPr>
            <a:r>
              <a:rPr lang="en-US" sz="2800" b="1" dirty="0">
                <a:solidFill>
                  <a:srgbClr val="1A1440"/>
                </a:solidFill>
                <a:latin typeface="Georgia"/>
              </a:rPr>
              <a:t>+18.6%</a:t>
            </a:r>
          </a:p>
        </p:txBody>
      </p:sp>
      <p:sp>
        <p:nvSpPr>
          <p:cNvPr id="11" name="TextBox"/>
          <p:cNvSpPr txBox="1"/>
          <p:nvPr/>
        </p:nvSpPr>
        <p:spPr>
          <a:xfrm>
            <a:off x="640080" y="2267712"/>
            <a:ext cx="2743200" cy="411480"/>
          </a:xfrm>
          <a:prstGeom prst="rect">
            <a:avLst/>
          </a:prstGeom>
          <a:noFill/>
        </p:spPr>
        <p:txBody>
          <a:bodyPr wrap="square" lIns="0" tIns="0" rIns="0" bIns="0" anchor="t">
            <a:noAutofit/>
          </a:bodyPr>
          <a:lstStyle/>
          <a:p>
            <a:pPr algn="l">
              <a:buNone/>
            </a:pPr>
            <a:r>
              <a:rPr lang="en-US" sz="1100" b="0" dirty="0">
                <a:solidFill>
                  <a:srgbClr val="6B6690"/>
                </a:solidFill>
                <a:latin typeface="Arial"/>
              </a:rPr>
              <a:t>Plan growth, H1 2026 vs H1 2025 (515,740 tests)</a:t>
            </a:r>
          </a:p>
        </p:txBody>
      </p:sp>
      <p:sp>
        <p:nvSpPr>
          <p:cNvPr id="12" name="Rounded Rectangle"/>
          <p:cNvSpPr/>
          <p:nvPr/>
        </p:nvSpPr>
        <p:spPr>
          <a:xfrm>
            <a:off x="457200" y="2862072"/>
            <a:ext cx="3017520" cy="1078992"/>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3" name="TextBox"/>
          <p:cNvSpPr txBox="1"/>
          <p:nvPr/>
        </p:nvSpPr>
        <p:spPr>
          <a:xfrm>
            <a:off x="640080" y="2953512"/>
            <a:ext cx="2743200" cy="502920"/>
          </a:xfrm>
          <a:prstGeom prst="rect">
            <a:avLst/>
          </a:prstGeom>
          <a:noFill/>
        </p:spPr>
        <p:txBody>
          <a:bodyPr wrap="square" lIns="0" tIns="0" rIns="0" bIns="0" anchor="t">
            <a:noAutofit/>
          </a:bodyPr>
          <a:lstStyle/>
          <a:p>
            <a:pPr algn="l">
              <a:buNone/>
            </a:pPr>
            <a:r>
              <a:rPr lang="en-US" sz="2800" b="1" dirty="0">
                <a:solidFill>
                  <a:srgbClr val="4E38AB"/>
                </a:solidFill>
                <a:latin typeface="Georgia"/>
              </a:rPr>
              <a:t>+5.0%</a:t>
            </a:r>
          </a:p>
        </p:txBody>
      </p:sp>
      <p:sp>
        <p:nvSpPr>
          <p:cNvPr id="14" name="TextBox"/>
          <p:cNvSpPr txBox="1"/>
          <p:nvPr/>
        </p:nvSpPr>
        <p:spPr>
          <a:xfrm>
            <a:off x="640080" y="3483864"/>
            <a:ext cx="2743200" cy="411480"/>
          </a:xfrm>
          <a:prstGeom prst="rect">
            <a:avLst/>
          </a:prstGeom>
          <a:noFill/>
        </p:spPr>
        <p:txBody>
          <a:bodyPr wrap="square" lIns="0" tIns="0" rIns="0" bIns="0" anchor="t">
            <a:noAutofit/>
          </a:bodyPr>
          <a:lstStyle/>
          <a:p>
            <a:pPr algn="l">
              <a:buNone/>
            </a:pPr>
            <a:r>
              <a:rPr lang="en-US" sz="1100" b="0" dirty="0">
                <a:solidFill>
                  <a:srgbClr val="6B6690"/>
                </a:solidFill>
                <a:latin typeface="Arial"/>
              </a:rPr>
              <a:t>Actual growth: 456,788 vs 435,008 tests</a:t>
            </a:r>
          </a:p>
        </p:txBody>
      </p:sp>
      <p:sp>
        <p:nvSpPr>
          <p:cNvPr id="15" name="Rounded Rectangle"/>
          <p:cNvSpPr/>
          <p:nvPr/>
        </p:nvSpPr>
        <p:spPr>
          <a:xfrm>
            <a:off x="457200" y="4078224"/>
            <a:ext cx="3017520" cy="1078992"/>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6" name="TextBox"/>
          <p:cNvSpPr txBox="1"/>
          <p:nvPr/>
        </p:nvSpPr>
        <p:spPr>
          <a:xfrm>
            <a:off x="640080" y="4169664"/>
            <a:ext cx="2743200" cy="502920"/>
          </a:xfrm>
          <a:prstGeom prst="rect">
            <a:avLst/>
          </a:prstGeom>
          <a:noFill/>
        </p:spPr>
        <p:txBody>
          <a:bodyPr wrap="square" lIns="0" tIns="0" rIns="0" bIns="0" anchor="t">
            <a:noAutofit/>
          </a:bodyPr>
          <a:lstStyle/>
          <a:p>
            <a:pPr algn="l">
              <a:buNone/>
            </a:pPr>
            <a:r>
              <a:rPr lang="en-US" sz="2800" b="1" dirty="0">
                <a:solidFill>
                  <a:srgbClr val="B83227"/>
                </a:solidFill>
                <a:latin typeface="Georgia"/>
              </a:rPr>
              <a:t>58,952</a:t>
            </a:r>
          </a:p>
        </p:txBody>
      </p:sp>
      <p:sp>
        <p:nvSpPr>
          <p:cNvPr id="17" name="TextBox"/>
          <p:cNvSpPr txBox="1"/>
          <p:nvPr/>
        </p:nvSpPr>
        <p:spPr>
          <a:xfrm>
            <a:off x="640080" y="4700016"/>
            <a:ext cx="2743200" cy="411480"/>
          </a:xfrm>
          <a:prstGeom prst="rect">
            <a:avLst/>
          </a:prstGeom>
          <a:noFill/>
        </p:spPr>
        <p:txBody>
          <a:bodyPr wrap="square" lIns="0" tIns="0" rIns="0" bIns="0" anchor="t">
            <a:noAutofit/>
          </a:bodyPr>
          <a:lstStyle/>
          <a:p>
            <a:pPr algn="l">
              <a:buNone/>
            </a:pPr>
            <a:r>
              <a:rPr lang="en-US" sz="1100" b="0" dirty="0">
                <a:solidFill>
                  <a:srgbClr val="6B6690"/>
                </a:solidFill>
                <a:latin typeface="Arial"/>
              </a:rPr>
              <a:t>Tests short of plan, H1 2026</a:t>
            </a:r>
          </a:p>
        </p:txBody>
      </p:sp>
      <p:sp>
        <p:nvSpPr>
          <p:cNvPr id="18" name="Rounded Rectangle"/>
          <p:cNvSpPr/>
          <p:nvPr/>
        </p:nvSpPr>
        <p:spPr>
          <a:xfrm>
            <a:off x="3749040" y="1645920"/>
            <a:ext cx="7955280" cy="1078992"/>
          </a:xfrm>
          <a:prstGeom prst="roundRect">
            <a:avLst>
              <a:gd name="adj" fmla="val 8000"/>
            </a:avLst>
          </a:prstGeom>
          <a:solidFill>
            <a:srgbClr val="EDE9FA"/>
          </a:solidFill>
          <a:ln w="12700">
            <a:solidFill>
              <a:srgbClr val="DCD6F7"/>
            </a:solidFill>
          </a:ln>
          <a:effectLst/>
        </p:spPr>
        <p:txBody>
          <a:bodyPr lIns="0" tIns="0" rIns="0" bIns="0" rtlCol="0" anchor="ctr"/>
          <a:lstStyle/>
          <a:p>
            <a:endParaRPr lang="en-US"/>
          </a:p>
        </p:txBody>
      </p:sp>
      <p:sp>
        <p:nvSpPr>
          <p:cNvPr id="19" name="Oval"/>
          <p:cNvSpPr/>
          <p:nvPr/>
        </p:nvSpPr>
        <p:spPr>
          <a:xfrm>
            <a:off x="3886200" y="1773936"/>
            <a:ext cx="310896" cy="310896"/>
          </a:xfrm>
          <a:prstGeom prst="ellipse">
            <a:avLst/>
          </a:prstGeom>
          <a:solidFill>
            <a:srgbClr val="4E38AB"/>
          </a:solidFill>
          <a:ln>
            <a:noFill/>
          </a:ln>
          <a:effectLst/>
        </p:spPr>
        <p:txBody>
          <a:bodyPr lIns="0" tIns="0" rIns="0" bIns="0" rtlCol="0" anchor="ctr"/>
          <a:lstStyle/>
          <a:p>
            <a:pPr algn="ctr">
              <a:buNone/>
            </a:pPr>
            <a:r>
              <a:rPr lang="en-US" sz="1100" b="1" dirty="0">
                <a:solidFill>
                  <a:srgbClr val="FFFFFF"/>
                </a:solidFill>
                <a:latin typeface="Arial"/>
              </a:rPr>
              <a:t>A</a:t>
            </a:r>
          </a:p>
        </p:txBody>
      </p:sp>
      <p:sp>
        <p:nvSpPr>
          <p:cNvPr id="20" name="TextBox"/>
          <p:cNvSpPr txBox="1"/>
          <p:nvPr/>
        </p:nvSpPr>
        <p:spPr>
          <a:xfrm>
            <a:off x="4343400" y="1719072"/>
            <a:ext cx="7269480" cy="960120"/>
          </a:xfrm>
          <a:prstGeom prst="rect">
            <a:avLst/>
          </a:prstGeom>
          <a:noFill/>
        </p:spPr>
        <p:txBody>
          <a:bodyPr wrap="square" lIns="0" tIns="0" rIns="0" bIns="0" anchor="t">
            <a:noAutofit/>
          </a:bodyPr>
          <a:lstStyle/>
          <a:p>
            <a:pPr algn="l">
              <a:spcAft>
                <a:spcPts val="200"/>
              </a:spcAft>
              <a:buNone/>
            </a:pPr>
            <a:r>
              <a:rPr lang="en-US" sz="1300" b="1" dirty="0">
                <a:solidFill>
                  <a:srgbClr val="1A1440"/>
                </a:solidFill>
                <a:latin typeface="Arial"/>
              </a:rPr>
              <a:t>Brief A · Which part of the business is short of plan?</a:t>
            </a:r>
          </a:p>
          <a:p>
            <a:pPr algn="l">
              <a:spcAft>
                <a:spcPts val="100"/>
              </a:spcAft>
              <a:buNone/>
            </a:pPr>
            <a:r>
              <a:rPr lang="en-US" sz="1100" b="1" dirty="0">
                <a:solidFill>
                  <a:srgbClr val="4E38AB"/>
                </a:solidFill>
                <a:latin typeface="Arial"/>
              </a:rPr>
              <a:t>How we answer: </a:t>
            </a:r>
            <a:r>
              <a:rPr lang="en-US" sz="1100" b="0" dirty="0">
                <a:solidFill>
                  <a:srgbClr val="1A1440"/>
                </a:solidFill>
                <a:latin typeface="Arial"/>
              </a:rPr>
              <a:t>the tree: tests = patients × visits per patient × tests per visit, both years, every city.</a:t>
            </a:r>
          </a:p>
          <a:p>
            <a:pPr algn="l">
              <a:buNone/>
            </a:pPr>
            <a:r>
              <a:rPr lang="en-US" sz="1100" b="1" dirty="0">
                <a:solidFill>
                  <a:srgbClr val="4E38AB"/>
                </a:solidFill>
                <a:latin typeface="Arial"/>
              </a:rPr>
              <a:t>Answer: </a:t>
            </a:r>
            <a:r>
              <a:rPr lang="en-US" sz="1100" b="0" dirty="0">
                <a:solidFill>
                  <a:srgbClr val="1A1440"/>
                </a:solidFill>
                <a:latin typeface="Arial"/>
              </a:rPr>
              <a:t>patients. They grew 3.8%; the plan needed 17.1%. Every city missed plan; Chennai and Jaipur hold 43% of the gap.</a:t>
            </a:r>
          </a:p>
        </p:txBody>
      </p:sp>
      <p:sp>
        <p:nvSpPr>
          <p:cNvPr id="21" name="Rounded Rectangle"/>
          <p:cNvSpPr/>
          <p:nvPr/>
        </p:nvSpPr>
        <p:spPr>
          <a:xfrm>
            <a:off x="3749040" y="2862072"/>
            <a:ext cx="7955280" cy="1078992"/>
          </a:xfrm>
          <a:prstGeom prst="roundRect">
            <a:avLst>
              <a:gd name="adj" fmla="val 8000"/>
            </a:avLst>
          </a:prstGeom>
          <a:solidFill>
            <a:srgbClr val="EDE9FA"/>
          </a:solidFill>
          <a:ln w="12700">
            <a:solidFill>
              <a:srgbClr val="DCD6F7"/>
            </a:solidFill>
          </a:ln>
          <a:effectLst/>
        </p:spPr>
        <p:txBody>
          <a:bodyPr lIns="0" tIns="0" rIns="0" bIns="0" rtlCol="0" anchor="ctr"/>
          <a:lstStyle/>
          <a:p>
            <a:endParaRPr lang="en-US"/>
          </a:p>
        </p:txBody>
      </p:sp>
      <p:sp>
        <p:nvSpPr>
          <p:cNvPr id="22" name="Oval"/>
          <p:cNvSpPr/>
          <p:nvPr/>
        </p:nvSpPr>
        <p:spPr>
          <a:xfrm>
            <a:off x="3886200" y="2990088"/>
            <a:ext cx="310896" cy="310896"/>
          </a:xfrm>
          <a:prstGeom prst="ellipse">
            <a:avLst/>
          </a:prstGeom>
          <a:solidFill>
            <a:srgbClr val="4E38AB"/>
          </a:solidFill>
          <a:ln>
            <a:noFill/>
          </a:ln>
          <a:effectLst/>
        </p:spPr>
        <p:txBody>
          <a:bodyPr lIns="0" tIns="0" rIns="0" bIns="0" rtlCol="0" anchor="ctr"/>
          <a:lstStyle/>
          <a:p>
            <a:pPr algn="ctr">
              <a:buNone/>
            </a:pPr>
            <a:r>
              <a:rPr lang="en-US" sz="1100" b="1" dirty="0">
                <a:solidFill>
                  <a:srgbClr val="FFFFFF"/>
                </a:solidFill>
                <a:latin typeface="Arial"/>
              </a:rPr>
              <a:t>B</a:t>
            </a:r>
          </a:p>
        </p:txBody>
      </p:sp>
      <p:sp>
        <p:nvSpPr>
          <p:cNvPr id="23" name="TextBox"/>
          <p:cNvSpPr txBox="1"/>
          <p:nvPr/>
        </p:nvSpPr>
        <p:spPr>
          <a:xfrm>
            <a:off x="4343400" y="2935224"/>
            <a:ext cx="7269480" cy="960120"/>
          </a:xfrm>
          <a:prstGeom prst="rect">
            <a:avLst/>
          </a:prstGeom>
          <a:noFill/>
        </p:spPr>
        <p:txBody>
          <a:bodyPr wrap="square" lIns="0" tIns="0" rIns="0" bIns="0" anchor="t">
            <a:noAutofit/>
          </a:bodyPr>
          <a:lstStyle/>
          <a:p>
            <a:pPr algn="l">
              <a:spcAft>
                <a:spcPts val="200"/>
              </a:spcAft>
              <a:buNone/>
            </a:pPr>
            <a:r>
              <a:rPr lang="en-US" sz="1300" b="1" dirty="0">
                <a:solidFill>
                  <a:srgbClr val="1A1440"/>
                </a:solidFill>
                <a:latin typeface="Arial"/>
              </a:rPr>
              <a:t>Brief B · Why did bookings fall in Chennai and Jaipur? Is it the new booking system?</a:t>
            </a:r>
          </a:p>
          <a:p>
            <a:pPr algn="l">
              <a:spcAft>
                <a:spcPts val="100"/>
              </a:spcAft>
              <a:buNone/>
            </a:pPr>
            <a:r>
              <a:rPr lang="en-US" sz="1100" b="1" dirty="0">
                <a:solidFill>
                  <a:srgbClr val="4E38AB"/>
                </a:solidFill>
                <a:latin typeface="Arial"/>
              </a:rPr>
              <a:t>How we answer: </a:t>
            </a:r>
            <a:r>
              <a:rPr lang="en-US" sz="1100" b="0" dirty="0">
                <a:solidFill>
                  <a:srgbClr val="1A1440"/>
                </a:solidFill>
                <a:latin typeface="Arial"/>
              </a:rPr>
              <a:t>the fair comparison: same months a year earlier, before and after Nova, booked vs collected vs tested.</a:t>
            </a:r>
          </a:p>
          <a:p>
            <a:pPr algn="l">
              <a:buNone/>
            </a:pPr>
            <a:r>
              <a:rPr lang="en-US" sz="1100" b="1" dirty="0">
                <a:solidFill>
                  <a:srgbClr val="4E38AB"/>
                </a:solidFill>
                <a:latin typeface="Arial"/>
              </a:rPr>
              <a:t>Answer: </a:t>
            </a:r>
            <a:r>
              <a:rPr lang="en-US" sz="1100" b="0" dirty="0">
                <a:solidFill>
                  <a:srgbClr val="1A1440"/>
                </a:solidFill>
                <a:latin typeface="Arial"/>
              </a:rPr>
              <a:t>the fall is real, not a counting problem. Jaipur was already down 15.8% before Nova; Chennai fell 5.0% after it.</a:t>
            </a:r>
          </a:p>
        </p:txBody>
      </p:sp>
      <p:sp>
        <p:nvSpPr>
          <p:cNvPr id="24" name="Rounded Rectangle"/>
          <p:cNvSpPr/>
          <p:nvPr/>
        </p:nvSpPr>
        <p:spPr>
          <a:xfrm>
            <a:off x="3749040" y="4078224"/>
            <a:ext cx="7955280" cy="1078992"/>
          </a:xfrm>
          <a:prstGeom prst="roundRect">
            <a:avLst>
              <a:gd name="adj" fmla="val 8000"/>
            </a:avLst>
          </a:prstGeom>
          <a:solidFill>
            <a:srgbClr val="EDE9FA"/>
          </a:solidFill>
          <a:ln w="12700">
            <a:solidFill>
              <a:srgbClr val="DCD6F7"/>
            </a:solidFill>
          </a:ln>
          <a:effectLst/>
        </p:spPr>
        <p:txBody>
          <a:bodyPr lIns="0" tIns="0" rIns="0" bIns="0" rtlCol="0" anchor="ctr"/>
          <a:lstStyle/>
          <a:p>
            <a:endParaRPr lang="en-US"/>
          </a:p>
        </p:txBody>
      </p:sp>
      <p:sp>
        <p:nvSpPr>
          <p:cNvPr id="25" name="Oval"/>
          <p:cNvSpPr/>
          <p:nvPr/>
        </p:nvSpPr>
        <p:spPr>
          <a:xfrm>
            <a:off x="3886200" y="4206240"/>
            <a:ext cx="310896" cy="310896"/>
          </a:xfrm>
          <a:prstGeom prst="ellipse">
            <a:avLst/>
          </a:prstGeom>
          <a:solidFill>
            <a:srgbClr val="4E38AB"/>
          </a:solidFill>
          <a:ln>
            <a:noFill/>
          </a:ln>
          <a:effectLst/>
        </p:spPr>
        <p:txBody>
          <a:bodyPr lIns="0" tIns="0" rIns="0" bIns="0" rtlCol="0" anchor="ctr"/>
          <a:lstStyle/>
          <a:p>
            <a:pPr algn="ctr">
              <a:buNone/>
            </a:pPr>
            <a:r>
              <a:rPr lang="en-US" sz="1100" b="1" dirty="0">
                <a:solidFill>
                  <a:srgbClr val="FFFFFF"/>
                </a:solidFill>
                <a:latin typeface="Arial"/>
              </a:rPr>
              <a:t>D</a:t>
            </a:r>
          </a:p>
        </p:txBody>
      </p:sp>
      <p:sp>
        <p:nvSpPr>
          <p:cNvPr id="26" name="TextBox"/>
          <p:cNvSpPr txBox="1"/>
          <p:nvPr/>
        </p:nvSpPr>
        <p:spPr>
          <a:xfrm>
            <a:off x="4343400" y="4151376"/>
            <a:ext cx="7269480" cy="960120"/>
          </a:xfrm>
          <a:prstGeom prst="rect">
            <a:avLst/>
          </a:prstGeom>
          <a:noFill/>
        </p:spPr>
        <p:txBody>
          <a:bodyPr wrap="square" lIns="0" tIns="0" rIns="0" bIns="0" anchor="t">
            <a:noAutofit/>
          </a:bodyPr>
          <a:lstStyle/>
          <a:p>
            <a:pPr algn="l">
              <a:spcAft>
                <a:spcPts val="200"/>
              </a:spcAft>
              <a:buNone/>
            </a:pPr>
            <a:r>
              <a:rPr lang="en-US" sz="1300" b="1" dirty="0">
                <a:solidFill>
                  <a:srgbClr val="1A1440"/>
                </a:solidFill>
                <a:latin typeface="Arial"/>
              </a:rPr>
              <a:t>Brief D · Is CHE-03's no-show rate a real problem, or chance?</a:t>
            </a:r>
          </a:p>
          <a:p>
            <a:pPr algn="l">
              <a:spcAft>
                <a:spcPts val="100"/>
              </a:spcAft>
              <a:buNone/>
            </a:pPr>
            <a:r>
              <a:rPr lang="en-US" sz="1100" b="1" dirty="0">
                <a:solidFill>
                  <a:srgbClr val="4E38AB"/>
                </a:solidFill>
                <a:latin typeface="Arial"/>
              </a:rPr>
              <a:t>How we answer: </a:t>
            </a:r>
            <a:r>
              <a:rPr lang="en-US" sz="1100" b="0" dirty="0">
                <a:solidFill>
                  <a:srgbClr val="1A1440"/>
                </a:solidFill>
                <a:latin typeface="Arial"/>
              </a:rPr>
              <a:t>the chance reference: 20,000 simulated clinics of its size, then a like-for-like mix comparison.</a:t>
            </a:r>
          </a:p>
          <a:p>
            <a:pPr algn="l">
              <a:buNone/>
            </a:pPr>
            <a:r>
              <a:rPr lang="en-US" sz="1100" b="1" dirty="0">
                <a:solidFill>
                  <a:srgbClr val="4E38AB"/>
                </a:solidFill>
                <a:latin typeface="Arial"/>
              </a:rPr>
              <a:t>Answer: </a:t>
            </a:r>
            <a:r>
              <a:rPr lang="en-US" sz="1100" b="0" dirty="0">
                <a:solidFill>
                  <a:srgbClr val="1A1440"/>
                </a:solidFill>
                <a:latin typeface="Arial"/>
              </a:rPr>
              <a:t>not chance (17.3% vs 14.4% network), but 86% of the gap comes from its mix of evening slots and phone bookings.</a:t>
            </a:r>
          </a:p>
        </p:txBody>
      </p:sp>
      <p:sp>
        <p:nvSpPr>
          <p:cNvPr id="27" name="TextBox"/>
          <p:cNvSpPr txBox="1"/>
          <p:nvPr/>
        </p:nvSpPr>
        <p:spPr>
          <a:xfrm>
            <a:off x="457200" y="5303520"/>
            <a:ext cx="11247120" cy="548640"/>
          </a:xfrm>
          <a:prstGeom prst="rect">
            <a:avLst/>
          </a:prstGeom>
          <a:noFill/>
        </p:spPr>
        <p:txBody>
          <a:bodyPr wrap="square" lIns="0" tIns="0" rIns="0" bIns="0" anchor="t">
            <a:noAutofit/>
          </a:bodyPr>
          <a:lstStyle/>
          <a:p>
            <a:pPr algn="l">
              <a:spcAft>
                <a:spcPts val="200"/>
              </a:spcAft>
              <a:buNone/>
            </a:pPr>
            <a:r>
              <a:rPr lang="en-US" sz="1200" b="1" dirty="0">
                <a:solidFill>
                  <a:srgbClr val="4E38AB"/>
                </a:solidFill>
                <a:latin typeface="Arial"/>
              </a:rPr>
              <a:t>The decision it drives: </a:t>
            </a:r>
            <a:r>
              <a:rPr lang="en-US" sz="1200" b="0" dirty="0">
                <a:solidFill>
                  <a:srgbClr val="1A1440"/>
                </a:solidFill>
                <a:latin typeface="Arial"/>
              </a:rPr>
              <a:t>where to set second-half targets, where to act first, and whether CHE-03 needs a clinic fix or a booking-mix fix.</a:t>
            </a:r>
          </a:p>
          <a:p>
            <a:pPr algn="l">
              <a:buNone/>
            </a:pPr>
            <a:r>
              <a:rPr lang="en-US" sz="1200" b="1" dirty="0">
                <a:solidFill>
                  <a:srgbClr val="9C6A12"/>
                </a:solidFill>
                <a:latin typeface="Arial"/>
              </a:rPr>
              <a:t>Extra finding, outside the briefs: </a:t>
            </a:r>
            <a:r>
              <a:rPr lang="en-US" sz="1200" b="0" dirty="0">
                <a:solidFill>
                  <a:srgbClr val="1A1440"/>
                </a:solidFill>
                <a:latin typeface="Arial"/>
              </a:rPr>
              <a:t>home-collection tests grew 37.5% while clinic tests fell 11.9%.</a:t>
            </a:r>
          </a:p>
        </p:txBody>
      </p:sp>
      <p:sp>
        <p:nvSpPr>
          <p:cNvPr id="28" name="TextBox"/>
          <p:cNvSpPr txBox="1"/>
          <p:nvPr/>
        </p:nvSpPr>
        <p:spPr>
          <a:xfrm>
            <a:off x="457200" y="5897880"/>
            <a:ext cx="11247120" cy="292608"/>
          </a:xfrm>
          <a:prstGeom prst="rect">
            <a:avLst/>
          </a:prstGeom>
          <a:noFill/>
        </p:spPr>
        <p:txBody>
          <a:bodyPr wrap="square" lIns="0" tIns="0" rIns="0" bIns="0" anchor="t">
            <a:noAutofit/>
          </a:bodyPr>
          <a:lstStyle/>
          <a:p>
            <a:pPr algn="l">
              <a:buNone/>
            </a:pPr>
            <a:r>
              <a:rPr lang="en-US" sz="900" b="0" dirty="0">
                <a:solidFill>
                  <a:srgbClr val="6B6690"/>
                </a:solidFill>
                <a:latin typeface="Arial"/>
              </a:rPr>
              <a:t>Source: Data_loading_and_eda.ipynb. H1 2026 compared with H1 2025, by appointment date.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2" name=""/>
        <p:cNvGrpSpPr/>
        <p:nvPr/>
      </p:nvGrpSpPr>
      <p:grpSpPr>
        <a:xfrm>
          <a:off x="0" y="0"/>
          <a:ext cx="0" cy="0"/>
          <a:chOff x="0" y="0"/>
          <a:chExt cx="0" cy="0"/>
        </a:xfrm>
      </p:grpSpPr>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486400" cy="2304288"/>
        </p:xfrm>
        <a:graphic>
          <a:graphicData uri="http://schemas.openxmlformats.org/drawingml/2006/table">
            <a:tbl>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9184">
                <a:tc>
                  <a:txBody>
                    <a:bodyPr/>
                    <a:lstStyle/>
                    <a:p>
                      <a:pPr marL="0" indent="0" algn="l">
                        <a:buNone/>
                      </a:pPr>
                      <a:r>
                        <a:rPr lang="en-US" sz="1300" b="1" dirty="0">
                          <a:solidFill>
                            <a:srgbClr val="FFFFFF"/>
                          </a:solidFill>
                        </a:rPr>
                        <a:t>Data source</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1A1440"/>
                    </a:solidFill>
                  </a:tcPr>
                </a:tc>
                <a:tc>
                  <a:txBody>
                    <a:bodyPr/>
                    <a:lstStyle/>
                    <a:p>
                      <a:pPr marL="0" indent="0" algn="r">
                        <a:buNone/>
                      </a:pPr>
                      <a:r>
                        <a:rPr lang="en-US" sz="1300" b="1" dirty="0">
                          <a:solidFill>
                            <a:srgbClr val="FFFFFF"/>
                          </a:solidFill>
                        </a:rPr>
                        <a:t>Rows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1A1440"/>
                    </a:solidFill>
                  </a:tcPr>
                </a:tc>
                <a:tc>
                  <a:txBody>
                    <a:bodyPr/>
                    <a:lstStyle/>
                    <a:p>
                      <a:pPr marL="0" indent="0" algn="l">
                        <a:buNone/>
                      </a:pPr>
                      <a:r>
                        <a:rPr lang="en-US" sz="1300" b="1" dirty="0">
                          <a:solidFill>
                            <a:srgbClr val="FFFFFF"/>
                          </a:solidFill>
                        </a:rPr>
                        <a:t>Used for</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1A1440"/>
                    </a:solidFill>
                  </a:tcPr>
                </a:tc>
                <a:extLst>
                  <a:ext uri="{0D108BD9-81ED-4DB2-BD59-A6C34878D82A}">
                    <a16:rowId xmlns:a16="http://schemas.microsoft.com/office/drawing/2014/main" val="10000"/>
                  </a:ext>
                </a:extLst>
              </a:tr>
              <a:tr h="329184">
                <a:tc>
                  <a:txBody>
                    <a:bodyPr/>
                    <a:lstStyle/>
                    <a:p>
                      <a:pPr marL="0" indent="0">
                        <a:buNone/>
                      </a:pPr>
                      <a:r>
                        <a:rPr lang="en-US" sz="1300" b="1" dirty="0">
                          <a:solidFill>
                            <a:srgbClr val="1A1440"/>
                          </a:solidFill>
                        </a:rPr>
                        <a:t>Legacy bookings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lgn="r">
                        <a:buNone/>
                      </a:pPr>
                      <a:r>
                        <a:rPr lang="en-US" sz="1300" dirty="0">
                          <a:solidFill>
                            <a:srgbClr val="1A1440"/>
                          </a:solidFill>
                        </a:rPr>
                        <a:t>1,252,786</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buNone/>
                      </a:pPr>
                      <a:r>
                        <a:rPr lang="en-US" sz="1300" dirty="0">
                          <a:solidFill>
                            <a:srgbClr val="1A1440"/>
                          </a:solidFill>
                        </a:rPr>
                        <a:t>Visits, prices, channel</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extLst>
                  <a:ext uri="{0D108BD9-81ED-4DB2-BD59-A6C34878D82A}">
                    <a16:rowId xmlns:a16="http://schemas.microsoft.com/office/drawing/2014/main" val="10001"/>
                  </a:ext>
                </a:extLst>
              </a:tr>
              <a:tr h="329184">
                <a:tc>
                  <a:txBody>
                    <a:bodyPr/>
                    <a:lstStyle/>
                    <a:p>
                      <a:pPr marL="0" indent="0">
                        <a:buNone/>
                      </a:pPr>
                      <a:r>
                        <a:rPr lang="en-US" sz="1300" b="1" dirty="0">
                          <a:solidFill>
                            <a:srgbClr val="1A1440"/>
                          </a:solidFill>
                        </a:rPr>
                        <a:t>Nova bookings (new system)</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A1440"/>
                          </a:solidFill>
                        </a:rPr>
                        <a:t>26,543</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A1440"/>
                          </a:solidFill>
                        </a:rPr>
                        <a:t>Chennai and Jaipur from April</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300" b="1" dirty="0">
                          <a:solidFill>
                            <a:srgbClr val="1A1440"/>
                          </a:solidFill>
                        </a:rPr>
                        <a:t>Collections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lgn="r">
                        <a:buNone/>
                      </a:pPr>
                      <a:r>
                        <a:rPr lang="en-US" sz="1300" dirty="0">
                          <a:solidFill>
                            <a:srgbClr val="1A1440"/>
                          </a:solidFill>
                        </a:rPr>
                        <a:t>552,492</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buNone/>
                      </a:pPr>
                      <a:r>
                        <a:rPr lang="en-US" sz="1300" dirty="0">
                          <a:solidFill>
                            <a:srgbClr val="1A1440"/>
                          </a:solidFill>
                        </a:rPr>
                        <a:t>Sample collected or no-show</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extLst>
                  <a:ext uri="{0D108BD9-81ED-4DB2-BD59-A6C34878D82A}">
                    <a16:rowId xmlns:a16="http://schemas.microsoft.com/office/drawing/2014/main" val="10003"/>
                  </a:ext>
                </a:extLst>
              </a:tr>
              <a:tr h="329184">
                <a:tc>
                  <a:txBody>
                    <a:bodyPr/>
                    <a:lstStyle/>
                    <a:p>
                      <a:pPr marL="0" indent="0">
                        <a:buNone/>
                      </a:pPr>
                      <a:r>
                        <a:rPr lang="en-US" sz="1300" b="1" dirty="0">
                          <a:solidFill>
                            <a:srgbClr val="1A1440"/>
                          </a:solidFill>
                        </a:rPr>
                        <a:t>Lab results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A1440"/>
                          </a:solidFill>
                        </a:rPr>
                        <a:t>1,078,420</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A1440"/>
                          </a:solidFill>
                        </a:rPr>
                        <a:t>Test was done</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300" b="1" dirty="0">
                          <a:solidFill>
                            <a:srgbClr val="1A1440"/>
                          </a:solidFill>
                        </a:rPr>
                        <a:t>Patients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lgn="r">
                        <a:buNone/>
                      </a:pPr>
                      <a:r>
                        <a:rPr lang="en-US" sz="1300" dirty="0">
                          <a:solidFill>
                            <a:srgbClr val="1A1440"/>
                          </a:solidFill>
                        </a:rPr>
                        <a:t>309,217</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buNone/>
                      </a:pPr>
                      <a:r>
                        <a:rPr lang="en-US" sz="1300" dirty="0">
                          <a:solidFill>
                            <a:srgbClr val="1A1440"/>
                          </a:solidFill>
                        </a:rPr>
                        <a:t>Match repeat patients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extLst>
                  <a:ext uri="{0D108BD9-81ED-4DB2-BD59-A6C34878D82A}">
                    <a16:rowId xmlns:a16="http://schemas.microsoft.com/office/drawing/2014/main" val="10005"/>
                  </a:ext>
                </a:extLst>
              </a:tr>
              <a:tr h="329184">
                <a:tc>
                  <a:txBody>
                    <a:bodyPr/>
                    <a:lstStyle/>
                    <a:p>
                      <a:pPr marL="0" indent="0">
                        <a:buNone/>
                      </a:pPr>
                      <a:r>
                        <a:rPr lang="en-US" sz="1300" b="1" dirty="0">
                          <a:solidFill>
                            <a:srgbClr val="1A1440"/>
                          </a:solidFill>
                        </a:rPr>
                        <a:t>Plan</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A1440"/>
                          </a:solidFill>
                        </a:rPr>
                        <a:t>6 cities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A1440"/>
                          </a:solidFill>
                        </a:rPr>
                        <a:t>H1 2026 targets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graphicFrame>
        <p:nvGraphicFramePr>
          <p:cNvPr id="4" name="Table 1"/>
          <p:cNvGraphicFramePr>
            <a:graphicFrameLocks noGrp="1"/>
          </p:cNvGraphicFramePr>
          <p:nvPr>
            <p:extLst>
              <p:ext uri="{D42A27DB-BD31-4B8C-83A1-F6EECF244321}">
                <p14:modId xmlns:p14="http://schemas.microsoft.com/office/powerpoint/2010/main" val="1579011935"/>
              </p:ext>
            </p:extLst>
          </p:nvPr>
        </p:nvGraphicFramePr>
        <p:xfrm>
          <a:off x="6309360" y="1645920"/>
          <a:ext cx="5330952" cy="2304288"/>
        </p:xfrm>
        <a:graphic>
          <a:graphicData uri="http://schemas.openxmlformats.org/drawingml/2006/table">
            <a:tbl>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07592">
                  <a:extLst>
                    <a:ext uri="{9D8B030D-6E8A-4147-A177-3AD203B41FA5}">
                      <a16:colId xmlns:a16="http://schemas.microsoft.com/office/drawing/2014/main" val="20002"/>
                    </a:ext>
                  </a:extLst>
                </a:gridCol>
              </a:tblGrid>
              <a:tr h="329184">
                <a:tc>
                  <a:txBody>
                    <a:bodyPr/>
                    <a:lstStyle/>
                    <a:p>
                      <a:pPr marL="0" indent="0" algn="l">
                        <a:buNone/>
                      </a:pPr>
                      <a:r>
                        <a:rPr lang="en-US" sz="1300" b="1" dirty="0">
                          <a:solidFill>
                            <a:srgbClr val="FFFFFF"/>
                          </a:solidFill>
                        </a:rPr>
                        <a:t>What we found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1A1440"/>
                    </a:solidFill>
                  </a:tcPr>
                </a:tc>
                <a:tc>
                  <a:txBody>
                    <a:bodyPr/>
                    <a:lstStyle/>
                    <a:p>
                      <a:pPr marL="0" indent="0" algn="r">
                        <a:buNone/>
                      </a:pPr>
                      <a:r>
                        <a:rPr lang="en-US" sz="1300" b="1" dirty="0">
                          <a:solidFill>
                            <a:srgbClr val="FFFFFF"/>
                          </a:solidFill>
                        </a:rPr>
                        <a:t>Count</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1A1440"/>
                    </a:solidFill>
                  </a:tcPr>
                </a:tc>
                <a:tc>
                  <a:txBody>
                    <a:bodyPr/>
                    <a:lstStyle/>
                    <a:p>
                      <a:pPr marL="0" indent="0" algn="l">
                        <a:buNone/>
                      </a:pPr>
                      <a:r>
                        <a:rPr lang="en-US" sz="1300" b="1" dirty="0">
                          <a:solidFill>
                            <a:srgbClr val="FFFFFF"/>
                          </a:solidFill>
                        </a:rPr>
                        <a:t>Action</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1A1440"/>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rgbClr val="1A1440"/>
                          </a:solidFill>
                        </a:rPr>
                        <a:t>Bangalore and Bengaluru</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lgn="r">
                        <a:buNone/>
                      </a:pPr>
                      <a:r>
                        <a:rPr lang="en-US" sz="1300" dirty="0">
                          <a:solidFill>
                            <a:srgbClr val="1A1440"/>
                          </a:solidFill>
                        </a:rPr>
                        <a:t>193,558 rows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buNone/>
                      </a:pPr>
                      <a:r>
                        <a:rPr lang="en-US" sz="1300" b="1" dirty="0">
                          <a:solidFill>
                            <a:srgbClr val="1A1440"/>
                          </a:solidFill>
                        </a:rPr>
                        <a:t>Renamed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A1440"/>
                          </a:solidFill>
                        </a:rPr>
                        <a:t>Appointment before booking time</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A1440"/>
                          </a:solidFill>
                        </a:rPr>
                        <a:t>2,443 rows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b="1" dirty="0">
                          <a:solidFill>
                            <a:srgbClr val="B83227"/>
                          </a:solidFill>
                        </a:rPr>
                        <a:t>Rejected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A1440"/>
                          </a:solidFill>
                        </a:rPr>
                        <a:t>Booking with no tests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lgn="r">
                        <a:buNone/>
                      </a:pPr>
                      <a:r>
                        <a:rPr lang="en-US" sz="1300" dirty="0">
                          <a:solidFill>
                            <a:srgbClr val="1A1440"/>
                          </a:solidFill>
                        </a:rPr>
                        <a:t>21</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buNone/>
                      </a:pPr>
                      <a:r>
                        <a:rPr lang="en-US" sz="1300" b="1" dirty="0">
                          <a:solidFill>
                            <a:srgbClr val="B83227"/>
                          </a:solidFill>
                        </a:rPr>
                        <a:t>Rejected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extLst>
                  <a:ext uri="{0D108BD9-81ED-4DB2-BD59-A6C34878D82A}">
                    <a16:rowId xmlns:a16="http://schemas.microsoft.com/office/drawing/2014/main" val="10003"/>
                  </a:ext>
                </a:extLst>
              </a:tr>
              <a:tr h="329184">
                <a:tc>
                  <a:txBody>
                    <a:bodyPr/>
                    <a:lstStyle/>
                    <a:p>
                      <a:pPr marL="0" indent="0">
                        <a:buNone/>
                      </a:pPr>
                      <a:r>
                        <a:rPr lang="en-US" sz="1300" dirty="0">
                          <a:solidFill>
                            <a:srgbClr val="1A1440"/>
                          </a:solidFill>
                        </a:rPr>
                        <a:t>Old version of rescheduled bookings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A1440"/>
                          </a:solidFill>
                        </a:rPr>
                        <a:t>1,499</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b="1" dirty="0">
                          <a:solidFill>
                            <a:srgbClr val="1A1440"/>
                          </a:solidFill>
                        </a:rPr>
                        <a:t>Removed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300" dirty="0">
                          <a:solidFill>
                            <a:srgbClr val="1A1440"/>
                          </a:solidFill>
                        </a:rPr>
                        <a:t>Collections scanned twice</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lgn="r">
                        <a:buNone/>
                      </a:pPr>
                      <a:r>
                        <a:rPr lang="en-US" sz="1300" dirty="0">
                          <a:solidFill>
                            <a:srgbClr val="1A1440"/>
                          </a:solidFill>
                        </a:rPr>
                        <a:t>2,894</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tc>
                  <a:txBody>
                    <a:bodyPr/>
                    <a:lstStyle/>
                    <a:p>
                      <a:pPr marL="0" indent="0">
                        <a:buNone/>
                      </a:pPr>
                      <a:r>
                        <a:rPr lang="en-US" sz="1300" b="1" dirty="0">
                          <a:solidFill>
                            <a:srgbClr val="1A1440"/>
                          </a:solidFill>
                        </a:rPr>
                        <a:t>Removed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3F1FB"/>
                    </a:solidFill>
                  </a:tcPr>
                </a:tc>
                <a:extLst>
                  <a:ext uri="{0D108BD9-81ED-4DB2-BD59-A6C34878D82A}">
                    <a16:rowId xmlns:a16="http://schemas.microsoft.com/office/drawing/2014/main" val="10005"/>
                  </a:ext>
                </a:extLst>
              </a:tr>
              <a:tr h="329184">
                <a:tc>
                  <a:txBody>
                    <a:bodyPr/>
                    <a:lstStyle/>
                    <a:p>
                      <a:pPr marL="0" indent="0">
                        <a:buNone/>
                      </a:pPr>
                      <a:r>
                        <a:rPr lang="en-US" sz="1300" dirty="0">
                          <a:solidFill>
                            <a:srgbClr val="1A1440"/>
                          </a:solidFill>
                        </a:rPr>
                        <a:t>Same patient, different IDs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A1440"/>
                          </a:solidFill>
                        </a:rPr>
                        <a:t>5,862 bookings</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b="1" dirty="0">
                          <a:solidFill>
                            <a:srgbClr val="1A1440"/>
                          </a:solidFill>
                        </a:rPr>
                        <a:t>Merged</a:t>
                      </a:r>
                      <a:endParaRPr lang="en-US" sz="1300" dirty="0"/>
                    </a:p>
                  </a:txBody>
                  <a:tcPr marT="27432" marB="27432"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sp>
        <p:nvSpPr>
          <p:cNvPr id="5" name="Shape 1"/>
          <p:cNvSpPr/>
          <p:nvPr/>
        </p:nvSpPr>
        <p:spPr>
          <a:xfrm>
            <a:off x="548640" y="4480560"/>
            <a:ext cx="11091672" cy="502920"/>
          </a:xfrm>
          <a:prstGeom prst="rect">
            <a:avLst/>
          </a:prstGeom>
          <a:solidFill>
            <a:srgbClr val="E6F0E0"/>
          </a:solidFill>
          <a:ln w="12700">
            <a:solidFill>
              <a:srgbClr val="E6F0E0"/>
            </a:solidFill>
            <a:prstDash val="solid"/>
          </a:ln>
        </p:spPr>
        <p:txBody>
          <a:bodyPr/>
          <a:p/>
        </p:txBody>
      </p:sp>
      <p:sp>
        <p:nvSpPr>
          <p:cNvPr id="6" name="Text 2"/>
          <p:cNvSpPr txBox="1"/>
          <p:nvPr/>
        </p:nvSpPr>
        <p:spPr>
          <a:xfrm>
            <a:off x="822960" y="4480560"/>
            <a:ext cx="10543032" cy="502920"/>
          </a:xfrm>
          <a:prstGeom prst="rect">
            <a:avLst/>
          </a:prstGeom>
          <a:noFill/>
          <a:ln/>
        </p:spPr>
        <p:txBody>
          <a:bodyPr wrap="square" lIns="0" tIns="0" rIns="0" bIns="0" rtlCol="0" anchor="ctr"/>
          <a:lstStyle/>
          <a:p>
            <a:pPr marL="0" indent="0">
              <a:buNone/>
            </a:pPr>
            <a:r>
              <a:rPr lang="en-US" sz="1500" b="1" dirty="0">
                <a:solidFill>
                  <a:srgbClr val="548235"/>
                </a:solidFill>
              </a:rPr>
              <a:t>Check: 1,315,204 raw rows = 1,312,740 accepted + 2,464 rejected. No rows were lost.</a:t>
            </a:r>
            <a:endParaRPr lang="en-US" sz="1500" dirty="0"/>
          </a:p>
        </p:txBody>
      </p:sp>
      <p:sp>
        <p:nvSpPr>
          <p:cNvPr id="7" name="Text 3"/>
          <p:cNvSpPr txBox="1"/>
          <p:nvPr/>
        </p:nvSpPr>
        <p:spPr>
          <a:xfrm>
            <a:off x="548640" y="5120640"/>
            <a:ext cx="11091672" cy="685800"/>
          </a:xfrm>
          <a:prstGeom prst="rect">
            <a:avLst/>
          </a:prstGeom>
          <a:noFill/>
          <a:ln/>
        </p:spPr>
        <p:txBody>
          <a:bodyPr wrap="square" lIns="0" tIns="0" rIns="0" bIns="0" rtlCol="0" anchor="t"/>
          <a:lstStyle/>
          <a:p>
            <a:pPr marL="0" indent="0">
              <a:buNone/>
            </a:pPr>
            <a:r>
              <a:rPr lang="en-US" sz="1400" b="1" dirty="0">
                <a:solidFill>
                  <a:srgbClr val="1A1440"/>
                </a:solidFill>
              </a:rPr>
              <a:t>Result: 565,457 bookings from 188,210 different patients. </a:t>
            </a:r>
            <a:r>
              <a:rPr lang="en-US" sz="1400" dirty="0">
                <a:solidFill>
                  <a:srgbClr val="1A1440"/>
                </a:solidFill>
              </a:rPr>
              <a:t>H1 means January to June, based on the appointment date. Rejected rows are saved with a reason in rejects_bookings.csv.</a:t>
            </a:r>
            <a:endParaRPr lang="en-US" sz="1400" dirty="0"/>
          </a:p>
        </p:txBody>
      </p:sp>
      <p:sp>
        <p:nvSpPr>
          <p:cNvPr id="8" name="Text 4"/>
          <p:cNvSpPr txBox="1"/>
          <p:nvPr/>
        </p:nvSpPr>
        <p:spPr>
          <a:xfrm>
            <a:off x="457200" y="5897880"/>
            <a:ext cx="11247120" cy="292608"/>
          </a:xfrm>
          <a:prstGeom prst="rect">
            <a:avLst/>
          </a:prstGeom>
          <a:noFill/>
          <a:ln/>
        </p:spPr>
        <p:txBody>
          <a:bodyPr wrap="square" lIns="0" tIns="0" rIns="0" bIns="0" rtlCol="0" anchor="t"/>
          <a:lstStyle/>
          <a:p>
            <a:pPr marL="0" indent="0">
              <a:buNone/>
            </a:pPr>
            <a:r>
              <a:rPr lang="en-US" sz="900" dirty="0">
                <a:solidFill>
                  <a:schemeClr val="accent6"/>
                </a:solidFill>
              </a:rPr>
              <a:t>Source: Data_loading_and_eda.ipynb, sections 1 and 2.</a:t>
            </a:r>
            <a:endParaRPr lang="en-US" sz="1000" dirty="0"/>
          </a:p>
        </p:txBody>
      </p:sp>
      <p:sp>
        <p:nvSpPr>
          <p:cNvPr id="9" name="Rounded Rectangle 1"/>
          <p:cNvSpPr/>
          <p:nvPr/>
        </p:nvSpPr>
        <p:spPr>
          <a:xfrm>
            <a:off x="0" y="0"/>
            <a:ext cx="12191695" cy="73152"/>
          </a:xfrm>
          <a:prstGeom prst="roundRect">
            <a:avLst>
              <a:gd name="adj" fmla="val 8000"/>
            </a:avLst>
          </a:prstGeom>
          <a:solidFill>
            <a:srgbClr val="4E38AB"/>
          </a:solidFill>
          <a:ln>
            <a:noFill/>
          </a:ln>
          <a:effectLst/>
        </p:spPr>
        <p:txBody>
          <a:bodyPr lIns="0" tIns="0" rIns="0" bIns="0" rtlCol="0" anchor="ctr"/>
          <a:lstStyle/>
          <a:p>
            <a:endParaRPr lang="en-US"/>
          </a:p>
        </p:txBody>
      </p:sp>
      <p:sp>
        <p:nvSpPr>
          <p:cNvPr id="10" name="TextBox"/>
          <p:cNvSpPr txBox="1"/>
          <p:nvPr/>
        </p:nvSpPr>
        <p:spPr>
          <a:xfrm>
            <a:off x="457200" y="228600"/>
            <a:ext cx="7315200" cy="365760"/>
          </a:xfrm>
          <a:prstGeom prst="rect">
            <a:avLst/>
          </a:prstGeom>
          <a:noFill/>
        </p:spPr>
        <p:txBody>
          <a:bodyPr wrap="square" anchor="t">
            <a:noAutofit/>
          </a:bodyPr>
          <a:lstStyle/>
          <a:p>
            <a:pPr algn="l">
              <a:buNone/>
            </a:pPr>
            <a:r>
              <a:rPr lang="en-US" sz="1000" b="1" dirty="0">
                <a:solidFill>
                  <a:srgbClr val="4E38AB"/>
                </a:solidFill>
                <a:latin typeface="Arial"/>
              </a:rPr>
              <a:t>APPENDIX A</a:t>
            </a:r>
          </a:p>
        </p:txBody>
      </p:sp>
      <p:sp>
        <p:nvSpPr>
          <p:cNvPr id="11" name="TextBox"/>
          <p:cNvSpPr txBox="1"/>
          <p:nvPr/>
        </p:nvSpPr>
        <p:spPr>
          <a:xfrm>
            <a:off x="10332720" y="228600"/>
            <a:ext cx="1463040" cy="365760"/>
          </a:xfrm>
          <a:prstGeom prst="rect">
            <a:avLst/>
          </a:prstGeom>
          <a:noFill/>
        </p:spPr>
        <p:txBody>
          <a:bodyPr wrap="square" anchor="t">
            <a:noAutofit/>
          </a:bodyPr>
          <a:lstStyle/>
          <a:p>
            <a:pPr algn="r">
              <a:buNone/>
            </a:pPr>
            <a:r>
              <a:rPr lang="en-US" sz="1000" b="0" dirty="0">
                <a:solidFill>
                  <a:srgbClr val="6B6690"/>
                </a:solidFill>
                <a:latin typeface="Arial"/>
              </a:rPr>
              <a:t>A</a:t>
            </a:r>
          </a:p>
        </p:txBody>
      </p:sp>
      <p:pic>
        <p:nvPicPr>
          <p:cNvPr id="12" name="Picture 4" descr="IIT Gandhinagar seal"/>
          <p:cNvPicPr>
            <a:picLocks noChangeAspect="1"/>
          </p:cNvPicPr>
          <p:nvPr/>
        </p:nvPicPr>
        <p:blipFill>
          <a:blip r:embed="rId3"/>
          <a:stretch>
            <a:fillRect/>
          </a:stretch>
        </p:blipFill>
        <p:spPr>
          <a:xfrm>
            <a:off x="457200" y="6263640"/>
            <a:ext cx="411480" cy="411480"/>
          </a:xfrm>
          <a:prstGeom prst="rect">
            <a:avLst/>
          </a:prstGeom>
        </p:spPr>
      </p:pic>
      <p:sp>
        <p:nvSpPr>
          <p:cNvPr id="13" name="TextBox"/>
          <p:cNvSpPr txBox="1"/>
          <p:nvPr/>
        </p:nvSpPr>
        <p:spPr>
          <a:xfrm>
            <a:off x="960120" y="6309360"/>
            <a:ext cx="9144000" cy="365760"/>
          </a:xfrm>
          <a:prstGeom prst="rect">
            <a:avLst/>
          </a:prstGeom>
          <a:noFill/>
        </p:spPr>
        <p:txBody>
          <a:bodyPr wrap="square" anchor="t">
            <a:noAutofit/>
          </a:bodyPr>
          <a:lstStyle/>
          <a:p>
            <a:pPr algn="l">
              <a:buNone/>
            </a:pPr>
            <a:r>
              <a:rPr lang="en-US" sz="800" b="0" dirty="0">
                <a:solidFill>
                  <a:srgbClr val="6B6690"/>
                </a:solidFill>
                <a:latin typeface="Arial"/>
              </a:rPr>
              <a:t>Indian Institute of Technology Gandhinagar · PG Diploma in AI-ML and Agentic AI Engineering · Cohort 2 · Build 1</a:t>
            </a:r>
          </a:p>
        </p:txBody>
      </p:sp>
      <p:sp>
        <p:nvSpPr>
          <p:cNvPr id="14"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Appendix A · The data and the cleaning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BRIEF A · THE EVIDENCE</a:t>
            </a:r>
          </a:p>
        </p:txBody>
      </p:sp>
      <p:sp>
        <p:nvSpPr>
          <p:cNvPr id="5"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9</a:t>
            </a:r>
          </a:p>
        </p:txBody>
      </p:sp>
      <p:pic>
        <p:nvPicPr>
          <p:cNvPr id="6"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7"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8"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Brief A: every city missed plan; two cities lost patients</a:t>
            </a:r>
          </a:p>
        </p:txBody>
      </p:sp>
      <p:sp>
        <p:nvSpPr>
          <p:cNvPr id="9" name="Rounded Rectangle"/>
          <p:cNvSpPr/>
          <p:nvPr/>
        </p:nvSpPr>
        <p:spPr>
          <a:xfrm>
            <a:off x="457200" y="1645920"/>
            <a:ext cx="3630168" cy="987552"/>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0" name="TextBox"/>
          <p:cNvSpPr txBox="1"/>
          <p:nvPr/>
        </p:nvSpPr>
        <p:spPr>
          <a:xfrm>
            <a:off x="594360" y="1719072"/>
            <a:ext cx="3355848" cy="868680"/>
          </a:xfrm>
          <a:prstGeom prst="rect">
            <a:avLst/>
          </a:prstGeom>
          <a:noFill/>
        </p:spPr>
        <p:txBody>
          <a:bodyPr wrap="square" lIns="0" tIns="0" rIns="0" bIns="0" anchor="t">
            <a:noAutofit/>
          </a:bodyPr>
          <a:lstStyle/>
          <a:p>
            <a:pPr algn="l">
              <a:buNone/>
            </a:pPr>
            <a:r>
              <a:rPr lang="en-US" sz="1100" b="1" dirty="0">
                <a:solidFill>
                  <a:srgbClr val="4E38AB"/>
                </a:solidFill>
                <a:latin typeface="Arial"/>
              </a:rPr>
              <a:t>Number 1: </a:t>
            </a:r>
            <a:r>
              <a:rPr lang="en-US" sz="1100" b="0" dirty="0">
                <a:solidFill>
                  <a:srgbClr val="1A1440"/>
                </a:solidFill>
                <a:latin typeface="Arial"/>
              </a:rPr>
              <a:t>patients grew 3.8%: 98,025 vs 94,477 people, H1 2026 vs H1 2025. The plan needed 17.1%.</a:t>
            </a:r>
          </a:p>
        </p:txBody>
      </p:sp>
      <p:sp>
        <p:nvSpPr>
          <p:cNvPr id="11" name="Rounded Rectangle"/>
          <p:cNvSpPr/>
          <p:nvPr/>
        </p:nvSpPr>
        <p:spPr>
          <a:xfrm>
            <a:off x="4265676" y="1645920"/>
            <a:ext cx="3630168" cy="987552"/>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2" name="TextBox"/>
          <p:cNvSpPr txBox="1"/>
          <p:nvPr/>
        </p:nvSpPr>
        <p:spPr>
          <a:xfrm>
            <a:off x="4402836" y="1719072"/>
            <a:ext cx="3355848" cy="868680"/>
          </a:xfrm>
          <a:prstGeom prst="rect">
            <a:avLst/>
          </a:prstGeom>
          <a:noFill/>
        </p:spPr>
        <p:txBody>
          <a:bodyPr wrap="square" lIns="0" tIns="0" rIns="0" bIns="0" anchor="t">
            <a:noAutofit/>
          </a:bodyPr>
          <a:lstStyle/>
          <a:p>
            <a:pPr algn="l">
              <a:buNone/>
            </a:pPr>
            <a:r>
              <a:rPr lang="en-US" sz="1100" b="1" dirty="0">
                <a:solidFill>
                  <a:srgbClr val="4E38AB"/>
                </a:solidFill>
                <a:latin typeface="Arial"/>
              </a:rPr>
              <a:t>Number 2: </a:t>
            </a:r>
            <a:r>
              <a:rPr lang="en-US" sz="1100" b="0" dirty="0">
                <a:solidFill>
                  <a:srgbClr val="1A1440"/>
                </a:solidFill>
                <a:latin typeface="Arial"/>
              </a:rPr>
              <a:t>58,952 tests short: 456,788 booked against a plan of 515,740, H1 2026. Chennai and Jaipur hold 43% of it.</a:t>
            </a:r>
          </a:p>
        </p:txBody>
      </p:sp>
      <p:sp>
        <p:nvSpPr>
          <p:cNvPr id="13" name="Rounded Rectangle"/>
          <p:cNvSpPr/>
          <p:nvPr/>
        </p:nvSpPr>
        <p:spPr>
          <a:xfrm>
            <a:off x="8074152" y="1645920"/>
            <a:ext cx="3630168" cy="987552"/>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4" name="TextBox"/>
          <p:cNvSpPr txBox="1"/>
          <p:nvPr/>
        </p:nvSpPr>
        <p:spPr>
          <a:xfrm>
            <a:off x="8211312" y="1719072"/>
            <a:ext cx="3355848" cy="868680"/>
          </a:xfrm>
          <a:prstGeom prst="rect">
            <a:avLst/>
          </a:prstGeom>
          <a:noFill/>
        </p:spPr>
        <p:txBody>
          <a:bodyPr wrap="square" lIns="0" tIns="0" rIns="0" bIns="0" anchor="t">
            <a:noAutofit/>
          </a:bodyPr>
          <a:lstStyle/>
          <a:p>
            <a:pPr algn="l">
              <a:buNone/>
            </a:pPr>
            <a:r>
              <a:rPr lang="en-US" sz="1100" b="1" dirty="0">
                <a:solidFill>
                  <a:srgbClr val="4E38AB"/>
                </a:solidFill>
                <a:latin typeface="Arial"/>
              </a:rPr>
              <a:t>Number 3: </a:t>
            </a:r>
            <a:r>
              <a:rPr lang="en-US" sz="1100" b="0" dirty="0">
                <a:solidFill>
                  <a:srgbClr val="1A1440"/>
                </a:solidFill>
                <a:latin typeface="Arial"/>
              </a:rPr>
              <a:t>tests per visit +2.2% (2.35 vs 2.30) and visits per patient −1.0% (1.99 vs 2.01): neither explains the gap.</a:t>
            </a:r>
          </a:p>
        </p:txBody>
      </p:sp>
      <p:graphicFrame>
        <p:nvGraphicFramePr>
          <p:cNvPr id="15" name="Table 6"/>
          <p:cNvGraphicFramePr>
            <a:graphicFrameLocks noGrp="1"/>
          </p:cNvGraphicFramePr>
          <p:nvPr/>
        </p:nvGraphicFramePr>
        <p:xfrm>
          <a:off x="457200" y="2788920"/>
          <a:ext cx="11247120" cy="2414016"/>
        </p:xfrm>
        <a:graphic>
          <a:graphicData uri="http://schemas.openxmlformats.org/drawingml/2006/table">
            <a:tbl>
              <a:tblPr>
                <a:tableStyleId>{5C22544A-7EE6-4342-B048-85BDC9FD1C3A}</a:tableStyleId>
              </a:tblPr>
              <a:tblGrid>
                <a:gridCol w="2194560"/>
                <a:gridCol w="1691640"/>
                <a:gridCol w="1325880"/>
                <a:gridCol w="1325880"/>
                <a:gridCol w="1463040"/>
                <a:gridCol w="1645920"/>
                <a:gridCol w="1600200"/>
              </a:tblGrid>
              <a:tr h="301752">
                <a:tc>
                  <a:txBody>
                    <a:bodyPr/>
                    <a:lstStyle/>
                    <a:p>
                      <a:pPr algn="l"/>
                      <a:r>
                        <a:rPr sz="1100" b="1">
                          <a:solidFill>
                            <a:srgbClr val="FFFFFF"/>
                          </a:solidFill>
                          <a:latin typeface="Arial"/>
                        </a:rPr>
                        <a:t>City</a:t>
                      </a:r>
                    </a:p>
                  </a:txBody>
                  <a:tcPr marL="73152" marR="73152" marT="0" marB="0" anchor="ctr">
                    <a:solidFill>
                      <a:srgbClr val="1A0F5C"/>
                    </a:solidFill>
                  </a:tcPr>
                </a:tc>
                <a:tc>
                  <a:txBody>
                    <a:bodyPr/>
                    <a:lstStyle/>
                    <a:p>
                      <a:pPr algn="r"/>
                      <a:r>
                        <a:rPr sz="1100" b="1">
                          <a:solidFill>
                            <a:srgbClr val="FFFFFF"/>
                          </a:solidFill>
                          <a:latin typeface="Arial"/>
                        </a:rPr>
                        <a:t>Tests short of plan</a:t>
                      </a:r>
                    </a:p>
                  </a:txBody>
                  <a:tcPr marL="73152" marR="73152" marT="0" marB="0" anchor="ctr">
                    <a:solidFill>
                      <a:srgbClr val="1A0F5C"/>
                    </a:solidFill>
                  </a:tcPr>
                </a:tc>
                <a:tc>
                  <a:txBody>
                    <a:bodyPr/>
                    <a:lstStyle/>
                    <a:p>
                      <a:pPr algn="r"/>
                      <a:r>
                        <a:rPr sz="1100" b="1">
                          <a:solidFill>
                            <a:srgbClr val="FFFFFF"/>
                          </a:solidFill>
                          <a:latin typeface="Arial"/>
                        </a:rPr>
                        <a:t>Tests</a:t>
                      </a:r>
                    </a:p>
                  </a:txBody>
                  <a:tcPr marL="73152" marR="73152" marT="0" marB="0" anchor="ctr">
                    <a:solidFill>
                      <a:srgbClr val="1A0F5C"/>
                    </a:solidFill>
                  </a:tcPr>
                </a:tc>
                <a:tc>
                  <a:txBody>
                    <a:bodyPr/>
                    <a:lstStyle/>
                    <a:p>
                      <a:pPr algn="r"/>
                      <a:r>
                        <a:rPr sz="1100" b="1">
                          <a:solidFill>
                            <a:srgbClr val="FFFFFF"/>
                          </a:solidFill>
                          <a:latin typeface="Arial"/>
                        </a:rPr>
                        <a:t>Plan</a:t>
                      </a:r>
                    </a:p>
                  </a:txBody>
                  <a:tcPr marL="73152" marR="73152" marT="0" marB="0" anchor="ctr">
                    <a:solidFill>
                      <a:srgbClr val="1A0F5C"/>
                    </a:solidFill>
                  </a:tcPr>
                </a:tc>
                <a:tc>
                  <a:txBody>
                    <a:bodyPr/>
                    <a:lstStyle/>
                    <a:p>
                      <a:pPr algn="r"/>
                      <a:r>
                        <a:rPr sz="1100" b="1">
                          <a:solidFill>
                            <a:srgbClr val="FFFFFF"/>
                          </a:solidFill>
                          <a:latin typeface="Arial"/>
                        </a:rPr>
                        <a:t>Patients</a:t>
                      </a:r>
                    </a:p>
                  </a:txBody>
                  <a:tcPr marL="73152" marR="73152" marT="0" marB="0" anchor="ctr">
                    <a:solidFill>
                      <a:srgbClr val="1A0F5C"/>
                    </a:solidFill>
                  </a:tcPr>
                </a:tc>
                <a:tc>
                  <a:txBody>
                    <a:bodyPr/>
                    <a:lstStyle/>
                    <a:p>
                      <a:pPr algn="r"/>
                      <a:r>
                        <a:rPr sz="1100" b="1">
                          <a:solidFill>
                            <a:srgbClr val="FFFFFF"/>
                          </a:solidFill>
                          <a:latin typeface="Arial"/>
                        </a:rPr>
                        <a:t>Visits per patient</a:t>
                      </a:r>
                    </a:p>
                  </a:txBody>
                  <a:tcPr marL="73152" marR="73152" marT="0" marB="0" anchor="ctr">
                    <a:solidFill>
                      <a:srgbClr val="1A0F5C"/>
                    </a:solidFill>
                  </a:tcPr>
                </a:tc>
                <a:tc>
                  <a:txBody>
                    <a:bodyPr/>
                    <a:lstStyle/>
                    <a:p>
                      <a:pPr algn="r"/>
                      <a:r>
                        <a:rPr sz="1100" b="1">
                          <a:solidFill>
                            <a:srgbClr val="FFFFFF"/>
                          </a:solidFill>
                          <a:latin typeface="Arial"/>
                        </a:rPr>
                        <a:t>Tests per visit</a:t>
                      </a:r>
                    </a:p>
                  </a:txBody>
                  <a:tcPr marL="73152" marR="73152" marT="0" marB="0" anchor="ctr">
                    <a:solidFill>
                      <a:srgbClr val="1A0F5C"/>
                    </a:solidFill>
                  </a:tcPr>
                </a:tc>
              </a:tr>
              <a:tr h="301752">
                <a:tc>
                  <a:txBody>
                    <a:bodyPr/>
                    <a:lstStyle/>
                    <a:p>
                      <a:pPr algn="l"/>
                      <a:r>
                        <a:rPr sz="1100" b="0">
                          <a:solidFill>
                            <a:srgbClr val="1A1440"/>
                          </a:solidFill>
                          <a:latin typeface="Arial"/>
                        </a:rPr>
                        <a:t>Ahmedabad</a:t>
                      </a:r>
                    </a:p>
                  </a:txBody>
                  <a:tcPr marL="73152" marR="73152" marT="0" marB="0" anchor="ctr">
                    <a:solidFill>
                      <a:srgbClr val="FFFFFF"/>
                    </a:solidFill>
                  </a:tcPr>
                </a:tc>
                <a:tc>
                  <a:txBody>
                    <a:bodyPr/>
                    <a:lstStyle/>
                    <a:p>
                      <a:pPr algn="r"/>
                      <a:r>
                        <a:rPr sz="1100" b="0">
                          <a:solidFill>
                            <a:srgbClr val="1A1440"/>
                          </a:solidFill>
                          <a:latin typeface="Arial"/>
                        </a:rPr>
                        <a:t>5,957</a:t>
                      </a:r>
                    </a:p>
                  </a:txBody>
                  <a:tcPr marL="73152" marR="73152" marT="0" marB="0" anchor="ctr">
                    <a:solidFill>
                      <a:srgbClr val="FFFFFF"/>
                    </a:solidFill>
                  </a:tcPr>
                </a:tc>
                <a:tc>
                  <a:txBody>
                    <a:bodyPr/>
                    <a:lstStyle/>
                    <a:p>
                      <a:pPr algn="r"/>
                      <a:r>
                        <a:rPr sz="1100" b="0">
                          <a:solidFill>
                            <a:srgbClr val="1A1440"/>
                          </a:solidFill>
                          <a:latin typeface="Arial"/>
                        </a:rPr>
                        <a:t>+10.5%</a:t>
                      </a:r>
                    </a:p>
                  </a:txBody>
                  <a:tcPr marL="73152" marR="73152" marT="0" marB="0" anchor="ctr">
                    <a:solidFill>
                      <a:srgbClr val="FFFFFF"/>
                    </a:solidFill>
                  </a:tcPr>
                </a:tc>
                <a:tc>
                  <a:txBody>
                    <a:bodyPr/>
                    <a:lstStyle/>
                    <a:p>
                      <a:pPr algn="r"/>
                      <a:r>
                        <a:rPr sz="1100" b="1">
                          <a:solidFill>
                            <a:srgbClr val="9C6A12"/>
                          </a:solidFill>
                          <a:latin typeface="Arial"/>
                        </a:rPr>
                        <a:t>+18.3%</a:t>
                      </a:r>
                    </a:p>
                  </a:txBody>
                  <a:tcPr marL="73152" marR="73152" marT="0" marB="0" anchor="ctr">
                    <a:solidFill>
                      <a:srgbClr val="FFFFFF"/>
                    </a:solidFill>
                  </a:tcPr>
                </a:tc>
                <a:tc>
                  <a:txBody>
                    <a:bodyPr/>
                    <a:lstStyle/>
                    <a:p>
                      <a:pPr algn="r"/>
                      <a:r>
                        <a:rPr sz="1100" b="0">
                          <a:solidFill>
                            <a:srgbClr val="1A1440"/>
                          </a:solidFill>
                          <a:latin typeface="Arial"/>
                        </a:rPr>
                        <a:t>+9.6%</a:t>
                      </a:r>
                    </a:p>
                  </a:txBody>
                  <a:tcPr marL="73152" marR="73152" marT="0" marB="0" anchor="ctr">
                    <a:solidFill>
                      <a:srgbClr val="FFFFFF"/>
                    </a:solidFill>
                  </a:tcPr>
                </a:tc>
                <a:tc>
                  <a:txBody>
                    <a:bodyPr/>
                    <a:lstStyle/>
                    <a:p>
                      <a:pPr algn="r"/>
                      <a:r>
                        <a:rPr sz="1100" b="0">
                          <a:solidFill>
                            <a:srgbClr val="B83227"/>
                          </a:solidFill>
                          <a:latin typeface="Arial"/>
                        </a:rPr>
                        <a:t>−1.0%</a:t>
                      </a:r>
                    </a:p>
                  </a:txBody>
                  <a:tcPr marL="73152" marR="73152" marT="0" marB="0" anchor="ctr">
                    <a:solidFill>
                      <a:srgbClr val="FBE5E1"/>
                    </a:solidFill>
                  </a:tcPr>
                </a:tc>
                <a:tc>
                  <a:txBody>
                    <a:bodyPr/>
                    <a:lstStyle/>
                    <a:p>
                      <a:pPr algn="r"/>
                      <a:r>
                        <a:rPr sz="1100" b="0">
                          <a:solidFill>
                            <a:srgbClr val="1A1440"/>
                          </a:solidFill>
                          <a:latin typeface="Arial"/>
                        </a:rPr>
                        <a:t>+1.8%</a:t>
                      </a:r>
                    </a:p>
                  </a:txBody>
                  <a:tcPr marL="73152" marR="73152" marT="0" marB="0" anchor="ctr">
                    <a:solidFill>
                      <a:srgbClr val="FFFFFF"/>
                    </a:solidFill>
                  </a:tcPr>
                </a:tc>
              </a:tr>
              <a:tr h="301752">
                <a:tc>
                  <a:txBody>
                    <a:bodyPr/>
                    <a:lstStyle/>
                    <a:p>
                      <a:pPr algn="l"/>
                      <a:r>
                        <a:rPr sz="1100" b="0">
                          <a:solidFill>
                            <a:srgbClr val="1A1440"/>
                          </a:solidFill>
                          <a:latin typeface="Arial"/>
                        </a:rPr>
                        <a:t>Bengaluru</a:t>
                      </a:r>
                    </a:p>
                  </a:txBody>
                  <a:tcPr marL="73152" marR="73152" marT="0" marB="0" anchor="ctr">
                    <a:solidFill>
                      <a:srgbClr val="F6F4FC"/>
                    </a:solidFill>
                  </a:tcPr>
                </a:tc>
                <a:tc>
                  <a:txBody>
                    <a:bodyPr/>
                    <a:lstStyle/>
                    <a:p>
                      <a:pPr algn="r"/>
                      <a:r>
                        <a:rPr sz="1100" b="0">
                          <a:solidFill>
                            <a:srgbClr val="1A1440"/>
                          </a:solidFill>
                          <a:latin typeface="Arial"/>
                        </a:rPr>
                        <a:t>12,730</a:t>
                      </a:r>
                    </a:p>
                  </a:txBody>
                  <a:tcPr marL="73152" marR="73152" marT="0" marB="0" anchor="ctr">
                    <a:solidFill>
                      <a:srgbClr val="F6F4FC"/>
                    </a:solidFill>
                  </a:tcPr>
                </a:tc>
                <a:tc>
                  <a:txBody>
                    <a:bodyPr/>
                    <a:lstStyle/>
                    <a:p>
                      <a:pPr algn="r"/>
                      <a:r>
                        <a:rPr sz="1100" b="0">
                          <a:solidFill>
                            <a:srgbClr val="1A1440"/>
                          </a:solidFill>
                          <a:latin typeface="Arial"/>
                        </a:rPr>
                        <a:t>+7.6%</a:t>
                      </a:r>
                    </a:p>
                  </a:txBody>
                  <a:tcPr marL="73152" marR="73152" marT="0" marB="0" anchor="ctr">
                    <a:solidFill>
                      <a:srgbClr val="F6F4FC"/>
                    </a:solidFill>
                  </a:tcPr>
                </a:tc>
                <a:tc>
                  <a:txBody>
                    <a:bodyPr/>
                    <a:lstStyle/>
                    <a:p>
                      <a:pPr algn="r"/>
                      <a:r>
                        <a:rPr sz="1100" b="1">
                          <a:solidFill>
                            <a:srgbClr val="9C6A12"/>
                          </a:solidFill>
                          <a:latin typeface="Arial"/>
                        </a:rPr>
                        <a:t>+20.4%</a:t>
                      </a:r>
                    </a:p>
                  </a:txBody>
                  <a:tcPr marL="73152" marR="73152" marT="0" marB="0" anchor="ctr">
                    <a:solidFill>
                      <a:srgbClr val="F6F4FC"/>
                    </a:solidFill>
                  </a:tcPr>
                </a:tc>
                <a:tc>
                  <a:txBody>
                    <a:bodyPr/>
                    <a:lstStyle/>
                    <a:p>
                      <a:pPr algn="r"/>
                      <a:r>
                        <a:rPr sz="1100" b="0">
                          <a:solidFill>
                            <a:srgbClr val="1A1440"/>
                          </a:solidFill>
                          <a:latin typeface="Arial"/>
                        </a:rPr>
                        <a:t>+7.2%</a:t>
                      </a:r>
                    </a:p>
                  </a:txBody>
                  <a:tcPr marL="73152" marR="73152" marT="0" marB="0" anchor="ctr">
                    <a:solidFill>
                      <a:srgbClr val="F6F4FC"/>
                    </a:solidFill>
                  </a:tcPr>
                </a:tc>
                <a:tc>
                  <a:txBody>
                    <a:bodyPr/>
                    <a:lstStyle/>
                    <a:p>
                      <a:pPr algn="r"/>
                      <a:r>
                        <a:rPr sz="1100" b="0">
                          <a:solidFill>
                            <a:srgbClr val="B83227"/>
                          </a:solidFill>
                          <a:latin typeface="Arial"/>
                        </a:rPr>
                        <a:t>−2.3%</a:t>
                      </a:r>
                    </a:p>
                  </a:txBody>
                  <a:tcPr marL="73152" marR="73152" marT="0" marB="0" anchor="ctr">
                    <a:solidFill>
                      <a:srgbClr val="FBE5E1"/>
                    </a:solidFill>
                  </a:tcPr>
                </a:tc>
                <a:tc>
                  <a:txBody>
                    <a:bodyPr/>
                    <a:lstStyle/>
                    <a:p>
                      <a:pPr algn="r"/>
                      <a:r>
                        <a:rPr sz="1100" b="0">
                          <a:solidFill>
                            <a:srgbClr val="1A1440"/>
                          </a:solidFill>
                          <a:latin typeface="Arial"/>
                        </a:rPr>
                        <a:t>+2.8%</a:t>
                      </a:r>
                    </a:p>
                  </a:txBody>
                  <a:tcPr marL="73152" marR="73152" marT="0" marB="0" anchor="ctr">
                    <a:solidFill>
                      <a:srgbClr val="F6F4FC"/>
                    </a:solidFill>
                  </a:tcPr>
                </a:tc>
              </a:tr>
              <a:tr h="301752">
                <a:tc>
                  <a:txBody>
                    <a:bodyPr/>
                    <a:lstStyle/>
                    <a:p>
                      <a:pPr algn="l"/>
                      <a:r>
                        <a:rPr sz="1100" b="0">
                          <a:solidFill>
                            <a:srgbClr val="1A1440"/>
                          </a:solidFill>
                          <a:latin typeface="Arial"/>
                        </a:rPr>
                        <a:t>Chennai (new system)</a:t>
                      </a:r>
                    </a:p>
                  </a:txBody>
                  <a:tcPr marL="73152" marR="73152" marT="0" marB="0" anchor="ctr">
                    <a:solidFill>
                      <a:srgbClr val="FFFFFF"/>
                    </a:solidFill>
                  </a:tcPr>
                </a:tc>
                <a:tc>
                  <a:txBody>
                    <a:bodyPr/>
                    <a:lstStyle/>
                    <a:p>
                      <a:pPr algn="r"/>
                      <a:r>
                        <a:rPr sz="1100" b="1">
                          <a:solidFill>
                            <a:srgbClr val="B83227"/>
                          </a:solidFill>
                          <a:latin typeface="Arial"/>
                        </a:rPr>
                        <a:t>13,276</a:t>
                      </a:r>
                    </a:p>
                  </a:txBody>
                  <a:tcPr marL="73152" marR="73152" marT="0" marB="0" anchor="ctr">
                    <a:solidFill>
                      <a:srgbClr val="FFFFFF"/>
                    </a:solidFill>
                  </a:tcPr>
                </a:tc>
                <a:tc>
                  <a:txBody>
                    <a:bodyPr/>
                    <a:lstStyle/>
                    <a:p>
                      <a:pPr algn="r"/>
                      <a:r>
                        <a:rPr sz="1100" b="0">
                          <a:solidFill>
                            <a:srgbClr val="1A1440"/>
                          </a:solidFill>
                          <a:latin typeface="Arial"/>
                        </a:rPr>
                        <a:t>+0.8%</a:t>
                      </a:r>
                    </a:p>
                  </a:txBody>
                  <a:tcPr marL="73152" marR="73152" marT="0" marB="0" anchor="ctr">
                    <a:solidFill>
                      <a:srgbClr val="FFFFFF"/>
                    </a:solidFill>
                  </a:tcPr>
                </a:tc>
                <a:tc>
                  <a:txBody>
                    <a:bodyPr/>
                    <a:lstStyle/>
                    <a:p>
                      <a:pPr algn="r"/>
                      <a:r>
                        <a:rPr sz="1100" b="1">
                          <a:solidFill>
                            <a:srgbClr val="9C6A12"/>
                          </a:solidFill>
                          <a:latin typeface="Arial"/>
                        </a:rPr>
                        <a:t>+17.4%</a:t>
                      </a:r>
                    </a:p>
                  </a:txBody>
                  <a:tcPr marL="73152" marR="73152" marT="0" marB="0" anchor="ctr">
                    <a:solidFill>
                      <a:srgbClr val="FFFFFF"/>
                    </a:solidFill>
                  </a:tcPr>
                </a:tc>
                <a:tc>
                  <a:txBody>
                    <a:bodyPr/>
                    <a:lstStyle/>
                    <a:p>
                      <a:pPr algn="r"/>
                      <a:r>
                        <a:rPr sz="1100" b="0">
                          <a:solidFill>
                            <a:srgbClr val="B83227"/>
                          </a:solidFill>
                          <a:latin typeface="Arial"/>
                        </a:rPr>
                        <a:t>−5.0%</a:t>
                      </a:r>
                    </a:p>
                  </a:txBody>
                  <a:tcPr marL="73152" marR="73152" marT="0" marB="0" anchor="ctr">
                    <a:solidFill>
                      <a:srgbClr val="FBE5E1"/>
                    </a:solidFill>
                  </a:tcPr>
                </a:tc>
                <a:tc>
                  <a:txBody>
                    <a:bodyPr/>
                    <a:lstStyle/>
                    <a:p>
                      <a:pPr algn="r"/>
                      <a:r>
                        <a:rPr sz="1100" b="0">
                          <a:solidFill>
                            <a:srgbClr val="1A1440"/>
                          </a:solidFill>
                          <a:latin typeface="Arial"/>
                        </a:rPr>
                        <a:t>+3.2%</a:t>
                      </a:r>
                    </a:p>
                  </a:txBody>
                  <a:tcPr marL="73152" marR="73152" marT="0" marB="0" anchor="ctr">
                    <a:solidFill>
                      <a:srgbClr val="FFFFFF"/>
                    </a:solidFill>
                  </a:tcPr>
                </a:tc>
                <a:tc>
                  <a:txBody>
                    <a:bodyPr/>
                    <a:lstStyle/>
                    <a:p>
                      <a:pPr algn="r"/>
                      <a:r>
                        <a:rPr sz="1100" b="0">
                          <a:solidFill>
                            <a:srgbClr val="1A1440"/>
                          </a:solidFill>
                          <a:latin typeface="Arial"/>
                        </a:rPr>
                        <a:t>+2.8%</a:t>
                      </a:r>
                    </a:p>
                  </a:txBody>
                  <a:tcPr marL="73152" marR="73152" marT="0" marB="0" anchor="ctr">
                    <a:solidFill>
                      <a:srgbClr val="FFFFFF"/>
                    </a:solidFill>
                  </a:tcPr>
                </a:tc>
              </a:tr>
              <a:tr h="301752">
                <a:tc>
                  <a:txBody>
                    <a:bodyPr/>
                    <a:lstStyle/>
                    <a:p>
                      <a:pPr algn="l"/>
                      <a:r>
                        <a:rPr sz="1100" b="0">
                          <a:solidFill>
                            <a:srgbClr val="1A1440"/>
                          </a:solidFill>
                          <a:latin typeface="Arial"/>
                        </a:rPr>
                        <a:t>Hyderabad</a:t>
                      </a:r>
                    </a:p>
                  </a:txBody>
                  <a:tcPr marL="73152" marR="73152" marT="0" marB="0" anchor="ctr">
                    <a:solidFill>
                      <a:srgbClr val="F6F4FC"/>
                    </a:solidFill>
                  </a:tcPr>
                </a:tc>
                <a:tc>
                  <a:txBody>
                    <a:bodyPr/>
                    <a:lstStyle/>
                    <a:p>
                      <a:pPr algn="r"/>
                      <a:r>
                        <a:rPr sz="1100" b="0">
                          <a:solidFill>
                            <a:srgbClr val="1A1440"/>
                          </a:solidFill>
                          <a:latin typeface="Arial"/>
                        </a:rPr>
                        <a:t>7,971</a:t>
                      </a:r>
                    </a:p>
                  </a:txBody>
                  <a:tcPr marL="73152" marR="73152" marT="0" marB="0" anchor="ctr">
                    <a:solidFill>
                      <a:srgbClr val="F6F4FC"/>
                    </a:solidFill>
                  </a:tcPr>
                </a:tc>
                <a:tc>
                  <a:txBody>
                    <a:bodyPr/>
                    <a:lstStyle/>
                    <a:p>
                      <a:pPr algn="r"/>
                      <a:r>
                        <a:rPr sz="1100" b="0">
                          <a:solidFill>
                            <a:srgbClr val="1A1440"/>
                          </a:solidFill>
                          <a:latin typeface="Arial"/>
                        </a:rPr>
                        <a:t>+7.4%</a:t>
                      </a:r>
                    </a:p>
                  </a:txBody>
                  <a:tcPr marL="73152" marR="73152" marT="0" marB="0" anchor="ctr">
                    <a:solidFill>
                      <a:srgbClr val="F6F4FC"/>
                    </a:solidFill>
                  </a:tcPr>
                </a:tc>
                <a:tc>
                  <a:txBody>
                    <a:bodyPr/>
                    <a:lstStyle/>
                    <a:p>
                      <a:pPr algn="r"/>
                      <a:r>
                        <a:rPr sz="1100" b="1">
                          <a:solidFill>
                            <a:srgbClr val="9C6A12"/>
                          </a:solidFill>
                          <a:latin typeface="Arial"/>
                        </a:rPr>
                        <a:t>+18.3%</a:t>
                      </a:r>
                    </a:p>
                  </a:txBody>
                  <a:tcPr marL="73152" marR="73152" marT="0" marB="0" anchor="ctr">
                    <a:solidFill>
                      <a:srgbClr val="F6F4FC"/>
                    </a:solidFill>
                  </a:tcPr>
                </a:tc>
                <a:tc>
                  <a:txBody>
                    <a:bodyPr/>
                    <a:lstStyle/>
                    <a:p>
                      <a:pPr algn="r"/>
                      <a:r>
                        <a:rPr sz="1100" b="0">
                          <a:solidFill>
                            <a:srgbClr val="1A1440"/>
                          </a:solidFill>
                          <a:latin typeface="Arial"/>
                        </a:rPr>
                        <a:t>+8.1%</a:t>
                      </a:r>
                    </a:p>
                  </a:txBody>
                  <a:tcPr marL="73152" marR="73152" marT="0" marB="0" anchor="ctr">
                    <a:solidFill>
                      <a:srgbClr val="F6F4FC"/>
                    </a:solidFill>
                  </a:tcPr>
                </a:tc>
                <a:tc>
                  <a:txBody>
                    <a:bodyPr/>
                    <a:lstStyle/>
                    <a:p>
                      <a:pPr algn="r"/>
                      <a:r>
                        <a:rPr sz="1100" b="0">
                          <a:solidFill>
                            <a:srgbClr val="B83227"/>
                          </a:solidFill>
                          <a:latin typeface="Arial"/>
                        </a:rPr>
                        <a:t>−2.4%</a:t>
                      </a:r>
                    </a:p>
                  </a:txBody>
                  <a:tcPr marL="73152" marR="73152" marT="0" marB="0" anchor="ctr">
                    <a:solidFill>
                      <a:srgbClr val="FBE5E1"/>
                    </a:solidFill>
                  </a:tcPr>
                </a:tc>
                <a:tc>
                  <a:txBody>
                    <a:bodyPr/>
                    <a:lstStyle/>
                    <a:p>
                      <a:pPr algn="r"/>
                      <a:r>
                        <a:rPr sz="1100" b="0">
                          <a:solidFill>
                            <a:srgbClr val="1A1440"/>
                          </a:solidFill>
                          <a:latin typeface="Arial"/>
                        </a:rPr>
                        <a:t>+1.8%</a:t>
                      </a:r>
                    </a:p>
                  </a:txBody>
                  <a:tcPr marL="73152" marR="73152" marT="0" marB="0" anchor="ctr">
                    <a:solidFill>
                      <a:srgbClr val="F6F4FC"/>
                    </a:solidFill>
                  </a:tcPr>
                </a:tc>
              </a:tr>
              <a:tr h="301752">
                <a:tc>
                  <a:txBody>
                    <a:bodyPr/>
                    <a:lstStyle/>
                    <a:p>
                      <a:pPr algn="l"/>
                      <a:r>
                        <a:rPr sz="1100" b="0">
                          <a:solidFill>
                            <a:srgbClr val="1A1440"/>
                          </a:solidFill>
                          <a:latin typeface="Arial"/>
                        </a:rPr>
                        <a:t>Jaipur (new system)</a:t>
                      </a:r>
                    </a:p>
                  </a:txBody>
                  <a:tcPr marL="73152" marR="73152" marT="0" marB="0" anchor="ctr">
                    <a:solidFill>
                      <a:srgbClr val="FFFFFF"/>
                    </a:solidFill>
                  </a:tcPr>
                </a:tc>
                <a:tc>
                  <a:txBody>
                    <a:bodyPr/>
                    <a:lstStyle/>
                    <a:p>
                      <a:pPr algn="r"/>
                      <a:r>
                        <a:rPr sz="1100" b="1">
                          <a:solidFill>
                            <a:srgbClr val="B83227"/>
                          </a:solidFill>
                          <a:latin typeface="Arial"/>
                        </a:rPr>
                        <a:t>12,208</a:t>
                      </a:r>
                    </a:p>
                  </a:txBody>
                  <a:tcPr marL="73152" marR="73152" marT="0" marB="0" anchor="ctr">
                    <a:solidFill>
                      <a:srgbClr val="FFFFFF"/>
                    </a:solidFill>
                  </a:tcPr>
                </a:tc>
                <a:tc>
                  <a:txBody>
                    <a:bodyPr/>
                    <a:lstStyle/>
                    <a:p>
                      <a:pPr algn="r"/>
                      <a:r>
                        <a:rPr sz="1100" b="0">
                          <a:solidFill>
                            <a:srgbClr val="B83227"/>
                          </a:solidFill>
                          <a:latin typeface="Arial"/>
                        </a:rPr>
                        <a:t>−10.8%</a:t>
                      </a:r>
                    </a:p>
                  </a:txBody>
                  <a:tcPr marL="73152" marR="73152" marT="0" marB="0" anchor="ctr">
                    <a:solidFill>
                      <a:srgbClr val="FBE5E1"/>
                    </a:solidFill>
                  </a:tcPr>
                </a:tc>
                <a:tc>
                  <a:txBody>
                    <a:bodyPr/>
                    <a:lstStyle/>
                    <a:p>
                      <a:pPr algn="r"/>
                      <a:r>
                        <a:rPr sz="1100" b="1">
                          <a:solidFill>
                            <a:srgbClr val="9C6A12"/>
                          </a:solidFill>
                          <a:latin typeface="Arial"/>
                        </a:rPr>
                        <a:t>+16.3%</a:t>
                      </a:r>
                    </a:p>
                  </a:txBody>
                  <a:tcPr marL="73152" marR="73152" marT="0" marB="0" anchor="ctr">
                    <a:solidFill>
                      <a:srgbClr val="FFFFFF"/>
                    </a:solidFill>
                  </a:tcPr>
                </a:tc>
                <a:tc>
                  <a:txBody>
                    <a:bodyPr/>
                    <a:lstStyle/>
                    <a:p>
                      <a:pPr algn="r"/>
                      <a:r>
                        <a:rPr sz="1100" b="0">
                          <a:solidFill>
                            <a:srgbClr val="B83227"/>
                          </a:solidFill>
                          <a:latin typeface="Arial"/>
                        </a:rPr>
                        <a:t>−12.1%</a:t>
                      </a:r>
                    </a:p>
                  </a:txBody>
                  <a:tcPr marL="73152" marR="73152" marT="0" marB="0" anchor="ctr">
                    <a:solidFill>
                      <a:srgbClr val="FBE5E1"/>
                    </a:solidFill>
                  </a:tcPr>
                </a:tc>
                <a:tc>
                  <a:txBody>
                    <a:bodyPr/>
                    <a:lstStyle/>
                    <a:p>
                      <a:pPr algn="r"/>
                      <a:r>
                        <a:rPr sz="1100" b="0">
                          <a:solidFill>
                            <a:srgbClr val="B83227"/>
                          </a:solidFill>
                          <a:latin typeface="Arial"/>
                        </a:rPr>
                        <a:t>−0.3%</a:t>
                      </a:r>
                    </a:p>
                  </a:txBody>
                  <a:tcPr marL="73152" marR="73152" marT="0" marB="0" anchor="ctr">
                    <a:solidFill>
                      <a:srgbClr val="FBE5E1"/>
                    </a:solidFill>
                  </a:tcPr>
                </a:tc>
                <a:tc>
                  <a:txBody>
                    <a:bodyPr/>
                    <a:lstStyle/>
                    <a:p>
                      <a:pPr algn="r"/>
                      <a:r>
                        <a:rPr sz="1100" b="0">
                          <a:solidFill>
                            <a:srgbClr val="1A1440"/>
                          </a:solidFill>
                          <a:latin typeface="Arial"/>
                        </a:rPr>
                        <a:t>+1.8%</a:t>
                      </a:r>
                    </a:p>
                  </a:txBody>
                  <a:tcPr marL="73152" marR="73152" marT="0" marB="0" anchor="ctr">
                    <a:solidFill>
                      <a:srgbClr val="FFFFFF"/>
                    </a:solidFill>
                  </a:tcPr>
                </a:tc>
              </a:tr>
              <a:tr h="301752">
                <a:tc>
                  <a:txBody>
                    <a:bodyPr/>
                    <a:lstStyle/>
                    <a:p>
                      <a:pPr algn="l"/>
                      <a:r>
                        <a:rPr sz="1100" b="0">
                          <a:solidFill>
                            <a:srgbClr val="1A1440"/>
                          </a:solidFill>
                          <a:latin typeface="Arial"/>
                        </a:rPr>
                        <a:t>Pune</a:t>
                      </a:r>
                    </a:p>
                  </a:txBody>
                  <a:tcPr marL="73152" marR="73152" marT="0" marB="0" anchor="ctr">
                    <a:solidFill>
                      <a:srgbClr val="F6F4FC"/>
                    </a:solidFill>
                  </a:tcPr>
                </a:tc>
                <a:tc>
                  <a:txBody>
                    <a:bodyPr/>
                    <a:lstStyle/>
                    <a:p>
                      <a:pPr algn="r"/>
                      <a:r>
                        <a:rPr sz="1100" b="0">
                          <a:solidFill>
                            <a:srgbClr val="1A1440"/>
                          </a:solidFill>
                          <a:latin typeface="Arial"/>
                        </a:rPr>
                        <a:t>6,810</a:t>
                      </a:r>
                    </a:p>
                  </a:txBody>
                  <a:tcPr marL="73152" marR="73152" marT="0" marB="0" anchor="ctr">
                    <a:solidFill>
                      <a:srgbClr val="F6F4FC"/>
                    </a:solidFill>
                  </a:tcPr>
                </a:tc>
                <a:tc>
                  <a:txBody>
                    <a:bodyPr/>
                    <a:lstStyle/>
                    <a:p>
                      <a:pPr algn="r"/>
                      <a:r>
                        <a:rPr sz="1100" b="0">
                          <a:solidFill>
                            <a:srgbClr val="1A1440"/>
                          </a:solidFill>
                          <a:latin typeface="Arial"/>
                        </a:rPr>
                        <a:t>+8.1%</a:t>
                      </a:r>
                    </a:p>
                  </a:txBody>
                  <a:tcPr marL="73152" marR="73152" marT="0" marB="0" anchor="ctr">
                    <a:solidFill>
                      <a:srgbClr val="F6F4FC"/>
                    </a:solidFill>
                  </a:tcPr>
                </a:tc>
                <a:tc>
                  <a:txBody>
                    <a:bodyPr/>
                    <a:lstStyle/>
                    <a:p>
                      <a:pPr algn="r"/>
                      <a:r>
                        <a:rPr sz="1100" b="1">
                          <a:solidFill>
                            <a:srgbClr val="9C6A12"/>
                          </a:solidFill>
                          <a:latin typeface="Arial"/>
                        </a:rPr>
                        <a:t>+19.4%</a:t>
                      </a:r>
                    </a:p>
                  </a:txBody>
                  <a:tcPr marL="73152" marR="73152" marT="0" marB="0" anchor="ctr">
                    <a:solidFill>
                      <a:srgbClr val="F6F4FC"/>
                    </a:solidFill>
                  </a:tcPr>
                </a:tc>
                <a:tc>
                  <a:txBody>
                    <a:bodyPr/>
                    <a:lstStyle/>
                    <a:p>
                      <a:pPr algn="r"/>
                      <a:r>
                        <a:rPr sz="1100" b="0">
                          <a:solidFill>
                            <a:srgbClr val="1A1440"/>
                          </a:solidFill>
                          <a:latin typeface="Arial"/>
                        </a:rPr>
                        <a:t>+8.9%</a:t>
                      </a:r>
                    </a:p>
                  </a:txBody>
                  <a:tcPr marL="73152" marR="73152" marT="0" marB="0" anchor="ctr">
                    <a:solidFill>
                      <a:srgbClr val="F6F4FC"/>
                    </a:solidFill>
                  </a:tcPr>
                </a:tc>
                <a:tc>
                  <a:txBody>
                    <a:bodyPr/>
                    <a:lstStyle/>
                    <a:p>
                      <a:pPr algn="r"/>
                      <a:r>
                        <a:rPr sz="1100" b="0">
                          <a:solidFill>
                            <a:srgbClr val="B83227"/>
                          </a:solidFill>
                          <a:latin typeface="Arial"/>
                        </a:rPr>
                        <a:t>−2.3%</a:t>
                      </a:r>
                    </a:p>
                  </a:txBody>
                  <a:tcPr marL="73152" marR="73152" marT="0" marB="0" anchor="ctr">
                    <a:solidFill>
                      <a:srgbClr val="FBE5E1"/>
                    </a:solidFill>
                  </a:tcPr>
                </a:tc>
                <a:tc>
                  <a:txBody>
                    <a:bodyPr/>
                    <a:lstStyle/>
                    <a:p>
                      <a:pPr algn="r"/>
                      <a:r>
                        <a:rPr sz="1100" b="0">
                          <a:solidFill>
                            <a:srgbClr val="1A1440"/>
                          </a:solidFill>
                          <a:latin typeface="Arial"/>
                        </a:rPr>
                        <a:t>+1.6%</a:t>
                      </a:r>
                    </a:p>
                  </a:txBody>
                  <a:tcPr marL="73152" marR="73152" marT="0" marB="0" anchor="ctr">
                    <a:solidFill>
                      <a:srgbClr val="F6F4FC"/>
                    </a:solidFill>
                  </a:tcPr>
                </a:tc>
              </a:tr>
              <a:tr h="301752">
                <a:tc>
                  <a:txBody>
                    <a:bodyPr/>
                    <a:lstStyle/>
                    <a:p>
                      <a:pPr algn="l"/>
                      <a:r>
                        <a:rPr sz="1100" b="1">
                          <a:solidFill>
                            <a:srgbClr val="FFFFFF"/>
                          </a:solidFill>
                          <a:latin typeface="Arial"/>
                        </a:rPr>
                        <a:t>All cities</a:t>
                      </a:r>
                    </a:p>
                  </a:txBody>
                  <a:tcPr marL="73152" marR="73152" marT="0" marB="0" anchor="ctr">
                    <a:solidFill>
                      <a:srgbClr val="1A1440"/>
                    </a:solidFill>
                  </a:tcPr>
                </a:tc>
                <a:tc>
                  <a:txBody>
                    <a:bodyPr/>
                    <a:lstStyle/>
                    <a:p>
                      <a:pPr algn="r"/>
                      <a:r>
                        <a:rPr sz="1100" b="1">
                          <a:solidFill>
                            <a:srgbClr val="FFFFFF"/>
                          </a:solidFill>
                          <a:latin typeface="Arial"/>
                        </a:rPr>
                        <a:t>58,952</a:t>
                      </a:r>
                    </a:p>
                  </a:txBody>
                  <a:tcPr marL="73152" marR="73152" marT="0" marB="0" anchor="ctr">
                    <a:solidFill>
                      <a:srgbClr val="1A1440"/>
                    </a:solidFill>
                  </a:tcPr>
                </a:tc>
                <a:tc>
                  <a:txBody>
                    <a:bodyPr/>
                    <a:lstStyle/>
                    <a:p>
                      <a:pPr algn="r"/>
                      <a:r>
                        <a:rPr sz="1100" b="1">
                          <a:solidFill>
                            <a:srgbClr val="FFFFFF"/>
                          </a:solidFill>
                          <a:latin typeface="Arial"/>
                        </a:rPr>
                        <a:t>+5.0%</a:t>
                      </a:r>
                    </a:p>
                  </a:txBody>
                  <a:tcPr marL="73152" marR="73152" marT="0" marB="0" anchor="ctr">
                    <a:solidFill>
                      <a:srgbClr val="1A1440"/>
                    </a:solidFill>
                  </a:tcPr>
                </a:tc>
                <a:tc>
                  <a:txBody>
                    <a:bodyPr/>
                    <a:lstStyle/>
                    <a:p>
                      <a:pPr algn="r"/>
                      <a:r>
                        <a:rPr sz="1100" b="1">
                          <a:solidFill>
                            <a:srgbClr val="FFFFFF"/>
                          </a:solidFill>
                          <a:latin typeface="Arial"/>
                        </a:rPr>
                        <a:t>+18.6%</a:t>
                      </a:r>
                    </a:p>
                  </a:txBody>
                  <a:tcPr marL="73152" marR="73152" marT="0" marB="0" anchor="ctr">
                    <a:solidFill>
                      <a:srgbClr val="1A1440"/>
                    </a:solidFill>
                  </a:tcPr>
                </a:tc>
                <a:tc>
                  <a:txBody>
                    <a:bodyPr/>
                    <a:lstStyle/>
                    <a:p>
                      <a:pPr algn="r"/>
                      <a:r>
                        <a:rPr sz="1100" b="1">
                          <a:solidFill>
                            <a:srgbClr val="FFFFFF"/>
                          </a:solidFill>
                          <a:latin typeface="Arial"/>
                        </a:rPr>
                        <a:t>+3.8%</a:t>
                      </a:r>
                    </a:p>
                  </a:txBody>
                  <a:tcPr marL="73152" marR="73152" marT="0" marB="0" anchor="ctr">
                    <a:solidFill>
                      <a:srgbClr val="1A1440"/>
                    </a:solidFill>
                  </a:tcPr>
                </a:tc>
                <a:tc>
                  <a:txBody>
                    <a:bodyPr/>
                    <a:lstStyle/>
                    <a:p>
                      <a:pPr algn="r"/>
                      <a:r>
                        <a:rPr sz="1100" b="1">
                          <a:solidFill>
                            <a:srgbClr val="FFFFFF"/>
                          </a:solidFill>
                          <a:latin typeface="Arial"/>
                        </a:rPr>
                        <a:t>−1.0%</a:t>
                      </a:r>
                    </a:p>
                  </a:txBody>
                  <a:tcPr marL="73152" marR="73152" marT="0" marB="0" anchor="ctr">
                    <a:solidFill>
                      <a:srgbClr val="1A1440"/>
                    </a:solidFill>
                  </a:tcPr>
                </a:tc>
                <a:tc>
                  <a:txBody>
                    <a:bodyPr/>
                    <a:lstStyle/>
                    <a:p>
                      <a:pPr algn="r"/>
                      <a:r>
                        <a:rPr sz="1100" b="1">
                          <a:solidFill>
                            <a:srgbClr val="FFFFFF"/>
                          </a:solidFill>
                          <a:latin typeface="Arial"/>
                        </a:rPr>
                        <a:t>+2.2%</a:t>
                      </a:r>
                    </a:p>
                  </a:txBody>
                  <a:tcPr marL="73152" marR="73152" marT="0" marB="0" anchor="ctr">
                    <a:solidFill>
                      <a:srgbClr val="1A1440"/>
                    </a:solidFill>
                  </a:tcPr>
                </a:tc>
              </a:tr>
            </a:tbl>
          </a:graphicData>
        </a:graphic>
      </p:graphicFrame>
      <p:sp>
        <p:nvSpPr>
          <p:cNvPr id="16" name="Rounded Rectangle"/>
          <p:cNvSpPr/>
          <p:nvPr/>
        </p:nvSpPr>
        <p:spPr>
          <a:xfrm>
            <a:off x="457200" y="5303520"/>
            <a:ext cx="11247120" cy="530352"/>
          </a:xfrm>
          <a:prstGeom prst="roundRect">
            <a:avLst>
              <a:gd name="adj" fmla="val 8000"/>
            </a:avLst>
          </a:prstGeom>
          <a:solidFill>
            <a:srgbClr val="EDE9FA"/>
          </a:solidFill>
          <a:ln w="12700">
            <a:solidFill>
              <a:srgbClr val="DCD6F7"/>
            </a:solidFill>
          </a:ln>
          <a:effectLst/>
        </p:spPr>
        <p:txBody>
          <a:bodyPr lIns="0" tIns="0" rIns="0" bIns="0" rtlCol="0" anchor="ctr"/>
          <a:lstStyle/>
          <a:p>
            <a:endParaRPr lang="en-US"/>
          </a:p>
        </p:txBody>
      </p:sp>
      <p:sp>
        <p:nvSpPr>
          <p:cNvPr id="17" name="TextBox"/>
          <p:cNvSpPr txBox="1"/>
          <p:nvPr/>
        </p:nvSpPr>
        <p:spPr>
          <a:xfrm>
            <a:off x="640080" y="5303520"/>
            <a:ext cx="10881360" cy="530352"/>
          </a:xfrm>
          <a:prstGeom prst="rect">
            <a:avLst/>
          </a:prstGeom>
          <a:noFill/>
        </p:spPr>
        <p:txBody>
          <a:bodyPr wrap="square" lIns="0" tIns="0" rIns="0" bIns="0" anchor="ctr">
            <a:noAutofit/>
          </a:bodyPr>
          <a:lstStyle/>
          <a:p>
            <a:pPr algn="l">
              <a:buNone/>
            </a:pPr>
            <a:r>
              <a:rPr lang="en-US" sz="1100" b="1" dirty="0">
                <a:solidFill>
                  <a:srgbClr val="B83227"/>
                </a:solidFill>
                <a:latin typeface="Arial"/>
              </a:rPr>
              <a:t>Chennai + Jaipur: 25,484 tests short, </a:t>
            </a:r>
            <a:r>
              <a:rPr lang="en-US" sz="1100" b="0" dirty="0">
                <a:solidFill>
                  <a:srgbClr val="1A1440"/>
                </a:solidFill>
                <a:latin typeface="Arial"/>
              </a:rPr>
              <a:t>43% of the gap from 29% of H1 2025 volume. Other four cities: 33,468 (57%). </a:t>
            </a:r>
            <a:r>
              <a:rPr lang="en-US" sz="1100" b="1" dirty="0">
                <a:solidFill>
                  <a:srgbClr val="1A1440"/>
                </a:solidFill>
                <a:latin typeface="Arial"/>
              </a:rPr>
              <a:t>Bengaluru </a:t>
            </a:r>
            <a:r>
              <a:rPr lang="en-US" sz="1100" b="0" dirty="0">
                <a:solidFill>
                  <a:srgbClr val="1A1440"/>
                </a:solidFill>
                <a:latin typeface="Arial"/>
              </a:rPr>
              <a:t>is large only because its plan asked for +20.4%, the highest of all cities; it grew 7.6%.</a:t>
            </a:r>
          </a:p>
        </p:txBody>
      </p:sp>
      <p:sp>
        <p:nvSpPr>
          <p:cNvPr id="18" name="TextBox"/>
          <p:cNvSpPr txBox="1"/>
          <p:nvPr/>
        </p:nvSpPr>
        <p:spPr>
          <a:xfrm>
            <a:off x="457200" y="5897880"/>
            <a:ext cx="11247120" cy="292608"/>
          </a:xfrm>
          <a:prstGeom prst="rect">
            <a:avLst/>
          </a:prstGeom>
          <a:noFill/>
        </p:spPr>
        <p:txBody>
          <a:bodyPr wrap="square" lIns="0" tIns="0" rIns="0" bIns="0" anchor="t">
            <a:noAutofit/>
          </a:bodyPr>
          <a:lstStyle/>
          <a:p>
            <a:pPr algn="l">
              <a:buNone/>
            </a:pPr>
            <a:r>
              <a:rPr lang="en-US" sz="900" b="0" dirty="0">
                <a:solidFill>
                  <a:srgbClr val="6B6690"/>
                </a:solidFill>
                <a:latin typeface="Arial"/>
              </a:rPr>
              <a:t>Source: current bookings, H1 2026 vs H1 2025. Tests short of plan = city plan minus booked tests; the six add up to 58,952. Red = decline. Gold = plan growth.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BRIEF A · THE PICTURE</a:t>
            </a:r>
          </a:p>
        </p:txBody>
      </p:sp>
      <p:sp>
        <p:nvSpPr>
          <p:cNvPr id="5"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9</a:t>
            </a:r>
          </a:p>
        </p:txBody>
      </p:sp>
      <p:pic>
        <p:nvPicPr>
          <p:cNvPr id="6"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7"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8" name="TextBox 6"/>
          <p:cNvSpPr txBox="1"/>
          <p:nvPr/>
        </p:nvSpPr>
        <p:spPr>
          <a:xfrm>
            <a:off x="457200" y="640080"/>
            <a:ext cx="11247120" cy="914400"/>
          </a:xfrm>
          <a:prstGeom prst="rect">
            <a:avLst/>
          </a:prstGeom>
          <a:noFill/>
        </p:spPr>
        <p:txBody>
          <a:bodyPr wrap="square">
            <a:spAutoFit/>
          </a:bodyPr>
          <a:lstStyle/>
          <a:p>
            <a:pPr algn="l"/>
            <a:r>
              <a:rPr sz="2800" b="1">
                <a:solidFill>
                  <a:srgbClr val="1A1440"/>
                </a:solidFill>
                <a:latin typeface="Georgia"/>
              </a:rPr>
              <a:t>Tests = patients × visits per patient × tests per visit</a:t>
            </a:r>
          </a:p>
        </p:txBody>
      </p:sp>
      <p:sp>
        <p:nvSpPr>
          <p:cNvPr id="9"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8"/>
          <p:cNvSpPr/>
          <p:nvPr/>
        </p:nvSpPr>
        <p:spPr>
          <a:xfrm>
            <a:off x="640080" y="1828800"/>
            <a:ext cx="2331720" cy="1783080"/>
          </a:xfrm>
          <a:prstGeom prst="roundRect">
            <a:avLst>
              <a:gd name="adj" fmla="val 8000"/>
            </a:avLst>
          </a:prstGeom>
          <a:solidFill>
            <a:srgbClr val="FFFFFF"/>
          </a:solidFill>
          <a:ln w="38100">
            <a:solidFill>
              <a:srgbClr val="E9B0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9"/>
          <p:cNvSpPr/>
          <p:nvPr/>
        </p:nvSpPr>
        <p:spPr>
          <a:xfrm>
            <a:off x="749808" y="1938528"/>
            <a:ext cx="310896" cy="310896"/>
          </a:xfrm>
          <a:prstGeom prst="ellipse">
            <a:avLst/>
          </a:prstGeom>
          <a:solidFill>
            <a:srgbClr val="E9B04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12" name="TextBox 10"/>
          <p:cNvSpPr txBox="1"/>
          <p:nvPr/>
        </p:nvSpPr>
        <p:spPr>
          <a:xfrm>
            <a:off x="1143000" y="1938528"/>
            <a:ext cx="1737360" cy="310896"/>
          </a:xfrm>
          <a:prstGeom prst="rect">
            <a:avLst/>
          </a:prstGeom>
          <a:noFill/>
        </p:spPr>
        <p:txBody>
          <a:bodyPr wrap="square" lIns="0" tIns="0" rIns="0" bIns="0" anchor="ctr">
            <a:spAutoFit/>
          </a:bodyPr>
          <a:lstStyle/>
          <a:p>
            <a:pPr algn="l"/>
            <a:r>
              <a:rPr sz="1300" b="1">
                <a:solidFill>
                  <a:srgbClr val="1A1440"/>
                </a:solidFill>
                <a:latin typeface="Arial"/>
              </a:rPr>
              <a:t>Patients</a:t>
            </a:r>
          </a:p>
        </p:txBody>
      </p:sp>
      <p:sp>
        <p:nvSpPr>
          <p:cNvPr id="13" name="TextBox 11"/>
          <p:cNvSpPr txBox="1"/>
          <p:nvPr/>
        </p:nvSpPr>
        <p:spPr>
          <a:xfrm>
            <a:off x="822959" y="2331720"/>
            <a:ext cx="1965960" cy="548640"/>
          </a:xfrm>
          <a:prstGeom prst="rect">
            <a:avLst/>
          </a:prstGeom>
          <a:noFill/>
        </p:spPr>
        <p:txBody>
          <a:bodyPr wrap="square" lIns="0" tIns="0" rIns="0" bIns="0" anchor="t">
            <a:spAutoFit/>
          </a:bodyPr>
          <a:lstStyle/>
          <a:p>
            <a:pPr algn="l"/>
            <a:r>
              <a:rPr sz="3000" b="1">
                <a:solidFill>
                  <a:srgbClr val="4E38AB"/>
                </a:solidFill>
                <a:latin typeface="Georgia"/>
              </a:rPr>
              <a:t>+3.8%</a:t>
            </a:r>
          </a:p>
        </p:txBody>
      </p:sp>
      <p:sp>
        <p:nvSpPr>
          <p:cNvPr id="14" name="TextBox 12"/>
          <p:cNvSpPr txBox="1"/>
          <p:nvPr/>
        </p:nvSpPr>
        <p:spPr>
          <a:xfrm>
            <a:off x="822959" y="2926080"/>
            <a:ext cx="1965960" cy="594360"/>
          </a:xfrm>
          <a:prstGeom prst="rect">
            <a:avLst/>
          </a:prstGeom>
          <a:noFill/>
        </p:spPr>
        <p:txBody>
          <a:bodyPr wrap="square" lIns="0" tIns="0" rIns="0" bIns="0" anchor="t">
            <a:spAutoFit/>
          </a:bodyPr>
          <a:lstStyle/>
          <a:p>
            <a:pPr algn="l"/>
            <a:r>
              <a:rPr sz="1200" b="0">
                <a:solidFill>
                  <a:srgbClr val="6B6690"/>
                </a:solidFill>
                <a:latin typeface="Arial"/>
              </a:rPr>
              <a:t>H1 2025   94,477</a:t>
            </a:r>
          </a:p>
          <a:p>
            <a:pPr algn="l"/>
            <a:r>
              <a:rPr sz="1200" b="0">
                <a:solidFill>
                  <a:srgbClr val="6B6690"/>
                </a:solidFill>
                <a:latin typeface="Arial"/>
              </a:rPr>
              <a:t>H1 2026   98,025</a:t>
            </a:r>
          </a:p>
        </p:txBody>
      </p:sp>
      <p:sp>
        <p:nvSpPr>
          <p:cNvPr id="15" name="TextBox 13"/>
          <p:cNvSpPr txBox="1"/>
          <p:nvPr/>
        </p:nvSpPr>
        <p:spPr>
          <a:xfrm>
            <a:off x="2971800" y="2377440"/>
            <a:ext cx="518160" cy="548640"/>
          </a:xfrm>
          <a:prstGeom prst="rect">
            <a:avLst/>
          </a:prstGeom>
          <a:noFill/>
        </p:spPr>
        <p:txBody>
          <a:bodyPr wrap="square" lIns="0" tIns="0" rIns="0" bIns="0" anchor="t">
            <a:spAutoFit/>
          </a:bodyPr>
          <a:lstStyle/>
          <a:p>
            <a:pPr algn="ctr"/>
            <a:r>
              <a:rPr sz="2600" b="1">
                <a:solidFill>
                  <a:srgbClr val="6B6690"/>
                </a:solidFill>
                <a:latin typeface="Arial"/>
              </a:rPr>
              <a:t>×</a:t>
            </a:r>
          </a:p>
        </p:txBody>
      </p:sp>
      <p:sp>
        <p:nvSpPr>
          <p:cNvPr id="16" name="Rounded Rectangle 14"/>
          <p:cNvSpPr/>
          <p:nvPr/>
        </p:nvSpPr>
        <p:spPr>
          <a:xfrm>
            <a:off x="3489960" y="1828800"/>
            <a:ext cx="2331720" cy="1783080"/>
          </a:xfrm>
          <a:prstGeom prst="roundRect">
            <a:avLst>
              <a:gd name="adj" fmla="val 8000"/>
            </a:avLst>
          </a:prstGeom>
          <a:solidFill>
            <a:srgbClr val="FFFFFF"/>
          </a:solidFill>
          <a:ln w="15875">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5"/>
          <p:cNvSpPr/>
          <p:nvPr/>
        </p:nvSpPr>
        <p:spPr>
          <a:xfrm>
            <a:off x="3599688" y="1938528"/>
            <a:ext cx="310896" cy="310896"/>
          </a:xfrm>
          <a:prstGeom prst="ellipse">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18" name="TextBox 16"/>
          <p:cNvSpPr txBox="1"/>
          <p:nvPr/>
        </p:nvSpPr>
        <p:spPr>
          <a:xfrm>
            <a:off x="3992879" y="1938528"/>
            <a:ext cx="1737360" cy="310896"/>
          </a:xfrm>
          <a:prstGeom prst="rect">
            <a:avLst/>
          </a:prstGeom>
          <a:noFill/>
        </p:spPr>
        <p:txBody>
          <a:bodyPr wrap="square" lIns="0" tIns="0" rIns="0" bIns="0" anchor="ctr">
            <a:spAutoFit/>
          </a:bodyPr>
          <a:lstStyle/>
          <a:p>
            <a:pPr algn="l"/>
            <a:r>
              <a:rPr sz="1300" b="1">
                <a:solidFill>
                  <a:srgbClr val="1A1440"/>
                </a:solidFill>
                <a:latin typeface="Arial"/>
              </a:rPr>
              <a:t>Visits per patient</a:t>
            </a:r>
          </a:p>
        </p:txBody>
      </p:sp>
      <p:sp>
        <p:nvSpPr>
          <p:cNvPr id="19" name="TextBox 17"/>
          <p:cNvSpPr txBox="1"/>
          <p:nvPr/>
        </p:nvSpPr>
        <p:spPr>
          <a:xfrm>
            <a:off x="3672840" y="2331720"/>
            <a:ext cx="1965960" cy="548640"/>
          </a:xfrm>
          <a:prstGeom prst="rect">
            <a:avLst/>
          </a:prstGeom>
          <a:noFill/>
        </p:spPr>
        <p:txBody>
          <a:bodyPr wrap="square" lIns="0" tIns="0" rIns="0" bIns="0" anchor="t">
            <a:spAutoFit/>
          </a:bodyPr>
          <a:lstStyle/>
          <a:p>
            <a:pPr algn="l"/>
            <a:r>
              <a:rPr sz="3000" b="1">
                <a:solidFill>
                  <a:srgbClr val="B83227"/>
                </a:solidFill>
                <a:latin typeface="Georgia"/>
              </a:rPr>
              <a:t>−1.0%</a:t>
            </a:r>
          </a:p>
        </p:txBody>
      </p:sp>
      <p:sp>
        <p:nvSpPr>
          <p:cNvPr id="20" name="TextBox 18"/>
          <p:cNvSpPr txBox="1"/>
          <p:nvPr/>
        </p:nvSpPr>
        <p:spPr>
          <a:xfrm>
            <a:off x="3672840" y="2926080"/>
            <a:ext cx="1965960" cy="594360"/>
          </a:xfrm>
          <a:prstGeom prst="rect">
            <a:avLst/>
          </a:prstGeom>
          <a:noFill/>
        </p:spPr>
        <p:txBody>
          <a:bodyPr wrap="square" lIns="0" tIns="0" rIns="0" bIns="0" anchor="t">
            <a:spAutoFit/>
          </a:bodyPr>
          <a:lstStyle/>
          <a:p>
            <a:pPr algn="l"/>
            <a:r>
              <a:rPr sz="1200" b="0">
                <a:solidFill>
                  <a:srgbClr val="6B6690"/>
                </a:solidFill>
                <a:latin typeface="Arial"/>
              </a:rPr>
              <a:t>H1 2025   2.01</a:t>
            </a:r>
          </a:p>
          <a:p>
            <a:pPr algn="l"/>
            <a:r>
              <a:rPr sz="1200" b="0">
                <a:solidFill>
                  <a:srgbClr val="6B6690"/>
                </a:solidFill>
                <a:latin typeface="Arial"/>
              </a:rPr>
              <a:t>H1 2026   1.99</a:t>
            </a:r>
          </a:p>
          <a:p>
            <a:pPr algn="l">
              <a:buNone/>
            </a:pPr>
            <a:r>
              <a:rPr lang="en-US" sz="900" b="0" dirty="0">
                <a:solidFill>
                  <a:srgbClr val="6B6690"/>
                </a:solidFill>
                <a:latin typeface="Arial"/>
              </a:rPr>
              <a:t>Visits 189,500 → 194,713 (+2.8%)</a:t>
            </a:r>
          </a:p>
        </p:txBody>
      </p:sp>
      <p:sp>
        <p:nvSpPr>
          <p:cNvPr id="21" name="TextBox 19"/>
          <p:cNvSpPr txBox="1"/>
          <p:nvPr/>
        </p:nvSpPr>
        <p:spPr>
          <a:xfrm>
            <a:off x="5821680" y="2377440"/>
            <a:ext cx="518160" cy="548640"/>
          </a:xfrm>
          <a:prstGeom prst="rect">
            <a:avLst/>
          </a:prstGeom>
          <a:noFill/>
        </p:spPr>
        <p:txBody>
          <a:bodyPr wrap="square" lIns="0" tIns="0" rIns="0" bIns="0" anchor="t">
            <a:spAutoFit/>
          </a:bodyPr>
          <a:lstStyle/>
          <a:p>
            <a:pPr algn="ctr"/>
            <a:r>
              <a:rPr sz="2600" b="1">
                <a:solidFill>
                  <a:srgbClr val="6B6690"/>
                </a:solidFill>
                <a:latin typeface="Arial"/>
              </a:rPr>
              <a:t>×</a:t>
            </a:r>
          </a:p>
        </p:txBody>
      </p:sp>
      <p:sp>
        <p:nvSpPr>
          <p:cNvPr id="22" name="Rounded Rectangle 20"/>
          <p:cNvSpPr/>
          <p:nvPr/>
        </p:nvSpPr>
        <p:spPr>
          <a:xfrm>
            <a:off x="6339840" y="1828800"/>
            <a:ext cx="2331720" cy="1783080"/>
          </a:xfrm>
          <a:prstGeom prst="roundRect">
            <a:avLst>
              <a:gd name="adj" fmla="val 8000"/>
            </a:avLst>
          </a:prstGeom>
          <a:solidFill>
            <a:srgbClr val="FFFFFF"/>
          </a:solidFill>
          <a:ln w="15875">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1"/>
          <p:cNvSpPr/>
          <p:nvPr/>
        </p:nvSpPr>
        <p:spPr>
          <a:xfrm>
            <a:off x="6449568" y="1938528"/>
            <a:ext cx="310896" cy="310896"/>
          </a:xfrm>
          <a:prstGeom prst="ellipse">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24" name="TextBox 22"/>
          <p:cNvSpPr txBox="1"/>
          <p:nvPr/>
        </p:nvSpPr>
        <p:spPr>
          <a:xfrm>
            <a:off x="6842760" y="1938528"/>
            <a:ext cx="1737360" cy="310896"/>
          </a:xfrm>
          <a:prstGeom prst="rect">
            <a:avLst/>
          </a:prstGeom>
          <a:noFill/>
        </p:spPr>
        <p:txBody>
          <a:bodyPr wrap="square" lIns="0" tIns="0" rIns="0" bIns="0" anchor="ctr">
            <a:spAutoFit/>
          </a:bodyPr>
          <a:lstStyle/>
          <a:p>
            <a:pPr algn="l"/>
            <a:r>
              <a:rPr sz="1300" b="1">
                <a:solidFill>
                  <a:srgbClr val="1A1440"/>
                </a:solidFill>
                <a:latin typeface="Arial"/>
              </a:rPr>
              <a:t>Tests per visit</a:t>
            </a:r>
          </a:p>
        </p:txBody>
      </p:sp>
      <p:sp>
        <p:nvSpPr>
          <p:cNvPr id="25" name="TextBox 23"/>
          <p:cNvSpPr txBox="1"/>
          <p:nvPr/>
        </p:nvSpPr>
        <p:spPr>
          <a:xfrm>
            <a:off x="6522720" y="2331720"/>
            <a:ext cx="1965960" cy="548640"/>
          </a:xfrm>
          <a:prstGeom prst="rect">
            <a:avLst/>
          </a:prstGeom>
          <a:noFill/>
        </p:spPr>
        <p:txBody>
          <a:bodyPr wrap="square" lIns="0" tIns="0" rIns="0" bIns="0" anchor="t">
            <a:spAutoFit/>
          </a:bodyPr>
          <a:lstStyle/>
          <a:p>
            <a:pPr algn="l"/>
            <a:r>
              <a:rPr sz="3000" b="1">
                <a:solidFill>
                  <a:srgbClr val="4E38AB"/>
                </a:solidFill>
                <a:latin typeface="Georgia"/>
              </a:rPr>
              <a:t>+2.2%</a:t>
            </a:r>
          </a:p>
        </p:txBody>
      </p:sp>
      <p:sp>
        <p:nvSpPr>
          <p:cNvPr id="26" name="TextBox 24"/>
          <p:cNvSpPr txBox="1"/>
          <p:nvPr/>
        </p:nvSpPr>
        <p:spPr>
          <a:xfrm>
            <a:off x="6522720" y="2926080"/>
            <a:ext cx="1965960" cy="594360"/>
          </a:xfrm>
          <a:prstGeom prst="rect">
            <a:avLst/>
          </a:prstGeom>
          <a:noFill/>
        </p:spPr>
        <p:txBody>
          <a:bodyPr wrap="square" lIns="0" tIns="0" rIns="0" bIns="0" anchor="t">
            <a:spAutoFit/>
          </a:bodyPr>
          <a:lstStyle/>
          <a:p>
            <a:pPr algn="l"/>
            <a:r>
              <a:rPr sz="1200" b="0">
                <a:solidFill>
                  <a:srgbClr val="6B6690"/>
                </a:solidFill>
                <a:latin typeface="Arial"/>
              </a:rPr>
              <a:t>H1 2025   2.30</a:t>
            </a:r>
          </a:p>
          <a:p>
            <a:pPr algn="l"/>
            <a:r>
              <a:rPr sz="1200" b="0">
                <a:solidFill>
                  <a:srgbClr val="6B6690"/>
                </a:solidFill>
                <a:latin typeface="Arial"/>
              </a:rPr>
              <a:t>H1 2026   2.35</a:t>
            </a:r>
          </a:p>
        </p:txBody>
      </p:sp>
      <p:sp>
        <p:nvSpPr>
          <p:cNvPr id="27" name="TextBox 25"/>
          <p:cNvSpPr txBox="1"/>
          <p:nvPr/>
        </p:nvSpPr>
        <p:spPr>
          <a:xfrm>
            <a:off x="8671560" y="2377440"/>
            <a:ext cx="518160" cy="548640"/>
          </a:xfrm>
          <a:prstGeom prst="rect">
            <a:avLst/>
          </a:prstGeom>
          <a:noFill/>
        </p:spPr>
        <p:txBody>
          <a:bodyPr wrap="square" lIns="0" tIns="0" rIns="0" bIns="0" anchor="t">
            <a:spAutoFit/>
          </a:bodyPr>
          <a:lstStyle/>
          <a:p>
            <a:pPr algn="ctr"/>
            <a:r>
              <a:rPr sz="2600" b="1">
                <a:solidFill>
                  <a:srgbClr val="6B6690"/>
                </a:solidFill>
                <a:latin typeface="Arial"/>
              </a:rPr>
              <a:t>=</a:t>
            </a:r>
          </a:p>
        </p:txBody>
      </p:sp>
      <p:sp>
        <p:nvSpPr>
          <p:cNvPr id="28" name="Rounded Rectangle 26"/>
          <p:cNvSpPr/>
          <p:nvPr/>
        </p:nvSpPr>
        <p:spPr>
          <a:xfrm>
            <a:off x="9189719" y="1828800"/>
            <a:ext cx="2331720" cy="1783080"/>
          </a:xfrm>
          <a:prstGeom prst="roundRect">
            <a:avLst>
              <a:gd name="adj" fmla="val 8000"/>
            </a:avLst>
          </a:prstGeom>
          <a:solidFill>
            <a:srgbClr val="1A1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7"/>
          <p:cNvSpPr/>
          <p:nvPr/>
        </p:nvSpPr>
        <p:spPr>
          <a:xfrm>
            <a:off x="9299447" y="1938528"/>
            <a:ext cx="310896" cy="310896"/>
          </a:xfrm>
          <a:prstGeom prst="ellipse">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30" name="TextBox 28"/>
          <p:cNvSpPr txBox="1"/>
          <p:nvPr/>
        </p:nvSpPr>
        <p:spPr>
          <a:xfrm>
            <a:off x="9692640" y="1938528"/>
            <a:ext cx="1737360" cy="310896"/>
          </a:xfrm>
          <a:prstGeom prst="rect">
            <a:avLst/>
          </a:prstGeom>
          <a:noFill/>
        </p:spPr>
        <p:txBody>
          <a:bodyPr wrap="square" lIns="0" tIns="0" rIns="0" bIns="0" anchor="ctr">
            <a:spAutoFit/>
          </a:bodyPr>
          <a:lstStyle/>
          <a:p>
            <a:pPr algn="l"/>
            <a:r>
              <a:rPr sz="1300" b="1">
                <a:solidFill>
                  <a:srgbClr val="FFFFFF"/>
                </a:solidFill>
                <a:latin typeface="Arial"/>
              </a:rPr>
              <a:t>Test volume</a:t>
            </a:r>
          </a:p>
        </p:txBody>
      </p:sp>
      <p:sp>
        <p:nvSpPr>
          <p:cNvPr id="31" name="TextBox 29"/>
          <p:cNvSpPr txBox="1"/>
          <p:nvPr/>
        </p:nvSpPr>
        <p:spPr>
          <a:xfrm>
            <a:off x="9372599" y="2331720"/>
            <a:ext cx="1965960" cy="548640"/>
          </a:xfrm>
          <a:prstGeom prst="rect">
            <a:avLst/>
          </a:prstGeom>
          <a:noFill/>
        </p:spPr>
        <p:txBody>
          <a:bodyPr wrap="square" lIns="0" tIns="0" rIns="0" bIns="0" anchor="t">
            <a:spAutoFit/>
          </a:bodyPr>
          <a:lstStyle/>
          <a:p>
            <a:pPr algn="l"/>
            <a:r>
              <a:rPr sz="3000" b="1">
                <a:solidFill>
                  <a:srgbClr val="E9B04C"/>
                </a:solidFill>
                <a:latin typeface="Georgia"/>
              </a:rPr>
              <a:t>+5.0%</a:t>
            </a:r>
          </a:p>
        </p:txBody>
      </p:sp>
      <p:sp>
        <p:nvSpPr>
          <p:cNvPr id="32" name="TextBox 30"/>
          <p:cNvSpPr txBox="1"/>
          <p:nvPr/>
        </p:nvSpPr>
        <p:spPr>
          <a:xfrm>
            <a:off x="9372599" y="2926080"/>
            <a:ext cx="1965960" cy="594360"/>
          </a:xfrm>
          <a:prstGeom prst="rect">
            <a:avLst/>
          </a:prstGeom>
          <a:noFill/>
        </p:spPr>
        <p:txBody>
          <a:bodyPr wrap="square" lIns="0" tIns="0" rIns="0" bIns="0" anchor="t">
            <a:spAutoFit/>
          </a:bodyPr>
          <a:lstStyle/>
          <a:p>
            <a:pPr algn="l"/>
            <a:r>
              <a:rPr sz="1200" b="0">
                <a:solidFill>
                  <a:srgbClr val="DCD6F7"/>
                </a:solidFill>
                <a:latin typeface="Arial"/>
              </a:rPr>
              <a:t>H1 2025   435,008</a:t>
            </a:r>
          </a:p>
          <a:p>
            <a:pPr algn="l"/>
            <a:r>
              <a:rPr sz="1200" b="0">
                <a:solidFill>
                  <a:srgbClr val="DCD6F7"/>
                </a:solidFill>
                <a:latin typeface="Arial"/>
              </a:rPr>
              <a:t>H1 2026   456,788</a:t>
            </a:r>
          </a:p>
          <a:p>
            <a:pPr algn="l">
              <a:buNone/>
            </a:pPr>
            <a:r>
              <a:rPr lang="en-US" sz="900" b="0" dirty="0">
                <a:solidFill>
                  <a:srgbClr val="DCD6F7"/>
                </a:solidFill>
                <a:latin typeface="Arial"/>
              </a:rPr>
              <a:t>Collected +4.9% · tested +5.0%</a:t>
            </a:r>
          </a:p>
        </p:txBody>
      </p:sp>
      <p:sp>
        <p:nvSpPr>
          <p:cNvPr id="33" name="TextBox 31"/>
          <p:cNvSpPr txBox="1"/>
          <p:nvPr/>
        </p:nvSpPr>
        <p:spPr>
          <a:xfrm>
            <a:off x="640080" y="3657600"/>
            <a:ext cx="10881360" cy="274320"/>
          </a:xfrm>
          <a:prstGeom prst="rect">
            <a:avLst/>
          </a:prstGeom>
          <a:noFill/>
        </p:spPr>
        <p:txBody>
          <a:bodyPr wrap="square" lIns="0" tIns="0" rIns="0" bIns="0" anchor="t">
            <a:spAutoFit/>
          </a:bodyPr>
          <a:lstStyle/>
          <a:p>
            <a:pPr algn="l"/>
            <a:r>
              <a:rPr sz="1200" b="1">
                <a:solidFill>
                  <a:srgbClr val="4E38AB"/>
                </a:solidFill>
                <a:latin typeface="Arial"/>
              </a:rPr>
              <a:t>SHORT BRANCH: patients (outlined). With the other two as observed, patients needed +17.1% to reach the plan.</a:t>
            </a:r>
          </a:p>
        </p:txBody>
      </p:sp>
      <p:sp>
        <p:nvSpPr>
          <p:cNvPr id="34" name="TextBox 32"/>
          <p:cNvSpPr txBox="1"/>
          <p:nvPr/>
        </p:nvSpPr>
        <p:spPr>
          <a:xfrm>
            <a:off x="640080" y="4069080"/>
            <a:ext cx="10881360" cy="274320"/>
          </a:xfrm>
          <a:prstGeom prst="rect">
            <a:avLst/>
          </a:prstGeom>
          <a:noFill/>
        </p:spPr>
        <p:txBody>
          <a:bodyPr wrap="square" lIns="0" tIns="0" rIns="0" bIns="0" anchor="t">
            <a:spAutoFit/>
          </a:bodyPr>
          <a:lstStyle/>
          <a:p>
            <a:pPr algn="l"/>
            <a:r>
              <a:rPr sz="1200" b="1">
                <a:solidFill>
                  <a:srgbClr val="1A1440"/>
                </a:solidFill>
                <a:latin typeface="Arial"/>
              </a:rPr>
              <a:t>5  Gap by city: tests short of plan (plan 515,740, actual 456,788)</a:t>
            </a:r>
          </a:p>
        </p:txBody>
      </p:sp>
      <p:sp>
        <p:nvSpPr>
          <p:cNvPr id="35" name="Rounded Rectangle 33"/>
          <p:cNvSpPr/>
          <p:nvPr/>
        </p:nvSpPr>
        <p:spPr>
          <a:xfrm>
            <a:off x="640080" y="4389120"/>
            <a:ext cx="1722120" cy="1280160"/>
          </a:xfrm>
          <a:prstGeom prst="roundRect">
            <a:avLst>
              <a:gd name="adj" fmla="val 8000"/>
            </a:avLst>
          </a:prstGeom>
          <a:solidFill>
            <a:srgbClr val="FFFFFF"/>
          </a:solidFill>
          <a:ln w="28575">
            <a:solidFill>
              <a:srgbClr val="B83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731519" y="4462272"/>
            <a:ext cx="1539240" cy="274320"/>
          </a:xfrm>
          <a:prstGeom prst="rect">
            <a:avLst/>
          </a:prstGeom>
          <a:noFill/>
        </p:spPr>
        <p:txBody>
          <a:bodyPr wrap="square" lIns="0" tIns="0" rIns="0" bIns="0" anchor="t">
            <a:spAutoFit/>
          </a:bodyPr>
          <a:lstStyle/>
          <a:p>
            <a:pPr algn="l"/>
            <a:r>
              <a:rPr sz="1200" b="1">
                <a:solidFill>
                  <a:srgbClr val="1A1440"/>
                </a:solidFill>
                <a:latin typeface="Arial"/>
              </a:rPr>
              <a:t>Chennai</a:t>
            </a:r>
          </a:p>
        </p:txBody>
      </p:sp>
      <p:sp>
        <p:nvSpPr>
          <p:cNvPr id="37" name="TextBox 35"/>
          <p:cNvSpPr txBox="1"/>
          <p:nvPr/>
        </p:nvSpPr>
        <p:spPr>
          <a:xfrm>
            <a:off x="731519" y="4754880"/>
            <a:ext cx="1539240" cy="411480"/>
          </a:xfrm>
          <a:prstGeom prst="rect">
            <a:avLst/>
          </a:prstGeom>
          <a:noFill/>
        </p:spPr>
        <p:txBody>
          <a:bodyPr wrap="square" lIns="0" tIns="0" rIns="0" bIns="0" anchor="t">
            <a:spAutoFit/>
          </a:bodyPr>
          <a:lstStyle/>
          <a:p>
            <a:pPr algn="l"/>
            <a:r>
              <a:rPr sz="2000" b="1">
                <a:solidFill>
                  <a:srgbClr val="B83227"/>
                </a:solidFill>
                <a:latin typeface="Georgia"/>
              </a:rPr>
              <a:t>−13.3K</a:t>
            </a:r>
          </a:p>
        </p:txBody>
      </p:sp>
      <p:sp>
        <p:nvSpPr>
          <p:cNvPr id="38" name="TextBox 36"/>
          <p:cNvSpPr txBox="1"/>
          <p:nvPr/>
        </p:nvSpPr>
        <p:spPr>
          <a:xfrm>
            <a:off x="731519" y="5212080"/>
            <a:ext cx="1539240" cy="411480"/>
          </a:xfrm>
          <a:prstGeom prst="rect">
            <a:avLst/>
          </a:prstGeom>
          <a:noFill/>
        </p:spPr>
        <p:txBody>
          <a:bodyPr wrap="square" lIns="0" tIns="0" rIns="0" bIns="0" anchor="t">
            <a:spAutoFit/>
          </a:bodyPr>
          <a:lstStyle/>
          <a:p>
            <a:pPr algn="l"/>
            <a:r>
              <a:rPr sz="1000" b="0">
                <a:solidFill>
                  <a:srgbClr val="6B6690"/>
                </a:solidFill>
                <a:latin typeface="Arial"/>
              </a:rPr>
              <a:t>grew +0.8%</a:t>
            </a:r>
          </a:p>
          <a:p>
            <a:pPr algn="l"/>
            <a:r>
              <a:rPr sz="1000" b="0">
                <a:solidFill>
                  <a:srgbClr val="6B6690"/>
                </a:solidFill>
                <a:latin typeface="Arial"/>
              </a:rPr>
              <a:t>plan +17.4%</a:t>
            </a:r>
          </a:p>
        </p:txBody>
      </p:sp>
      <p:sp>
        <p:nvSpPr>
          <p:cNvPr id="39" name="Rounded Rectangle 37"/>
          <p:cNvSpPr/>
          <p:nvPr/>
        </p:nvSpPr>
        <p:spPr>
          <a:xfrm>
            <a:off x="2471928" y="4389120"/>
            <a:ext cx="1722120" cy="1280160"/>
          </a:xfrm>
          <a:prstGeom prst="roundRect">
            <a:avLst>
              <a:gd name="adj" fmla="val 8000"/>
            </a:avLst>
          </a:prstGeom>
          <a:solidFill>
            <a:srgbClr val="FFFFFF"/>
          </a:solidFill>
          <a:ln w="12700">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8"/>
          <p:cNvSpPr txBox="1"/>
          <p:nvPr/>
        </p:nvSpPr>
        <p:spPr>
          <a:xfrm>
            <a:off x="2563368" y="4462272"/>
            <a:ext cx="1539240" cy="274320"/>
          </a:xfrm>
          <a:prstGeom prst="rect">
            <a:avLst/>
          </a:prstGeom>
          <a:noFill/>
        </p:spPr>
        <p:txBody>
          <a:bodyPr wrap="square" lIns="0" tIns="0" rIns="0" bIns="0" anchor="t">
            <a:spAutoFit/>
          </a:bodyPr>
          <a:lstStyle/>
          <a:p>
            <a:pPr algn="l"/>
            <a:r>
              <a:rPr sz="1200" b="1">
                <a:solidFill>
                  <a:srgbClr val="1A1440"/>
                </a:solidFill>
                <a:latin typeface="Arial"/>
              </a:rPr>
              <a:t>Bengaluru</a:t>
            </a:r>
          </a:p>
        </p:txBody>
      </p:sp>
      <p:sp>
        <p:nvSpPr>
          <p:cNvPr id="41" name="TextBox 39"/>
          <p:cNvSpPr txBox="1"/>
          <p:nvPr/>
        </p:nvSpPr>
        <p:spPr>
          <a:xfrm>
            <a:off x="2563368" y="4754880"/>
            <a:ext cx="1539240" cy="411480"/>
          </a:xfrm>
          <a:prstGeom prst="rect">
            <a:avLst/>
          </a:prstGeom>
          <a:noFill/>
        </p:spPr>
        <p:txBody>
          <a:bodyPr wrap="square" lIns="0" tIns="0" rIns="0" bIns="0" anchor="t">
            <a:spAutoFit/>
          </a:bodyPr>
          <a:lstStyle/>
          <a:p>
            <a:pPr algn="l"/>
            <a:r>
              <a:rPr sz="2000" b="1">
                <a:solidFill>
                  <a:srgbClr val="6B6690"/>
                </a:solidFill>
                <a:latin typeface="Georgia"/>
              </a:rPr>
              <a:t>−12.7K</a:t>
            </a:r>
          </a:p>
        </p:txBody>
      </p:sp>
      <p:sp>
        <p:nvSpPr>
          <p:cNvPr id="42" name="TextBox 40"/>
          <p:cNvSpPr txBox="1"/>
          <p:nvPr/>
        </p:nvSpPr>
        <p:spPr>
          <a:xfrm>
            <a:off x="2563368" y="5212080"/>
            <a:ext cx="1539240" cy="411480"/>
          </a:xfrm>
          <a:prstGeom prst="rect">
            <a:avLst/>
          </a:prstGeom>
          <a:noFill/>
        </p:spPr>
        <p:txBody>
          <a:bodyPr wrap="square" lIns="0" tIns="0" rIns="0" bIns="0" anchor="t">
            <a:spAutoFit/>
          </a:bodyPr>
          <a:lstStyle/>
          <a:p>
            <a:pPr algn="l"/>
            <a:r>
              <a:rPr sz="1000" b="0">
                <a:solidFill>
                  <a:srgbClr val="6B6690"/>
                </a:solidFill>
                <a:latin typeface="Arial"/>
              </a:rPr>
              <a:t>grew +7.6%</a:t>
            </a:r>
          </a:p>
          <a:p>
            <a:pPr algn="l"/>
            <a:r>
              <a:rPr sz="1000" b="0">
                <a:solidFill>
                  <a:srgbClr val="6B6690"/>
                </a:solidFill>
                <a:latin typeface="Arial"/>
              </a:rPr>
              <a:t>plan +20.4%</a:t>
            </a:r>
          </a:p>
        </p:txBody>
      </p:sp>
      <p:sp>
        <p:nvSpPr>
          <p:cNvPr id="43" name="Rounded Rectangle 41"/>
          <p:cNvSpPr/>
          <p:nvPr/>
        </p:nvSpPr>
        <p:spPr>
          <a:xfrm>
            <a:off x="4303776" y="4389120"/>
            <a:ext cx="1722120" cy="1280160"/>
          </a:xfrm>
          <a:prstGeom prst="roundRect">
            <a:avLst>
              <a:gd name="adj" fmla="val 8000"/>
            </a:avLst>
          </a:prstGeom>
          <a:solidFill>
            <a:srgbClr val="FFFFFF"/>
          </a:solidFill>
          <a:ln w="28575">
            <a:solidFill>
              <a:srgbClr val="B83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2"/>
          <p:cNvSpPr txBox="1"/>
          <p:nvPr/>
        </p:nvSpPr>
        <p:spPr>
          <a:xfrm>
            <a:off x="4395216" y="4462272"/>
            <a:ext cx="1539240" cy="274320"/>
          </a:xfrm>
          <a:prstGeom prst="rect">
            <a:avLst/>
          </a:prstGeom>
          <a:noFill/>
        </p:spPr>
        <p:txBody>
          <a:bodyPr wrap="square" lIns="0" tIns="0" rIns="0" bIns="0" anchor="t">
            <a:spAutoFit/>
          </a:bodyPr>
          <a:lstStyle/>
          <a:p>
            <a:pPr algn="l"/>
            <a:r>
              <a:rPr sz="1200" b="1">
                <a:solidFill>
                  <a:srgbClr val="1A1440"/>
                </a:solidFill>
                <a:latin typeface="Arial"/>
              </a:rPr>
              <a:t>Jaipur</a:t>
            </a:r>
          </a:p>
        </p:txBody>
      </p:sp>
      <p:sp>
        <p:nvSpPr>
          <p:cNvPr id="45" name="TextBox 43"/>
          <p:cNvSpPr txBox="1"/>
          <p:nvPr/>
        </p:nvSpPr>
        <p:spPr>
          <a:xfrm>
            <a:off x="4395216" y="4754880"/>
            <a:ext cx="1539240" cy="411480"/>
          </a:xfrm>
          <a:prstGeom prst="rect">
            <a:avLst/>
          </a:prstGeom>
          <a:noFill/>
        </p:spPr>
        <p:txBody>
          <a:bodyPr wrap="square" lIns="0" tIns="0" rIns="0" bIns="0" anchor="t">
            <a:spAutoFit/>
          </a:bodyPr>
          <a:lstStyle/>
          <a:p>
            <a:pPr algn="l"/>
            <a:r>
              <a:rPr sz="2000" b="1">
                <a:solidFill>
                  <a:srgbClr val="B83227"/>
                </a:solidFill>
                <a:latin typeface="Georgia"/>
              </a:rPr>
              <a:t>−12.2K</a:t>
            </a:r>
          </a:p>
        </p:txBody>
      </p:sp>
      <p:sp>
        <p:nvSpPr>
          <p:cNvPr id="46" name="TextBox 44"/>
          <p:cNvSpPr txBox="1"/>
          <p:nvPr/>
        </p:nvSpPr>
        <p:spPr>
          <a:xfrm>
            <a:off x="4395216" y="5212080"/>
            <a:ext cx="1539240" cy="411480"/>
          </a:xfrm>
          <a:prstGeom prst="rect">
            <a:avLst/>
          </a:prstGeom>
          <a:noFill/>
        </p:spPr>
        <p:txBody>
          <a:bodyPr wrap="square" lIns="0" tIns="0" rIns="0" bIns="0" anchor="t">
            <a:spAutoFit/>
          </a:bodyPr>
          <a:lstStyle/>
          <a:p>
            <a:pPr algn="l"/>
            <a:r>
              <a:rPr sz="1000" b="0">
                <a:solidFill>
                  <a:srgbClr val="6B6690"/>
                </a:solidFill>
                <a:latin typeface="Arial"/>
              </a:rPr>
              <a:t>grew −10.8%</a:t>
            </a:r>
          </a:p>
          <a:p>
            <a:pPr algn="l"/>
            <a:r>
              <a:rPr sz="1000" b="0">
                <a:solidFill>
                  <a:srgbClr val="6B6690"/>
                </a:solidFill>
                <a:latin typeface="Arial"/>
              </a:rPr>
              <a:t>plan +16.3%</a:t>
            </a:r>
          </a:p>
        </p:txBody>
      </p:sp>
      <p:sp>
        <p:nvSpPr>
          <p:cNvPr id="47" name="Rounded Rectangle 45"/>
          <p:cNvSpPr/>
          <p:nvPr/>
        </p:nvSpPr>
        <p:spPr>
          <a:xfrm>
            <a:off x="6135624" y="4389120"/>
            <a:ext cx="1722120" cy="1280160"/>
          </a:xfrm>
          <a:prstGeom prst="roundRect">
            <a:avLst>
              <a:gd name="adj" fmla="val 8000"/>
            </a:avLst>
          </a:prstGeom>
          <a:solidFill>
            <a:srgbClr val="FFFFFF"/>
          </a:solidFill>
          <a:ln w="12700">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6"/>
          <p:cNvSpPr txBox="1"/>
          <p:nvPr/>
        </p:nvSpPr>
        <p:spPr>
          <a:xfrm>
            <a:off x="6227064" y="4462272"/>
            <a:ext cx="1539240" cy="274320"/>
          </a:xfrm>
          <a:prstGeom prst="rect">
            <a:avLst/>
          </a:prstGeom>
          <a:noFill/>
        </p:spPr>
        <p:txBody>
          <a:bodyPr wrap="square" lIns="0" tIns="0" rIns="0" bIns="0" anchor="t">
            <a:spAutoFit/>
          </a:bodyPr>
          <a:lstStyle/>
          <a:p>
            <a:pPr algn="l"/>
            <a:r>
              <a:rPr sz="1200" b="1">
                <a:solidFill>
                  <a:srgbClr val="1A1440"/>
                </a:solidFill>
                <a:latin typeface="Arial"/>
              </a:rPr>
              <a:t>Hyderabad</a:t>
            </a:r>
          </a:p>
        </p:txBody>
      </p:sp>
      <p:sp>
        <p:nvSpPr>
          <p:cNvPr id="49" name="TextBox 47"/>
          <p:cNvSpPr txBox="1"/>
          <p:nvPr/>
        </p:nvSpPr>
        <p:spPr>
          <a:xfrm>
            <a:off x="6227064" y="4754880"/>
            <a:ext cx="1539240" cy="411480"/>
          </a:xfrm>
          <a:prstGeom prst="rect">
            <a:avLst/>
          </a:prstGeom>
          <a:noFill/>
        </p:spPr>
        <p:txBody>
          <a:bodyPr wrap="square" lIns="0" tIns="0" rIns="0" bIns="0" anchor="t">
            <a:spAutoFit/>
          </a:bodyPr>
          <a:lstStyle/>
          <a:p>
            <a:pPr algn="l"/>
            <a:r>
              <a:rPr sz="2000" b="1">
                <a:solidFill>
                  <a:srgbClr val="6B6690"/>
                </a:solidFill>
                <a:latin typeface="Georgia"/>
              </a:rPr>
              <a:t>−8.0K</a:t>
            </a:r>
          </a:p>
        </p:txBody>
      </p:sp>
      <p:sp>
        <p:nvSpPr>
          <p:cNvPr id="50" name="TextBox 48"/>
          <p:cNvSpPr txBox="1"/>
          <p:nvPr/>
        </p:nvSpPr>
        <p:spPr>
          <a:xfrm>
            <a:off x="6227064" y="5212080"/>
            <a:ext cx="1539240" cy="411480"/>
          </a:xfrm>
          <a:prstGeom prst="rect">
            <a:avLst/>
          </a:prstGeom>
          <a:noFill/>
        </p:spPr>
        <p:txBody>
          <a:bodyPr wrap="square" lIns="0" tIns="0" rIns="0" bIns="0" anchor="t">
            <a:spAutoFit/>
          </a:bodyPr>
          <a:lstStyle/>
          <a:p>
            <a:pPr algn="l"/>
            <a:r>
              <a:rPr sz="1000" b="0">
                <a:solidFill>
                  <a:srgbClr val="6B6690"/>
                </a:solidFill>
                <a:latin typeface="Arial"/>
              </a:rPr>
              <a:t>grew +7.4%</a:t>
            </a:r>
          </a:p>
          <a:p>
            <a:pPr algn="l"/>
            <a:r>
              <a:rPr sz="1000" b="0">
                <a:solidFill>
                  <a:srgbClr val="6B6690"/>
                </a:solidFill>
                <a:latin typeface="Arial"/>
              </a:rPr>
              <a:t>plan +18.3%</a:t>
            </a:r>
          </a:p>
        </p:txBody>
      </p:sp>
      <p:sp>
        <p:nvSpPr>
          <p:cNvPr id="51" name="Rounded Rectangle 49"/>
          <p:cNvSpPr/>
          <p:nvPr/>
        </p:nvSpPr>
        <p:spPr>
          <a:xfrm>
            <a:off x="7967472" y="4389120"/>
            <a:ext cx="1722120" cy="1280160"/>
          </a:xfrm>
          <a:prstGeom prst="roundRect">
            <a:avLst>
              <a:gd name="adj" fmla="val 8000"/>
            </a:avLst>
          </a:prstGeom>
          <a:solidFill>
            <a:srgbClr val="FFFFFF"/>
          </a:solidFill>
          <a:ln w="12700">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0"/>
          <p:cNvSpPr txBox="1"/>
          <p:nvPr/>
        </p:nvSpPr>
        <p:spPr>
          <a:xfrm>
            <a:off x="8058911" y="4462272"/>
            <a:ext cx="1539240" cy="274320"/>
          </a:xfrm>
          <a:prstGeom prst="rect">
            <a:avLst/>
          </a:prstGeom>
          <a:noFill/>
        </p:spPr>
        <p:txBody>
          <a:bodyPr wrap="square" lIns="0" tIns="0" rIns="0" bIns="0" anchor="t">
            <a:spAutoFit/>
          </a:bodyPr>
          <a:lstStyle/>
          <a:p>
            <a:pPr algn="l"/>
            <a:r>
              <a:rPr sz="1200" b="1">
                <a:solidFill>
                  <a:srgbClr val="1A1440"/>
                </a:solidFill>
                <a:latin typeface="Arial"/>
              </a:rPr>
              <a:t>Pune</a:t>
            </a:r>
          </a:p>
        </p:txBody>
      </p:sp>
      <p:sp>
        <p:nvSpPr>
          <p:cNvPr id="53" name="TextBox 51"/>
          <p:cNvSpPr txBox="1"/>
          <p:nvPr/>
        </p:nvSpPr>
        <p:spPr>
          <a:xfrm>
            <a:off x="8058911" y="4754880"/>
            <a:ext cx="1539240" cy="411480"/>
          </a:xfrm>
          <a:prstGeom prst="rect">
            <a:avLst/>
          </a:prstGeom>
          <a:noFill/>
        </p:spPr>
        <p:txBody>
          <a:bodyPr wrap="square" lIns="0" tIns="0" rIns="0" bIns="0" anchor="t">
            <a:spAutoFit/>
          </a:bodyPr>
          <a:lstStyle/>
          <a:p>
            <a:pPr algn="l"/>
            <a:r>
              <a:rPr sz="2000" b="1">
                <a:solidFill>
                  <a:srgbClr val="6B6690"/>
                </a:solidFill>
                <a:latin typeface="Georgia"/>
              </a:rPr>
              <a:t>−6.8K</a:t>
            </a:r>
          </a:p>
        </p:txBody>
      </p:sp>
      <p:sp>
        <p:nvSpPr>
          <p:cNvPr id="54" name="TextBox 52"/>
          <p:cNvSpPr txBox="1"/>
          <p:nvPr/>
        </p:nvSpPr>
        <p:spPr>
          <a:xfrm>
            <a:off x="8058911" y="5212080"/>
            <a:ext cx="1539240" cy="411480"/>
          </a:xfrm>
          <a:prstGeom prst="rect">
            <a:avLst/>
          </a:prstGeom>
          <a:noFill/>
        </p:spPr>
        <p:txBody>
          <a:bodyPr wrap="square" lIns="0" tIns="0" rIns="0" bIns="0" anchor="t">
            <a:spAutoFit/>
          </a:bodyPr>
          <a:lstStyle/>
          <a:p>
            <a:pPr algn="l"/>
            <a:r>
              <a:rPr sz="1000" b="0">
                <a:solidFill>
                  <a:srgbClr val="6B6690"/>
                </a:solidFill>
                <a:latin typeface="Arial"/>
              </a:rPr>
              <a:t>grew +8.1%</a:t>
            </a:r>
          </a:p>
          <a:p>
            <a:pPr algn="l"/>
            <a:r>
              <a:rPr sz="1000" b="0">
                <a:solidFill>
                  <a:srgbClr val="6B6690"/>
                </a:solidFill>
                <a:latin typeface="Arial"/>
              </a:rPr>
              <a:t>plan +19.4%</a:t>
            </a:r>
          </a:p>
        </p:txBody>
      </p:sp>
      <p:sp>
        <p:nvSpPr>
          <p:cNvPr id="55" name="Rounded Rectangle 53"/>
          <p:cNvSpPr/>
          <p:nvPr/>
        </p:nvSpPr>
        <p:spPr>
          <a:xfrm>
            <a:off x="9799320" y="4389120"/>
            <a:ext cx="1722120" cy="1280160"/>
          </a:xfrm>
          <a:prstGeom prst="roundRect">
            <a:avLst>
              <a:gd name="adj" fmla="val 8000"/>
            </a:avLst>
          </a:prstGeom>
          <a:solidFill>
            <a:srgbClr val="FFFFFF"/>
          </a:solidFill>
          <a:ln w="12700">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4"/>
          <p:cNvSpPr txBox="1"/>
          <p:nvPr/>
        </p:nvSpPr>
        <p:spPr>
          <a:xfrm>
            <a:off x="9890760" y="4462272"/>
            <a:ext cx="1539240" cy="274320"/>
          </a:xfrm>
          <a:prstGeom prst="rect">
            <a:avLst/>
          </a:prstGeom>
          <a:noFill/>
        </p:spPr>
        <p:txBody>
          <a:bodyPr wrap="square" lIns="0" tIns="0" rIns="0" bIns="0" anchor="t">
            <a:spAutoFit/>
          </a:bodyPr>
          <a:lstStyle/>
          <a:p>
            <a:pPr algn="l"/>
            <a:r>
              <a:rPr sz="1200" b="1">
                <a:solidFill>
                  <a:srgbClr val="1A1440"/>
                </a:solidFill>
                <a:latin typeface="Arial"/>
              </a:rPr>
              <a:t>Ahmedabad</a:t>
            </a:r>
          </a:p>
        </p:txBody>
      </p:sp>
      <p:sp>
        <p:nvSpPr>
          <p:cNvPr id="57" name="TextBox 55"/>
          <p:cNvSpPr txBox="1"/>
          <p:nvPr/>
        </p:nvSpPr>
        <p:spPr>
          <a:xfrm>
            <a:off x="9890760" y="4754880"/>
            <a:ext cx="1539240" cy="411480"/>
          </a:xfrm>
          <a:prstGeom prst="rect">
            <a:avLst/>
          </a:prstGeom>
          <a:noFill/>
        </p:spPr>
        <p:txBody>
          <a:bodyPr wrap="square" lIns="0" tIns="0" rIns="0" bIns="0" anchor="t">
            <a:spAutoFit/>
          </a:bodyPr>
          <a:lstStyle/>
          <a:p>
            <a:pPr algn="l"/>
            <a:r>
              <a:rPr sz="2000" b="1">
                <a:solidFill>
                  <a:srgbClr val="6B6690"/>
                </a:solidFill>
                <a:latin typeface="Georgia"/>
              </a:rPr>
              <a:t>−6.0K</a:t>
            </a:r>
          </a:p>
        </p:txBody>
      </p:sp>
      <p:sp>
        <p:nvSpPr>
          <p:cNvPr id="58" name="TextBox 56"/>
          <p:cNvSpPr txBox="1"/>
          <p:nvPr/>
        </p:nvSpPr>
        <p:spPr>
          <a:xfrm>
            <a:off x="9890760" y="5212080"/>
            <a:ext cx="1539240" cy="411480"/>
          </a:xfrm>
          <a:prstGeom prst="rect">
            <a:avLst/>
          </a:prstGeom>
          <a:noFill/>
        </p:spPr>
        <p:txBody>
          <a:bodyPr wrap="square" lIns="0" tIns="0" rIns="0" bIns="0" anchor="t">
            <a:spAutoFit/>
          </a:bodyPr>
          <a:lstStyle/>
          <a:p>
            <a:pPr algn="l"/>
            <a:r>
              <a:rPr sz="1000" b="0">
                <a:solidFill>
                  <a:srgbClr val="6B6690"/>
                </a:solidFill>
                <a:latin typeface="Arial"/>
              </a:rPr>
              <a:t>grew +10.5%</a:t>
            </a:r>
          </a:p>
          <a:p>
            <a:pPr algn="l"/>
            <a:r>
              <a:rPr sz="1000" b="0">
                <a:solidFill>
                  <a:srgbClr val="6B6690"/>
                </a:solidFill>
                <a:latin typeface="Arial"/>
              </a:rPr>
              <a:t>plan +18.3%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graphicFrame>
        <p:nvGraphicFramePr>
          <p:cNvPr id="3" name="Chart 0"/>
          <p:cNvGraphicFramePr/>
          <p:nvPr/>
        </p:nvGraphicFramePr>
        <p:xfrm>
          <a:off x="548640" y="1645920"/>
          <a:ext cx="5408676" cy="2709851"/>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48640" y="4478946"/>
            <a:ext cx="2612898" cy="780109"/>
          </a:xfrm>
          <a:prstGeom prst="rect">
            <a:avLst/>
          </a:prstGeom>
          <a:solidFill>
            <a:srgbClr val="E6F0E0"/>
          </a:solidFill>
          <a:ln w="12700">
            <a:solidFill>
              <a:srgbClr val="E6F0E0"/>
            </a:solidFill>
            <a:prstDash val="solid"/>
          </a:ln>
        </p:spPr>
        <p:txBody>
          <a:bodyPr/>
          <a:p/>
        </p:txBody>
      </p:sp>
      <p:sp>
        <p:nvSpPr>
          <p:cNvPr id="5" name="Text 2"/>
          <p:cNvSpPr txBox="1"/>
          <p:nvPr/>
        </p:nvSpPr>
        <p:spPr>
          <a:xfrm>
            <a:off x="731520" y="4520005"/>
            <a:ext cx="2247138" cy="246350"/>
          </a:xfrm>
          <a:prstGeom prst="rect">
            <a:avLst/>
          </a:prstGeom>
          <a:noFill/>
          <a:ln/>
        </p:spPr>
        <p:txBody>
          <a:bodyPr wrap="square" lIns="0" tIns="0" rIns="0" bIns="0" rtlCol="0" anchor="ctr"/>
          <a:lstStyle/>
          <a:p>
            <a:pPr marL="0" indent="0">
              <a:buNone/>
            </a:pPr>
            <a:r>
              <a:rPr lang="en-US" sz="1200" dirty="0">
                <a:solidFill>
                  <a:srgbClr val="6B6690"/>
                </a:solidFill>
              </a:rPr>
              <a:t>Jan to Mar (old system)</a:t>
            </a:r>
            <a:endParaRPr lang="en-US" sz="1200" dirty="0"/>
          </a:p>
        </p:txBody>
      </p:sp>
      <p:sp>
        <p:nvSpPr>
          <p:cNvPr id="6" name="Text 3"/>
          <p:cNvSpPr txBox="1"/>
          <p:nvPr/>
        </p:nvSpPr>
        <p:spPr>
          <a:xfrm>
            <a:off x="731520" y="4766355"/>
            <a:ext cx="2247138" cy="410584"/>
          </a:xfrm>
          <a:prstGeom prst="rect">
            <a:avLst/>
          </a:prstGeom>
          <a:noFill/>
          <a:ln/>
        </p:spPr>
        <p:txBody>
          <a:bodyPr wrap="square" lIns="0" tIns="0" rIns="0" bIns="0" rtlCol="0" anchor="ctr"/>
          <a:lstStyle/>
          <a:p>
            <a:pPr marL="0" indent="0">
              <a:buNone/>
            </a:pPr>
            <a:r>
              <a:rPr lang="en-US" sz="2000" b="1" dirty="0">
                <a:solidFill>
                  <a:srgbClr val="548235"/>
                </a:solidFill>
              </a:rPr>
              <a:t>Visits +1.0%</a:t>
            </a:r>
            <a:endParaRPr lang="en-US" sz="2000" dirty="0"/>
          </a:p>
        </p:txBody>
      </p:sp>
      <p:sp>
        <p:nvSpPr>
          <p:cNvPr id="7" name="Shape 4"/>
          <p:cNvSpPr/>
          <p:nvPr/>
        </p:nvSpPr>
        <p:spPr>
          <a:xfrm>
            <a:off x="3344418" y="4478946"/>
            <a:ext cx="2612898" cy="780109"/>
          </a:xfrm>
          <a:prstGeom prst="rect">
            <a:avLst/>
          </a:prstGeom>
          <a:solidFill>
            <a:srgbClr val="FBE5E1"/>
          </a:solidFill>
          <a:ln w="12700">
            <a:solidFill>
              <a:srgbClr val="FBE5E1"/>
            </a:solidFill>
            <a:prstDash val="solid"/>
          </a:ln>
        </p:spPr>
        <p:txBody>
          <a:bodyPr/>
          <a:p/>
        </p:txBody>
      </p:sp>
      <p:sp>
        <p:nvSpPr>
          <p:cNvPr id="8" name="Text 5"/>
          <p:cNvSpPr txBox="1"/>
          <p:nvPr/>
        </p:nvSpPr>
        <p:spPr>
          <a:xfrm>
            <a:off x="3527298" y="4520005"/>
            <a:ext cx="2247138" cy="246350"/>
          </a:xfrm>
          <a:prstGeom prst="rect">
            <a:avLst/>
          </a:prstGeom>
          <a:noFill/>
          <a:ln/>
        </p:spPr>
        <p:txBody>
          <a:bodyPr wrap="square" lIns="0" tIns="0" rIns="0" bIns="0" rtlCol="0" anchor="ctr"/>
          <a:lstStyle/>
          <a:p>
            <a:pPr marL="0" indent="0">
              <a:buNone/>
            </a:pPr>
            <a:r>
              <a:rPr lang="en-US" sz="1200" dirty="0">
                <a:solidFill>
                  <a:srgbClr val="6B6690"/>
                </a:solidFill>
              </a:rPr>
              <a:t>Apr to Jun (new system)</a:t>
            </a:r>
            <a:endParaRPr lang="en-US" sz="1200" dirty="0"/>
          </a:p>
        </p:txBody>
      </p:sp>
      <p:sp>
        <p:nvSpPr>
          <p:cNvPr id="9" name="Text 6"/>
          <p:cNvSpPr txBox="1"/>
          <p:nvPr/>
        </p:nvSpPr>
        <p:spPr>
          <a:xfrm>
            <a:off x="3527298" y="4766355"/>
            <a:ext cx="2247138" cy="410584"/>
          </a:xfrm>
          <a:prstGeom prst="rect">
            <a:avLst/>
          </a:prstGeom>
          <a:noFill/>
          <a:ln/>
        </p:spPr>
        <p:txBody>
          <a:bodyPr wrap="square" lIns="0" tIns="0" rIns="0" bIns="0" rtlCol="0" anchor="ctr"/>
          <a:lstStyle/>
          <a:p>
            <a:pPr marL="0" indent="0">
              <a:buNone/>
            </a:pPr>
            <a:r>
              <a:rPr lang="en-US" sz="2000" b="1" dirty="0">
                <a:solidFill>
                  <a:srgbClr val="B83227"/>
                </a:solidFill>
              </a:rPr>
              <a:t>Visits -5.0%</a:t>
            </a:r>
            <a:endParaRPr lang="en-US" sz="2000" dirty="0"/>
          </a:p>
        </p:txBody>
      </p:sp>
      <p:graphicFrame>
        <p:nvGraphicFramePr>
          <p:cNvPr id="10" name="Chart 1"/>
          <p:cNvGraphicFramePr/>
          <p:nvPr/>
        </p:nvGraphicFramePr>
        <p:xfrm>
          <a:off x="6231636" y="1645920"/>
          <a:ext cx="5408676" cy="2709851"/>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6231636" y="4478946"/>
            <a:ext cx="2612898" cy="780109"/>
          </a:xfrm>
          <a:prstGeom prst="rect">
            <a:avLst/>
          </a:prstGeom>
          <a:solidFill>
            <a:srgbClr val="FBE5E1"/>
          </a:solidFill>
          <a:ln w="12700">
            <a:solidFill>
              <a:srgbClr val="FBE5E1"/>
            </a:solidFill>
            <a:prstDash val="solid"/>
          </a:ln>
        </p:spPr>
        <p:txBody>
          <a:bodyPr/>
          <a:p/>
        </p:txBody>
      </p:sp>
      <p:sp>
        <p:nvSpPr>
          <p:cNvPr id="12" name="Text 8"/>
          <p:cNvSpPr txBox="1"/>
          <p:nvPr/>
        </p:nvSpPr>
        <p:spPr>
          <a:xfrm>
            <a:off x="6414516" y="4520005"/>
            <a:ext cx="2247138" cy="246350"/>
          </a:xfrm>
          <a:prstGeom prst="rect">
            <a:avLst/>
          </a:prstGeom>
          <a:noFill/>
          <a:ln/>
        </p:spPr>
        <p:txBody>
          <a:bodyPr wrap="square" lIns="0" tIns="0" rIns="0" bIns="0" rtlCol="0" anchor="ctr"/>
          <a:lstStyle/>
          <a:p>
            <a:pPr marL="0" indent="0">
              <a:buNone/>
            </a:pPr>
            <a:r>
              <a:rPr lang="en-US" sz="1200" dirty="0">
                <a:solidFill>
                  <a:srgbClr val="6B6690"/>
                </a:solidFill>
              </a:rPr>
              <a:t>Jan to Mar (old system)</a:t>
            </a:r>
            <a:endParaRPr lang="en-US" sz="1200" dirty="0"/>
          </a:p>
        </p:txBody>
      </p:sp>
      <p:sp>
        <p:nvSpPr>
          <p:cNvPr id="13" name="Text 9"/>
          <p:cNvSpPr txBox="1"/>
          <p:nvPr/>
        </p:nvSpPr>
        <p:spPr>
          <a:xfrm>
            <a:off x="6414516" y="4766355"/>
            <a:ext cx="2247138" cy="410584"/>
          </a:xfrm>
          <a:prstGeom prst="rect">
            <a:avLst/>
          </a:prstGeom>
          <a:noFill/>
          <a:ln/>
        </p:spPr>
        <p:txBody>
          <a:bodyPr wrap="square" lIns="0" tIns="0" rIns="0" bIns="0" rtlCol="0" anchor="ctr"/>
          <a:lstStyle/>
          <a:p>
            <a:pPr marL="0" indent="0">
              <a:buNone/>
            </a:pPr>
            <a:r>
              <a:rPr lang="en-US" sz="2000" b="1" dirty="0">
                <a:solidFill>
                  <a:srgbClr val="B83227"/>
                </a:solidFill>
              </a:rPr>
              <a:t>Visits -15.8%</a:t>
            </a:r>
            <a:endParaRPr lang="en-US" sz="2000" dirty="0"/>
          </a:p>
        </p:txBody>
      </p:sp>
      <p:sp>
        <p:nvSpPr>
          <p:cNvPr id="14" name="Shape 10"/>
          <p:cNvSpPr/>
          <p:nvPr/>
        </p:nvSpPr>
        <p:spPr>
          <a:xfrm>
            <a:off x="9027414" y="4478946"/>
            <a:ext cx="2612898" cy="780109"/>
          </a:xfrm>
          <a:prstGeom prst="rect">
            <a:avLst/>
          </a:prstGeom>
          <a:solidFill>
            <a:srgbClr val="FBE5E1"/>
          </a:solidFill>
          <a:ln w="12700">
            <a:solidFill>
              <a:srgbClr val="FBE5E1"/>
            </a:solidFill>
            <a:prstDash val="solid"/>
          </a:ln>
        </p:spPr>
        <p:txBody>
          <a:bodyPr/>
          <a:p/>
        </p:txBody>
      </p:sp>
      <p:sp>
        <p:nvSpPr>
          <p:cNvPr id="15" name="Text 11"/>
          <p:cNvSpPr txBox="1"/>
          <p:nvPr/>
        </p:nvSpPr>
        <p:spPr>
          <a:xfrm>
            <a:off x="9210294" y="4520005"/>
            <a:ext cx="2247138" cy="246350"/>
          </a:xfrm>
          <a:prstGeom prst="rect">
            <a:avLst/>
          </a:prstGeom>
          <a:noFill/>
          <a:ln/>
        </p:spPr>
        <p:txBody>
          <a:bodyPr wrap="square" lIns="0" tIns="0" rIns="0" bIns="0" rtlCol="0" anchor="ctr"/>
          <a:lstStyle/>
          <a:p>
            <a:pPr marL="0" indent="0">
              <a:buNone/>
            </a:pPr>
            <a:r>
              <a:rPr lang="en-US" sz="1200" dirty="0">
                <a:solidFill>
                  <a:srgbClr val="6B6690"/>
                </a:solidFill>
              </a:rPr>
              <a:t>Apr to Jun (new system)</a:t>
            </a:r>
            <a:endParaRPr lang="en-US" sz="1200" dirty="0"/>
          </a:p>
        </p:txBody>
      </p:sp>
      <p:sp>
        <p:nvSpPr>
          <p:cNvPr id="16" name="Text 12"/>
          <p:cNvSpPr txBox="1"/>
          <p:nvPr/>
        </p:nvSpPr>
        <p:spPr>
          <a:xfrm>
            <a:off x="9210294" y="4766355"/>
            <a:ext cx="2247138" cy="410584"/>
          </a:xfrm>
          <a:prstGeom prst="rect">
            <a:avLst/>
          </a:prstGeom>
          <a:noFill/>
          <a:ln/>
        </p:spPr>
        <p:txBody>
          <a:bodyPr wrap="square" lIns="0" tIns="0" rIns="0" bIns="0" rtlCol="0" anchor="ctr"/>
          <a:lstStyle/>
          <a:p>
            <a:pPr marL="0" indent="0">
              <a:buNone/>
            </a:pPr>
            <a:r>
              <a:rPr lang="en-US" sz="2000" b="1" dirty="0">
                <a:solidFill>
                  <a:srgbClr val="B83227"/>
                </a:solidFill>
              </a:rPr>
              <a:t>Visits -8.4%</a:t>
            </a:r>
            <a:endParaRPr lang="en-US" sz="2000" dirty="0"/>
          </a:p>
        </p:txBody>
      </p:sp>
      <p:sp>
        <p:nvSpPr>
          <p:cNvPr id="17" name="Shape 13"/>
          <p:cNvSpPr/>
          <p:nvPr/>
        </p:nvSpPr>
        <p:spPr>
          <a:xfrm>
            <a:off x="548640" y="5382230"/>
            <a:ext cx="11091672" cy="451642"/>
          </a:xfrm>
          <a:prstGeom prst="rect">
            <a:avLst/>
          </a:prstGeom>
          <a:solidFill>
            <a:srgbClr val="1A1440"/>
          </a:solidFill>
          <a:ln w="12700">
            <a:solidFill>
              <a:srgbClr val="1A1440"/>
            </a:solidFill>
            <a:prstDash val="solid"/>
          </a:ln>
        </p:spPr>
        <p:txBody>
          <a:bodyPr/>
          <a:p/>
        </p:txBody>
      </p:sp>
      <p:sp>
        <p:nvSpPr>
          <p:cNvPr id="18" name="Text 14"/>
          <p:cNvSpPr txBox="1"/>
          <p:nvPr/>
        </p:nvSpPr>
        <p:spPr>
          <a:xfrm>
            <a:off x="822960" y="5382230"/>
            <a:ext cx="10543032" cy="451642"/>
          </a:xfrm>
          <a:prstGeom prst="rect">
            <a:avLst/>
          </a:prstGeom>
          <a:noFill/>
          <a:ln/>
        </p:spPr>
        <p:txBody>
          <a:bodyPr wrap="square" lIns="0" tIns="0" rIns="0" bIns="0" rtlCol="0" anchor="ctr"/>
          <a:lstStyle/>
          <a:p>
            <a:pPr marL="0" indent="0">
              <a:buNone/>
            </a:pPr>
            <a:r>
              <a:rPr lang="en-US" sz="1400" b="1" dirty="0">
                <a:solidFill>
                  <a:srgbClr val="FFFFFF"/>
                </a:solidFill>
              </a:rPr>
              <a:t>The other four cities grew visits by 4.4% to 6.1% in April to June, so this is not a problem across all cities.</a:t>
            </a:r>
            <a:endParaRPr lang="en-US" sz="1400" dirty="0"/>
          </a:p>
        </p:txBody>
      </p:sp>
      <p:sp>
        <p:nvSpPr>
          <p:cNvPr id="19" name="Text 15"/>
          <p:cNvSpPr txBox="1"/>
          <p:nvPr/>
        </p:nvSpPr>
        <p:spPr>
          <a:xfrm>
            <a:off x="457200" y="5897880"/>
            <a:ext cx="11247120" cy="292608"/>
          </a:xfrm>
          <a:prstGeom prst="rect">
            <a:avLst/>
          </a:prstGeom>
          <a:noFill/>
          <a:ln/>
        </p:spPr>
        <p:txBody>
          <a:bodyPr wrap="square" lIns="0" tIns="0" rIns="0" bIns="0" rtlCol="0" anchor="t"/>
          <a:lstStyle/>
          <a:p>
            <a:pPr marL="0" indent="0">
              <a:buNone/>
            </a:pPr>
            <a:r>
              <a:rPr lang="en-US" sz="900" dirty="0">
                <a:solidFill>
                  <a:schemeClr val="accent6"/>
                </a:solidFill>
              </a:rPr>
              <a:t>Source: current bookings by appointment date, H1 2026 vs H1 2025.</a:t>
            </a:r>
            <a:endParaRPr lang="en-US" sz="1000" dirty="0"/>
          </a:p>
        </p:txBody>
      </p:sp>
      <p:sp>
        <p:nvSpPr>
          <p:cNvPr id="20" name="Rounded Rectangle 1"/>
          <p:cNvSpPr/>
          <p:nvPr/>
        </p:nvSpPr>
        <p:spPr>
          <a:xfrm>
            <a:off x="0" y="0"/>
            <a:ext cx="12191695" cy="73152"/>
          </a:xfrm>
          <a:prstGeom prst="roundRect">
            <a:avLst>
              <a:gd name="adj" fmla="val 8000"/>
            </a:avLst>
          </a:prstGeom>
          <a:solidFill>
            <a:srgbClr val="4E38AB"/>
          </a:solidFill>
          <a:ln>
            <a:noFill/>
          </a:ln>
          <a:effectLst/>
        </p:spPr>
        <p:txBody>
          <a:bodyPr lIns="0" tIns="0" rIns="0" bIns="0" rtlCol="0" anchor="ctr"/>
          <a:lstStyle/>
          <a:p>
            <a:endParaRPr lang="en-US"/>
          </a:p>
        </p:txBody>
      </p:sp>
      <p:sp>
        <p:nvSpPr>
          <p:cNvPr id="21" name="TextBox"/>
          <p:cNvSpPr txBox="1"/>
          <p:nvPr/>
        </p:nvSpPr>
        <p:spPr>
          <a:xfrm>
            <a:off x="457200" y="228600"/>
            <a:ext cx="7315200" cy="365760"/>
          </a:xfrm>
          <a:prstGeom prst="rect">
            <a:avLst/>
          </a:prstGeom>
          <a:noFill/>
        </p:spPr>
        <p:txBody>
          <a:bodyPr wrap="square" anchor="t">
            <a:noAutofit/>
          </a:bodyPr>
          <a:lstStyle/>
          <a:p>
            <a:pPr algn="l">
              <a:buNone/>
            </a:pPr>
            <a:r>
              <a:rPr lang="en-US" sz="1000" b="1" dirty="0">
                <a:solidFill>
                  <a:srgbClr val="4E38AB"/>
                </a:solidFill>
                <a:latin typeface="Arial"/>
              </a:rPr>
              <a:t>4 · BRIEF B · THE PICTURE</a:t>
            </a:r>
          </a:p>
        </p:txBody>
      </p:sp>
      <p:sp>
        <p:nvSpPr>
          <p:cNvPr id="22" name="TextBox"/>
          <p:cNvSpPr txBox="1"/>
          <p:nvPr/>
        </p:nvSpPr>
        <p:spPr>
          <a:xfrm>
            <a:off x="10332720" y="228600"/>
            <a:ext cx="1463040" cy="365760"/>
          </a:xfrm>
          <a:prstGeom prst="rect">
            <a:avLst/>
          </a:prstGeom>
          <a:noFill/>
        </p:spPr>
        <p:txBody>
          <a:bodyPr wrap="square" anchor="t">
            <a:noAutofit/>
          </a:bodyPr>
          <a:lstStyle/>
          <a:p>
            <a:pPr algn="r">
              <a:buNone/>
            </a:pPr>
            <a:r>
              <a:rPr lang="en-US" sz="1000" b="0" dirty="0">
                <a:solidFill>
                  <a:srgbClr val="6B6690"/>
                </a:solidFill>
                <a:latin typeface="Arial"/>
              </a:rPr>
              <a:t>4 / 9</a:t>
            </a:r>
          </a:p>
        </p:txBody>
      </p:sp>
      <p:pic>
        <p:nvPicPr>
          <p:cNvPr id="23" name="Picture 4" descr="IIT Gandhinagar seal"/>
          <p:cNvPicPr>
            <a:picLocks noChangeAspect="1"/>
          </p:cNvPicPr>
          <p:nvPr/>
        </p:nvPicPr>
        <p:blipFill>
          <a:blip r:embed="rId5"/>
          <a:stretch>
            <a:fillRect/>
          </a:stretch>
        </p:blipFill>
        <p:spPr>
          <a:xfrm>
            <a:off x="457200" y="6263640"/>
            <a:ext cx="411480" cy="411480"/>
          </a:xfrm>
          <a:prstGeom prst="rect">
            <a:avLst/>
          </a:prstGeom>
        </p:spPr>
      </p:pic>
      <p:sp>
        <p:nvSpPr>
          <p:cNvPr id="24" name="TextBox"/>
          <p:cNvSpPr txBox="1"/>
          <p:nvPr/>
        </p:nvSpPr>
        <p:spPr>
          <a:xfrm>
            <a:off x="960120" y="6309360"/>
            <a:ext cx="9144000" cy="365760"/>
          </a:xfrm>
          <a:prstGeom prst="rect">
            <a:avLst/>
          </a:prstGeom>
          <a:noFill/>
        </p:spPr>
        <p:txBody>
          <a:bodyPr wrap="square" anchor="t">
            <a:noAutofit/>
          </a:bodyPr>
          <a:lstStyle/>
          <a:p>
            <a:pPr algn="l">
              <a:buNone/>
            </a:pPr>
            <a:r>
              <a:rPr lang="en-US" sz="800" b="0" dirty="0">
                <a:solidFill>
                  <a:srgbClr val="6B6690"/>
                </a:solidFill>
                <a:latin typeface="Arial"/>
              </a:rPr>
              <a:t>Indian Institute of Technology Gandhinagar · PG Diploma in AI-ML and Agentic AI Engineering · Cohort 2 · Build 1</a:t>
            </a:r>
          </a:p>
        </p:txBody>
      </p:sp>
      <p:sp>
        <p:nvSpPr>
          <p:cNvPr id="25"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Brief B: Jaipur fell before the new system, Chennai after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graphicFrame>
        <p:nvGraphicFramePr>
          <p:cNvPr id="3" name="Chart 0"/>
          <p:cNvGraphicFramePr/>
          <p:nvPr/>
        </p:nvGraphicFramePr>
        <p:xfrm>
          <a:off x="548640" y="1645920"/>
          <a:ext cx="7406640" cy="4105835"/>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8229600" y="1728037"/>
            <a:ext cx="3410712" cy="2135034"/>
          </a:xfrm>
          <a:prstGeom prst="rect">
            <a:avLst/>
          </a:prstGeom>
          <a:solidFill>
            <a:srgbClr val="F3F1FB"/>
          </a:solidFill>
          <a:ln w="12700">
            <a:solidFill>
              <a:srgbClr val="F3F1FB"/>
            </a:solidFill>
            <a:prstDash val="solid"/>
          </a:ln>
        </p:spPr>
        <p:txBody>
          <a:bodyPr/>
          <a:p/>
        </p:txBody>
      </p:sp>
      <p:sp>
        <p:nvSpPr>
          <p:cNvPr id="5" name="Text 2"/>
          <p:cNvSpPr txBox="1"/>
          <p:nvPr/>
        </p:nvSpPr>
        <p:spPr>
          <a:xfrm>
            <a:off x="8458200" y="1728037"/>
            <a:ext cx="2953512" cy="2135034"/>
          </a:xfrm>
          <a:prstGeom prst="rect">
            <a:avLst/>
          </a:prstGeom>
          <a:noFill/>
          <a:ln/>
        </p:spPr>
        <p:txBody>
          <a:bodyPr wrap="square" lIns="0" tIns="0" rIns="0" bIns="0" rtlCol="0" anchor="ctr"/>
          <a:lstStyle/>
          <a:p>
            <a:pPr marL="0" indent="0">
              <a:spcAft>
                <a:spcPts val="600"/>
              </a:spcAft>
              <a:buNone/>
            </a:pPr>
            <a:r>
              <a:rPr lang="en-US" sz="1500" b="1" dirty="0">
                <a:solidFill>
                  <a:srgbClr val="1A1440"/>
                </a:solidFill>
              </a:rPr>
              <a:t>How we checked</a:t>
            </a:r>
            <a:endParaRPr lang="en-US" sz="1500" dirty="0"/>
          </a:p>
          <a:p>
            <a:pPr marL="0" indent="0">
              <a:spcAft>
                <a:spcPts val="600"/>
              </a:spcAft>
              <a:buNone/>
            </a:pPr>
            <a:r>
              <a:rPr lang="en-US" sz="1400" dirty="0">
                <a:solidFill>
                  <a:srgbClr val="1A1440"/>
                </a:solidFill>
              </a:rPr>
              <a:t>If the new system only changed how bookings are counted, booked tests would fall but collected and tested counts would not.</a:t>
            </a:r>
            <a:endParaRPr lang="en-US" sz="1500" dirty="0"/>
          </a:p>
          <a:p>
            <a:pPr marL="0" indent="0">
              <a:spcAft>
                <a:spcPts val="600"/>
              </a:spcAft>
              <a:buNone/>
            </a:pPr>
            <a:r>
              <a:rPr lang="en-US" sz="1400" b="1" dirty="0">
                <a:solidFill>
                  <a:srgbClr val="1A1440"/>
                </a:solidFill>
              </a:rPr>
              <a:t>We see the opposite: they fell more.</a:t>
            </a:r>
            <a:endParaRPr lang="en-US" sz="1500" dirty="0"/>
          </a:p>
        </p:txBody>
      </p:sp>
      <p:sp>
        <p:nvSpPr>
          <p:cNvPr id="6" name="Shape 3"/>
          <p:cNvSpPr/>
          <p:nvPr/>
        </p:nvSpPr>
        <p:spPr>
          <a:xfrm>
            <a:off x="8229600" y="3986246"/>
            <a:ext cx="3410712" cy="1765509"/>
          </a:xfrm>
          <a:prstGeom prst="rect">
            <a:avLst/>
          </a:prstGeom>
          <a:solidFill>
            <a:srgbClr val="FBE5E1"/>
          </a:solidFill>
          <a:ln w="12700">
            <a:solidFill>
              <a:srgbClr val="FBE5E1"/>
            </a:solidFill>
            <a:prstDash val="solid"/>
          </a:ln>
        </p:spPr>
        <p:txBody>
          <a:bodyPr/>
          <a:p/>
        </p:txBody>
      </p:sp>
      <p:sp>
        <p:nvSpPr>
          <p:cNvPr id="7" name="Text 4"/>
          <p:cNvSpPr txBox="1"/>
          <p:nvPr/>
        </p:nvSpPr>
        <p:spPr>
          <a:xfrm>
            <a:off x="8458200" y="3986246"/>
            <a:ext cx="2953512" cy="1765509"/>
          </a:xfrm>
          <a:prstGeom prst="rect">
            <a:avLst/>
          </a:prstGeom>
          <a:noFill/>
          <a:ln/>
        </p:spPr>
        <p:txBody>
          <a:bodyPr wrap="square" lIns="0" tIns="0" rIns="0" bIns="0" rtlCol="0" anchor="ctr"/>
          <a:lstStyle/>
          <a:p>
            <a:pPr marL="0" indent="0">
              <a:spcAft>
                <a:spcPts val="400"/>
              </a:spcAft>
              <a:buNone/>
            </a:pPr>
            <a:r>
              <a:rPr lang="en-US" sz="1300" b="1" dirty="0">
                <a:solidFill>
                  <a:srgbClr val="6B6690"/>
                </a:solidFill>
              </a:rPr>
              <a:t>Bookings with no collection record</a:t>
            </a:r>
            <a:endParaRPr lang="en-US" sz="1300" dirty="0"/>
          </a:p>
          <a:p>
            <a:pPr marL="0" indent="0">
              <a:spcAft>
                <a:spcPts val="400"/>
              </a:spcAft>
              <a:buNone/>
            </a:pPr>
            <a:r>
              <a:rPr lang="en-US" sz="2400" b="1" dirty="0">
                <a:solidFill>
                  <a:srgbClr val="B83227"/>
                </a:solidFill>
              </a:rPr>
              <a:t>3.0% to 8.5%</a:t>
            </a:r>
            <a:endParaRPr lang="en-US" sz="1300" dirty="0"/>
          </a:p>
          <a:p>
            <a:pPr marL="0" indent="0">
              <a:spcAft>
                <a:spcPts val="400"/>
              </a:spcAft>
              <a:buNone/>
            </a:pPr>
            <a:r>
              <a:rPr lang="en-US" sz="1200" dirty="0">
                <a:solidFill>
                  <a:srgbClr val="1A1440"/>
                </a:solidFill>
              </a:rPr>
              <a:t>Apr-Jun, Chennai and Jaipur: about 1,375 more bookings. Booked numbers look slightly better than real.</a:t>
            </a:r>
            <a:endParaRPr lang="en-US" sz="1300" dirty="0"/>
          </a:p>
        </p:txBody>
      </p:sp>
      <p:sp>
        <p:nvSpPr>
          <p:cNvPr id="8" name="Text 5"/>
          <p:cNvSpPr txBox="1"/>
          <p:nvPr/>
        </p:nvSpPr>
        <p:spPr>
          <a:xfrm>
            <a:off x="457200" y="5897880"/>
            <a:ext cx="11247120" cy="292608"/>
          </a:xfrm>
          <a:prstGeom prst="rect">
            <a:avLst/>
          </a:prstGeom>
          <a:noFill/>
          <a:ln/>
        </p:spPr>
        <p:txBody>
          <a:bodyPr wrap="square" lIns="0" tIns="0" rIns="0" bIns="0" rtlCol="0" anchor="t"/>
          <a:lstStyle/>
          <a:p>
            <a:pPr marL="0" indent="0">
              <a:buNone/>
            </a:pPr>
            <a:r>
              <a:rPr lang="en-US" sz="900" dirty="0">
                <a:solidFill>
                  <a:schemeClr val="accent6"/>
                </a:solidFill>
              </a:rPr>
              <a:t>Source: current bookings joined to collections and lab results. Same cities and months, two years.</a:t>
            </a:r>
            <a:endParaRPr lang="en-US" sz="1000" dirty="0"/>
          </a:p>
        </p:txBody>
      </p:sp>
      <p:sp>
        <p:nvSpPr>
          <p:cNvPr id="9" name="Rounded Rectangle 1"/>
          <p:cNvSpPr/>
          <p:nvPr/>
        </p:nvSpPr>
        <p:spPr>
          <a:xfrm>
            <a:off x="0" y="0"/>
            <a:ext cx="12191695" cy="73152"/>
          </a:xfrm>
          <a:prstGeom prst="roundRect">
            <a:avLst>
              <a:gd name="adj" fmla="val 8000"/>
            </a:avLst>
          </a:prstGeom>
          <a:solidFill>
            <a:srgbClr val="4E38AB"/>
          </a:solidFill>
          <a:ln>
            <a:noFill/>
          </a:ln>
          <a:effectLst/>
        </p:spPr>
        <p:txBody>
          <a:bodyPr lIns="0" tIns="0" rIns="0" bIns="0" rtlCol="0" anchor="ctr"/>
          <a:lstStyle/>
          <a:p>
            <a:endParaRPr lang="en-US"/>
          </a:p>
        </p:txBody>
      </p:sp>
      <p:sp>
        <p:nvSpPr>
          <p:cNvPr id="10" name="TextBox"/>
          <p:cNvSpPr txBox="1"/>
          <p:nvPr/>
        </p:nvSpPr>
        <p:spPr>
          <a:xfrm>
            <a:off x="457200" y="228600"/>
            <a:ext cx="7315200" cy="365760"/>
          </a:xfrm>
          <a:prstGeom prst="rect">
            <a:avLst/>
          </a:prstGeom>
          <a:noFill/>
        </p:spPr>
        <p:txBody>
          <a:bodyPr wrap="square" anchor="t">
            <a:noAutofit/>
          </a:bodyPr>
          <a:lstStyle/>
          <a:p>
            <a:pPr algn="l">
              <a:buNone/>
            </a:pPr>
            <a:r>
              <a:rPr lang="en-US" sz="1000" b="1" dirty="0">
                <a:solidFill>
                  <a:srgbClr val="4E38AB"/>
                </a:solidFill>
                <a:latin typeface="Arial"/>
              </a:rPr>
              <a:t>5 · BRIEF B · THE EVIDENCE</a:t>
            </a:r>
          </a:p>
        </p:txBody>
      </p:sp>
      <p:sp>
        <p:nvSpPr>
          <p:cNvPr id="11" name="TextBox"/>
          <p:cNvSpPr txBox="1"/>
          <p:nvPr/>
        </p:nvSpPr>
        <p:spPr>
          <a:xfrm>
            <a:off x="10332720" y="228600"/>
            <a:ext cx="1463040" cy="365760"/>
          </a:xfrm>
          <a:prstGeom prst="rect">
            <a:avLst/>
          </a:prstGeom>
          <a:noFill/>
        </p:spPr>
        <p:txBody>
          <a:bodyPr wrap="square" anchor="t">
            <a:noAutofit/>
          </a:bodyPr>
          <a:lstStyle/>
          <a:p>
            <a:pPr algn="r">
              <a:buNone/>
            </a:pPr>
            <a:r>
              <a:rPr lang="en-US" sz="1000" b="0" dirty="0">
                <a:solidFill>
                  <a:srgbClr val="6B6690"/>
                </a:solidFill>
                <a:latin typeface="Arial"/>
              </a:rPr>
              <a:t>5 / 9</a:t>
            </a:r>
          </a:p>
        </p:txBody>
      </p:sp>
      <p:pic>
        <p:nvPicPr>
          <p:cNvPr id="12" name="Picture 4" descr="IIT Gandhinagar seal"/>
          <p:cNvPicPr>
            <a:picLocks noChangeAspect="1"/>
          </p:cNvPicPr>
          <p:nvPr/>
        </p:nvPicPr>
        <p:blipFill>
          <a:blip r:embed="rId4"/>
          <a:stretch>
            <a:fillRect/>
          </a:stretch>
        </p:blipFill>
        <p:spPr>
          <a:xfrm>
            <a:off x="457200" y="6263640"/>
            <a:ext cx="411480" cy="411480"/>
          </a:xfrm>
          <a:prstGeom prst="rect">
            <a:avLst/>
          </a:prstGeom>
        </p:spPr>
      </p:pic>
      <p:sp>
        <p:nvSpPr>
          <p:cNvPr id="13" name="TextBox"/>
          <p:cNvSpPr txBox="1"/>
          <p:nvPr/>
        </p:nvSpPr>
        <p:spPr>
          <a:xfrm>
            <a:off x="960120" y="6309360"/>
            <a:ext cx="9144000" cy="365760"/>
          </a:xfrm>
          <a:prstGeom prst="rect">
            <a:avLst/>
          </a:prstGeom>
          <a:noFill/>
        </p:spPr>
        <p:txBody>
          <a:bodyPr wrap="square" anchor="t">
            <a:noAutofit/>
          </a:bodyPr>
          <a:lstStyle/>
          <a:p>
            <a:pPr algn="l">
              <a:buNone/>
            </a:pPr>
            <a:r>
              <a:rPr lang="en-US" sz="800" b="0" dirty="0">
                <a:solidFill>
                  <a:srgbClr val="6B6690"/>
                </a:solidFill>
                <a:latin typeface="Arial"/>
              </a:rPr>
              <a:t>Indian Institute of Technology Gandhinagar · PG Diploma in AI-ML and Agentic AI Engineering · Cohort 2 · Build 1</a:t>
            </a:r>
          </a:p>
        </p:txBody>
      </p:sp>
      <p:sp>
        <p:nvSpPr>
          <p:cNvPr id="14"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The fall is real: it is not caused by the new booking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7 · BRIEF D · THE EVIDENCE</a:t>
            </a:r>
          </a:p>
        </p:txBody>
      </p:sp>
      <p:sp>
        <p:nvSpPr>
          <p:cNvPr id="5"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9</a:t>
            </a:r>
          </a:p>
        </p:txBody>
      </p:sp>
      <p:pic>
        <p:nvPicPr>
          <p:cNvPr id="6" name="Picture 4" descr="image.png"/>
          <p:cNvPicPr>
            <a:picLocks noChangeAspect="1"/>
          </p:cNvPicPr>
          <p:nvPr/>
        </p:nvPicPr>
        <p:blipFill>
          <a:blip r:embed="rId3"/>
          <a:stretch>
            <a:fillRect/>
          </a:stretch>
        </p:blipFill>
        <p:spPr>
          <a:xfrm>
            <a:off x="457200" y="6263640"/>
            <a:ext cx="411480" cy="411480"/>
          </a:xfrm>
          <a:prstGeom prst="rect">
            <a:avLst/>
          </a:prstGeom>
        </p:spPr>
      </p:pic>
      <p:sp>
        <p:nvSpPr>
          <p:cNvPr id="7"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8" name="TextBox 6"/>
          <p:cNvSpPr txBox="1"/>
          <p:nvPr/>
        </p:nvSpPr>
        <p:spPr>
          <a:xfrm>
            <a:off x="457200" y="640080"/>
            <a:ext cx="11247120" cy="914400"/>
          </a:xfrm>
          <a:prstGeom prst="rect">
            <a:avLst/>
          </a:prstGeom>
          <a:noFill/>
        </p:spPr>
        <p:txBody>
          <a:bodyPr wrap="square">
            <a:spAutoFit/>
          </a:bodyPr>
          <a:lstStyle/>
          <a:p>
            <a:pPr algn="l"/>
            <a:r>
              <a:rPr sz="2800" b="1">
                <a:solidFill>
                  <a:srgbClr val="1A1440"/>
                </a:solidFill>
                <a:latin typeface="Georgia"/>
              </a:rPr>
              <a:t>Brief D: CHE-03 is not chance, but mostly booking mix</a:t>
            </a:r>
          </a:p>
        </p:txBody>
      </p:sp>
      <p:sp>
        <p:nvSpPr>
          <p:cNvPr id="9" name="TextBox 7"/>
          <p:cNvSpPr txBox="1"/>
          <p:nvPr/>
        </p:nvSpPr>
        <p:spPr>
          <a:xfrm>
            <a:off x="457200" y="1645920"/>
            <a:ext cx="4754880" cy="4114800"/>
          </a:xfrm>
          <a:prstGeom prst="rect">
            <a:avLst/>
          </a:prstGeom>
          <a:noFill/>
        </p:spPr>
        <p:txBody>
          <a:bodyPr wrap="square">
            <a:spAutoFit/>
          </a:bodyPr>
          <a:lstStyle/>
          <a:p>
            <a:pPr algn="l">
              <a:spcAft>
                <a:spcPts val="1200"/>
              </a:spcAft>
            </a:pPr>
            <a:r>
              <a:rPr sz="1400" b="1">
                <a:solidFill>
                  <a:srgbClr val="4E38AB"/>
                </a:solidFill>
                <a:latin typeface="Arial"/>
              </a:rPr>
              <a:t>Number 1: </a:t>
            </a:r>
            <a:r>
              <a:rPr sz="1400" b="0">
                <a:solidFill>
                  <a:srgbClr val="1A1440"/>
                </a:solidFill>
                <a:latin typeface="Arial"/>
              </a:rPr>
              <a:t>17.3% no-show at CHE-03: 3,170 of 18,373 visits that reached the collection app, Jan 2025 to Jun 2026, against 14.4% for the network (79,172 of 549,598).</a:t>
            </a:r>
          </a:p>
          <a:p>
            <a:pPr algn="l">
              <a:spcAft>
                <a:spcPts val="1200"/>
              </a:spcAft>
            </a:pPr>
            <a:r>
              <a:rPr sz="1400" b="1">
                <a:solidFill>
                  <a:srgbClr val="4E38AB"/>
                </a:solidFill>
                <a:latin typeface="Arial"/>
              </a:rPr>
              <a:t>Number 2: </a:t>
            </a:r>
            <a:r>
              <a:rPr sz="1400" b="0">
                <a:solidFill>
                  <a:srgbClr val="1A1440"/>
                </a:solidFill>
                <a:latin typeface="Arial"/>
              </a:rPr>
              <a:t>0 in 20,000 simulated clinics of that size reach 17.3% at the network rate, so it is not chance. JAI-05 (tiny, 155 visits) is the one that chance does explain.</a:t>
            </a:r>
          </a:p>
          <a:p>
            <a:pPr algn="l">
              <a:spcAft>
                <a:spcPts val="1200"/>
              </a:spcAft>
            </a:pPr>
            <a:r>
              <a:rPr sz="1400" b="1">
                <a:solidFill>
                  <a:srgbClr val="4E38AB"/>
                </a:solidFill>
                <a:latin typeface="Arial"/>
              </a:rPr>
              <a:t>Number 3: </a:t>
            </a:r>
            <a:r>
              <a:rPr sz="1400" b="0">
                <a:solidFill>
                  <a:srgbClr val="1A1440"/>
                </a:solidFill>
                <a:latin typeface="Arial"/>
              </a:rPr>
              <a:t>50% of CHE-03's visits are evening slots (network 26%) and 44% phone bookings (30%). On that mix the network would show 16.8%: 86% of the gap.</a:t>
            </a:r>
          </a:p>
        </p:txBody>
      </p:sp>
      <p:sp>
        <p:nvSpPr>
          <p:cNvPr id="10"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9"/>
          <p:cNvSpPr txBox="1"/>
          <p:nvPr/>
        </p:nvSpPr>
        <p:spPr>
          <a:xfrm>
            <a:off x="5669280" y="1737360"/>
            <a:ext cx="5852160" cy="502920"/>
          </a:xfrm>
          <a:prstGeom prst="rect">
            <a:avLst/>
          </a:prstGeom>
          <a:noFill/>
        </p:spPr>
        <p:txBody>
          <a:bodyPr wrap="square" lIns="0" tIns="0" rIns="0" bIns="0" anchor="t">
            <a:spAutoFit/>
          </a:bodyPr>
          <a:lstStyle/>
          <a:p>
            <a:pPr algn="l"/>
            <a:r>
              <a:rPr sz="1200" b="1">
                <a:solidFill>
                  <a:srgbClr val="1A1440"/>
                </a:solidFill>
                <a:latin typeface="Arial"/>
              </a:rPr>
              <a:t>No-show rate: the network, CHE-03 on its own mix, and CHE-03 actual</a:t>
            </a:r>
          </a:p>
        </p:txBody>
      </p:sp>
      <p:graphicFrame>
        <p:nvGraphicFramePr>
          <p:cNvPr id="12" name="Chart 10"/>
          <p:cNvGraphicFramePr>
            <a:graphicFrameLocks noGrp="1"/>
          </p:cNvGraphicFramePr>
          <p:nvPr/>
        </p:nvGraphicFramePr>
        <p:xfrm>
          <a:off x="5577840" y="2194560"/>
          <a:ext cx="603504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1"/>
          <p:cNvSpPr txBox="1"/>
          <p:nvPr/>
        </p:nvSpPr>
        <p:spPr>
          <a:xfrm>
            <a:off x="5760720" y="5303520"/>
            <a:ext cx="5760720" cy="457200"/>
          </a:xfrm>
          <a:prstGeom prst="rect">
            <a:avLst/>
          </a:prstGeom>
          <a:noFill/>
        </p:spPr>
        <p:txBody>
          <a:bodyPr wrap="square" lIns="0" tIns="0" rIns="0" bIns="0" anchor="t">
            <a:spAutoFit/>
          </a:bodyPr>
          <a:lstStyle/>
          <a:p>
            <a:pPr algn="l"/>
            <a:r>
              <a:rPr sz="1100" b="1">
                <a:solidFill>
                  <a:srgbClr val="4E38AB"/>
                </a:solidFill>
                <a:latin typeface="Arial"/>
              </a:rPr>
              <a:t>Left over after matching: +0.4 points (95% band −0.1 to +0.9).</a:t>
            </a:r>
          </a:p>
          <a:p>
            <a:pPr algn="l"/>
            <a:r>
              <a:rPr sz="950" b="0">
                <a:solidFill>
                  <a:srgbClr val="6B6690"/>
                </a:solidFill>
                <a:latin typeface="Arial"/>
              </a:rPr>
              <a:t>*Rates use the 18,165 of CHE-03's 18,373 visits that match a booking.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BRIEF D · THE PICTURE</a:t>
            </a:r>
          </a:p>
        </p:txBody>
      </p:sp>
      <p:sp>
        <p:nvSpPr>
          <p:cNvPr id="5"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9</a:t>
            </a:r>
          </a:p>
        </p:txBody>
      </p:sp>
      <p:pic>
        <p:nvPicPr>
          <p:cNvPr id="6" name="Picture 4" descr="image.png"/>
          <p:cNvPicPr>
            <a:picLocks noChangeAspect="1"/>
          </p:cNvPicPr>
          <p:nvPr/>
        </p:nvPicPr>
        <p:blipFill>
          <a:blip r:embed="rId3"/>
          <a:stretch>
            <a:fillRect/>
          </a:stretch>
        </p:blipFill>
        <p:spPr>
          <a:xfrm>
            <a:off x="457200" y="6263640"/>
            <a:ext cx="411480" cy="411480"/>
          </a:xfrm>
          <a:prstGeom prst="rect">
            <a:avLst/>
          </a:prstGeom>
        </p:spPr>
      </p:pic>
      <p:sp>
        <p:nvSpPr>
          <p:cNvPr id="7"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8" name="TextBox 6"/>
          <p:cNvSpPr txBox="1"/>
          <p:nvPr/>
        </p:nvSpPr>
        <p:spPr>
          <a:xfrm>
            <a:off x="457200" y="640080"/>
            <a:ext cx="11247120" cy="914400"/>
          </a:xfrm>
          <a:prstGeom prst="rect">
            <a:avLst/>
          </a:prstGeom>
          <a:noFill/>
        </p:spPr>
        <p:txBody>
          <a:bodyPr wrap="square">
            <a:spAutoFit/>
          </a:bodyPr>
          <a:lstStyle/>
          <a:p>
            <a:pPr algn="l"/>
            <a:r>
              <a:rPr sz="2800" b="1">
                <a:solidFill>
                  <a:srgbClr val="1A1440"/>
                </a:solidFill>
                <a:latin typeface="Georgia"/>
              </a:rPr>
              <a:t>Each clinic's rate against its size, with the chance band</a:t>
            </a:r>
          </a:p>
        </p:txBody>
      </p:sp>
      <p:sp>
        <p:nvSpPr>
          <p:cNvPr id="9"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Chart 8"/>
          <p:cNvGraphicFramePr>
            <a:graphicFrameLocks noGrp="1"/>
          </p:cNvGraphicFramePr>
          <p:nvPr/>
        </p:nvGraphicFramePr>
        <p:xfrm>
          <a:off x="640080" y="1783080"/>
          <a:ext cx="7589520" cy="3977639"/>
        </p:xfrm>
        <a:graphic>
          <a:graphicData uri="http://schemas.openxmlformats.org/drawingml/2006/chart">
            <c:chart xmlns:c="http://schemas.openxmlformats.org/drawingml/2006/chart" xmlns:r="http://schemas.openxmlformats.org/officeDocument/2006/relationships" r:id="rId4"/>
          </a:graphicData>
        </a:graphic>
      </p:graphicFrame>
      <p:sp>
        <p:nvSpPr>
          <p:cNvPr id="11" name="Rounded Rectangle 9"/>
          <p:cNvSpPr/>
          <p:nvPr/>
        </p:nvSpPr>
        <p:spPr>
          <a:xfrm>
            <a:off x="8458200" y="1783080"/>
            <a:ext cx="3246120" cy="3977639"/>
          </a:xfrm>
          <a:prstGeom prst="roundRect">
            <a:avLst>
              <a:gd name="adj" fmla="val 8000"/>
            </a:avLst>
          </a:prstGeom>
          <a:solidFill>
            <a:srgbClr val="EDE9FA"/>
          </a:solidFill>
          <a:ln w="12700">
            <a:solidFill>
              <a:srgbClr val="DC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0"/>
          <p:cNvSpPr txBox="1"/>
          <p:nvPr/>
        </p:nvSpPr>
        <p:spPr>
          <a:xfrm>
            <a:off x="8641080" y="1874519"/>
            <a:ext cx="2926080" cy="3840480"/>
          </a:xfrm>
          <a:prstGeom prst="rect">
            <a:avLst/>
          </a:prstGeom>
          <a:noFill/>
        </p:spPr>
        <p:txBody>
          <a:bodyPr wrap="square" lIns="0" tIns="0" rIns="0" bIns="0" anchor="t">
            <a:spAutoFit/>
          </a:bodyPr>
          <a:lstStyle/>
          <a:p>
            <a:pPr algn="l">
              <a:spcAft>
                <a:spcPts val="700"/>
              </a:spcAft>
            </a:pPr>
            <a:r>
              <a:rPr sz="1300" b="1">
                <a:solidFill>
                  <a:srgbClr val="4E38AB"/>
                </a:solidFill>
                <a:latin typeface="Arial"/>
              </a:rPr>
              <a:t>How to read it</a:t>
            </a:r>
          </a:p>
          <a:p>
            <a:pPr algn="l">
              <a:spcAft>
                <a:spcPts val="700"/>
              </a:spcAft>
            </a:pPr>
            <a:r>
              <a:rPr sz="1100" b="0">
                <a:solidFill>
                  <a:srgbClr val="1A1440"/>
                </a:solidFill>
                <a:latin typeface="Arial"/>
              </a:rPr>
              <a:t>Each dot is a clinic. Inside the band, chance alone could produce the rate.</a:t>
            </a:r>
          </a:p>
          <a:p>
            <a:pPr algn="l">
              <a:spcAft>
                <a:spcPts val="700"/>
              </a:spcAft>
            </a:pPr>
            <a:r>
              <a:rPr sz="1100" b="1">
                <a:solidFill>
                  <a:srgbClr val="1A1440"/>
                </a:solidFill>
                <a:latin typeface="Arial"/>
              </a:rPr>
              <a:t>CHE-03</a:t>
            </a:r>
            <a:r>
              <a:rPr sz="1100" b="0">
                <a:solidFill>
                  <a:srgbClr val="1A1440"/>
                </a:solidFill>
                <a:latin typeface="Arial"/>
              </a:rPr>
              <a:t> sits above the band: 3,170 no-shows in 18,373 visits (17.3%) against 14.4% for the network.</a:t>
            </a:r>
          </a:p>
          <a:p>
            <a:pPr algn="l">
              <a:spcAft>
                <a:spcPts val="700"/>
              </a:spcAft>
            </a:pPr>
            <a:r>
              <a:rPr sz="1100" b="1">
                <a:solidFill>
                  <a:srgbClr val="1A1440"/>
                </a:solidFill>
                <a:latin typeface="Arial"/>
              </a:rPr>
              <a:t>JAI-05</a:t>
            </a:r>
            <a:r>
              <a:rPr sz="1100" b="0">
                <a:solidFill>
                  <a:srgbClr val="1A1440"/>
                </a:solidFill>
                <a:latin typeface="Arial"/>
              </a:rPr>
              <a:t> has the highest raw rate (17.4%) but only 155 visits; 17% of simulated clinics that size reach it. That is noise.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a:effectLst/>
        </p:spPr>
        <p:txBody>
          <a:bodyPr lIns="0" tIns="0" rIns="0" bIns="0" rtlCol="0" anchor="ctr"/>
          <a:lstStyle/>
          <a:p>
            <a:endParaRPr lang="en-US"/>
          </a:p>
        </p:txBody>
      </p:sp>
      <p:sp>
        <p:nvSpPr>
          <p:cNvPr id="4" name="TextBox"/>
          <p:cNvSpPr txBox="1"/>
          <p:nvPr/>
        </p:nvSpPr>
        <p:spPr>
          <a:xfrm>
            <a:off x="457200" y="228600"/>
            <a:ext cx="7315200" cy="365760"/>
          </a:xfrm>
          <a:prstGeom prst="rect">
            <a:avLst/>
          </a:prstGeom>
          <a:noFill/>
        </p:spPr>
        <p:txBody>
          <a:bodyPr wrap="square" anchor="t">
            <a:noAutofit/>
          </a:bodyPr>
          <a:lstStyle/>
          <a:p>
            <a:pPr algn="l">
              <a:buNone/>
            </a:pPr>
            <a:r>
              <a:rPr lang="en-US" sz="1000" b="1" dirty="0">
                <a:solidFill>
                  <a:srgbClr val="4E38AB"/>
                </a:solidFill>
                <a:latin typeface="Arial"/>
              </a:rPr>
              <a:t>8 · THE CAVEAT AND THE ALTERNATIVE</a:t>
            </a:r>
          </a:p>
        </p:txBody>
      </p:sp>
      <p:sp>
        <p:nvSpPr>
          <p:cNvPr id="5" name="TextBox"/>
          <p:cNvSpPr txBox="1"/>
          <p:nvPr/>
        </p:nvSpPr>
        <p:spPr>
          <a:xfrm>
            <a:off x="10332720" y="228600"/>
            <a:ext cx="1463040" cy="365760"/>
          </a:xfrm>
          <a:prstGeom prst="rect">
            <a:avLst/>
          </a:prstGeom>
          <a:noFill/>
        </p:spPr>
        <p:txBody>
          <a:bodyPr wrap="square" anchor="t">
            <a:noAutofit/>
          </a:bodyPr>
          <a:lstStyle/>
          <a:p>
            <a:pPr algn="r">
              <a:buNone/>
            </a:pPr>
            <a:r>
              <a:rPr lang="en-US" sz="1000" b="0" dirty="0">
                <a:solidFill>
                  <a:srgbClr val="6B6690"/>
                </a:solidFill>
                <a:latin typeface="Arial"/>
              </a:rPr>
              <a:t>8 / 9</a:t>
            </a:r>
          </a:p>
        </p:txBody>
      </p:sp>
      <p:pic>
        <p:nvPicPr>
          <p:cNvPr id="6" name="Picture 4" descr="IIT Gandhinagar seal"/>
          <p:cNvPicPr>
            <a:picLocks noChangeAspect="1"/>
          </p:cNvPicPr>
          <p:nvPr/>
        </p:nvPicPr>
        <p:blipFill>
          <a:blip r:embed="rId3"/>
          <a:stretch>
            <a:fillRect/>
          </a:stretch>
        </p:blipFill>
        <p:spPr>
          <a:xfrm>
            <a:off x="457200" y="6263640"/>
            <a:ext cx="411480" cy="411480"/>
          </a:xfrm>
          <a:prstGeom prst="rect">
            <a:avLst/>
          </a:prstGeom>
        </p:spPr>
      </p:pic>
      <p:sp>
        <p:nvSpPr>
          <p:cNvPr id="7" name="TextBox"/>
          <p:cNvSpPr txBox="1"/>
          <p:nvPr/>
        </p:nvSpPr>
        <p:spPr>
          <a:xfrm>
            <a:off x="960120" y="6309360"/>
            <a:ext cx="9144000" cy="365760"/>
          </a:xfrm>
          <a:prstGeom prst="rect">
            <a:avLst/>
          </a:prstGeom>
          <a:noFill/>
        </p:spPr>
        <p:txBody>
          <a:bodyPr wrap="square" anchor="t">
            <a:noAutofit/>
          </a:bodyPr>
          <a:lstStyle/>
          <a:p>
            <a:pPr algn="l">
              <a:buNone/>
            </a:pPr>
            <a:r>
              <a:rPr lang="en-US" sz="800" b="0" dirty="0">
                <a:solidFill>
                  <a:srgbClr val="6B6690"/>
                </a:solidFill>
                <a:latin typeface="Arial"/>
              </a:rPr>
              <a:t>Indian Institute of Technology Gandhinagar · PG Diploma in AI-ML and Agentic AI Engineering · Cohort 2 · Build 1</a:t>
            </a:r>
          </a:p>
        </p:txBody>
      </p:sp>
      <p:sp>
        <p:nvSpPr>
          <p:cNvPr id="8"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What would change the claim, and what we rejected</a:t>
            </a:r>
          </a:p>
        </p:txBody>
      </p:sp>
      <p:sp>
        <p:nvSpPr>
          <p:cNvPr id="9" name="TextBox"/>
          <p:cNvSpPr txBox="1"/>
          <p:nvPr/>
        </p:nvSpPr>
        <p:spPr>
          <a:xfrm>
            <a:off x="457200" y="1645920"/>
            <a:ext cx="5394960" cy="365760"/>
          </a:xfrm>
          <a:prstGeom prst="rect">
            <a:avLst/>
          </a:prstGeom>
          <a:noFill/>
        </p:spPr>
        <p:txBody>
          <a:bodyPr wrap="square" lIns="0" tIns="0" rIns="0" bIns="0" anchor="t">
            <a:noAutofit/>
          </a:bodyPr>
          <a:lstStyle/>
          <a:p>
            <a:pPr algn="l">
              <a:buNone/>
            </a:pPr>
            <a:r>
              <a:rPr lang="en-US" sz="1500" b="1" dirty="0">
                <a:solidFill>
                  <a:srgbClr val="4E38AB"/>
                </a:solidFill>
                <a:latin typeface="Arial"/>
              </a:rPr>
              <a:t>What would change the claim</a:t>
            </a:r>
          </a:p>
        </p:txBody>
      </p:sp>
      <p:sp>
        <p:nvSpPr>
          <p:cNvPr id="10" name="TextBox"/>
          <p:cNvSpPr txBox="1"/>
          <p:nvPr/>
        </p:nvSpPr>
        <p:spPr>
          <a:xfrm>
            <a:off x="457200" y="2103120"/>
            <a:ext cx="5394960" cy="3657600"/>
          </a:xfrm>
          <a:prstGeom prst="rect">
            <a:avLst/>
          </a:prstGeom>
          <a:noFill/>
        </p:spPr>
        <p:txBody>
          <a:bodyPr wrap="square" lIns="0" tIns="0" rIns="0" bIns="0" anchor="t">
            <a:noAutofit/>
          </a:bodyPr>
          <a:lstStyle/>
          <a:p>
            <a:pPr algn="l" marL="228600" indent="-228600">
              <a:spcAft>
                <a:spcPts val="900"/>
              </a:spcAft>
              <a:buFont typeface="Arial"/>
              <a:buChar char="•"/>
            </a:pPr>
            <a:r>
              <a:rPr lang="en-US" sz="1300" b="0" dirty="0">
                <a:solidFill>
                  <a:srgbClr val="1A1440"/>
                </a:solidFill>
                <a:latin typeface="Arial"/>
              </a:rPr>
              <a:t>Tests are counted from bookings. Collected (+4.9%) and tested (+5.0%) counts give the same result as booked (+5.0%).</a:t>
            </a:r>
          </a:p>
          <a:p>
            <a:pPr algn="l" marL="228600" indent="-228600">
              <a:spcAft>
                <a:spcPts val="900"/>
              </a:spcAft>
              <a:buFont typeface="Arial"/>
              <a:buChar char="•"/>
            </a:pPr>
            <a:r>
              <a:rPr lang="en-US" sz="1300" b="0" dirty="0">
                <a:solidFill>
                  <a:srgbClr val="1A1440"/>
                </a:solidFill>
                <a:latin typeface="Arial"/>
              </a:rPr>
              <a:t>Patients are matched by phone, name and date of birth. 5,862 bookings were re-linked. Some matches may be wrong.</a:t>
            </a:r>
          </a:p>
          <a:p>
            <a:pPr algn="l" marL="228600" indent="-228600">
              <a:spcAft>
                <a:spcPts val="900"/>
              </a:spcAft>
              <a:buFont typeface="Arial"/>
              <a:buChar char="•"/>
            </a:pPr>
            <a:r>
              <a:rPr lang="en-US" sz="1300" b="0" dirty="0">
                <a:solidFill>
                  <a:srgbClr val="1A1440"/>
                </a:solidFill>
                <a:latin typeface="Arial"/>
              </a:rPr>
              <a:t>1,289 test lines have no test code and 791 bookings have unusual IDs. We kept and flagged them. Each is under 0.3% of the data.</a:t>
            </a:r>
          </a:p>
          <a:p>
            <a:pPr algn="l" marL="228600" indent="-228600">
              <a:spcAft>
                <a:spcPts val="900"/>
              </a:spcAft>
              <a:buFont typeface="Arial"/>
              <a:buChar char="•"/>
            </a:pPr>
            <a:r>
              <a:rPr lang="en-US" sz="1300" b="0" dirty="0">
                <a:solidFill>
                  <a:srgbClr val="1A1440"/>
                </a:solidFill>
                <a:latin typeface="Arial"/>
              </a:rPr>
              <a:t>The data shows what happened in Chennai and Jaipur, not why. A new competitor (Thyrocare) is possible but we cannot test it here.</a:t>
            </a:r>
          </a:p>
        </p:txBody>
      </p:sp>
      <p:sp>
        <p:nvSpPr>
          <p:cNvPr id="11" name="Rounded Rectangle"/>
          <p:cNvSpPr/>
          <p:nvPr/>
        </p:nvSpPr>
        <p:spPr>
          <a:xfrm>
            <a:off x="6172200" y="1645920"/>
            <a:ext cx="5532120" cy="4160520"/>
          </a:xfrm>
          <a:prstGeom prst="roundRect">
            <a:avLst>
              <a:gd name="adj" fmla="val 8000"/>
            </a:avLst>
          </a:prstGeom>
          <a:solidFill>
            <a:srgbClr val="EDE9FA"/>
          </a:solidFill>
          <a:ln w="12700">
            <a:solidFill>
              <a:srgbClr val="DCD6F7"/>
            </a:solidFill>
          </a:ln>
          <a:effectLst/>
        </p:spPr>
        <p:txBody>
          <a:bodyPr lIns="0" tIns="0" rIns="0" bIns="0" rtlCol="0" anchor="ctr"/>
          <a:lstStyle/>
          <a:p>
            <a:endParaRPr lang="en-US"/>
          </a:p>
        </p:txBody>
      </p:sp>
      <p:sp>
        <p:nvSpPr>
          <p:cNvPr id="12" name="TextBox"/>
          <p:cNvSpPr txBox="1"/>
          <p:nvPr/>
        </p:nvSpPr>
        <p:spPr>
          <a:xfrm>
            <a:off x="6400800" y="1783080"/>
            <a:ext cx="5120640" cy="3931920"/>
          </a:xfrm>
          <a:prstGeom prst="rect">
            <a:avLst/>
          </a:prstGeom>
          <a:noFill/>
        </p:spPr>
        <p:txBody>
          <a:bodyPr wrap="square" lIns="0" tIns="0" rIns="0" bIns="0" anchor="t">
            <a:noAutofit/>
          </a:bodyPr>
          <a:lstStyle/>
          <a:p>
            <a:pPr algn="l">
              <a:spcAft>
                <a:spcPts val="800"/>
              </a:spcAft>
              <a:buNone/>
            </a:pPr>
            <a:r>
              <a:rPr lang="en-US" sz="1500" b="1" dirty="0">
                <a:solidFill>
                  <a:srgbClr val="4E38AB"/>
                </a:solidFill>
                <a:latin typeface="Arial"/>
              </a:rPr>
              <a:t>Approaches we rejected on the way here</a:t>
            </a:r>
          </a:p>
          <a:p>
            <a:pPr algn="l">
              <a:spcAft>
                <a:spcPts val="1200"/>
              </a:spcAft>
              <a:buNone/>
            </a:pPr>
            <a:r>
              <a:rPr lang="en-US" sz="1300" b="1" dirty="0">
                <a:solidFill>
                  <a:srgbClr val="1A1440"/>
                </a:solidFill>
                <a:latin typeface="Arial"/>
              </a:rPr>
              <a:t>Brief A · ranking cities by raw shortfall. </a:t>
            </a:r>
            <a:r>
              <a:rPr lang="en-US" sz="1300" b="0" dirty="0">
                <a:solidFill>
                  <a:srgbClr val="1A1440"/>
                </a:solidFill>
                <a:latin typeface="Arial"/>
              </a:rPr>
              <a:t>It puts Bengaluru second (12.7K short), but its miss is mostly a 20.4% target. We compare growth with plan instead.</a:t>
            </a:r>
          </a:p>
          <a:p>
            <a:pPr algn="l">
              <a:spcAft>
                <a:spcPts val="1200"/>
              </a:spcAft>
              <a:buNone/>
            </a:pPr>
            <a:r>
              <a:rPr lang="en-US" sz="1300" b="1" dirty="0">
                <a:solidFill>
                  <a:srgbClr val="1A1440"/>
                </a:solidFill>
                <a:latin typeface="Arial"/>
              </a:rPr>
              <a:t>Brief B · counting booked tests only. </a:t>
            </a:r>
            <a:r>
              <a:rPr lang="en-US" sz="1300" b="0" dirty="0">
                <a:solidFill>
                  <a:srgbClr val="1A1440"/>
                </a:solidFill>
                <a:latin typeface="Arial"/>
              </a:rPr>
              <a:t>Under Nova, 8.5% of bookings have no collection record (3.0% a year ago), so booked numbers look about 1,375 bookings better than real. We checked collected and tested counts too.</a:t>
            </a:r>
          </a:p>
          <a:p>
            <a:pPr algn="l">
              <a:spcAft>
                <a:spcPts val="1200"/>
              </a:spcAft>
              <a:buNone/>
            </a:pPr>
            <a:r>
              <a:rPr lang="en-US" sz="1300" b="1" dirty="0">
                <a:solidFill>
                  <a:srgbClr val="1A1440"/>
                </a:solidFill>
                <a:latin typeface="Arial"/>
              </a:rPr>
              <a:t>Brief D · ranking clinics by raw no-show rate. </a:t>
            </a:r>
            <a:r>
              <a:rPr lang="en-US" sz="1300" b="0" dirty="0">
                <a:solidFill>
                  <a:srgbClr val="1A1440"/>
                </a:solidFill>
                <a:latin typeface="Arial"/>
              </a:rPr>
              <a:t>It flags JAI-05 (17.4%), which chance explains at 155 visits. Comparing CHE-03 with the network without matching its mix overstates the gap: 2.9 points falls to 0.4.</a:t>
            </a:r>
          </a:p>
        </p:txBody>
      </p:sp>
      <p:sp>
        <p:nvSpPr>
          <p:cNvPr id="13" name="TextBox"/>
          <p:cNvSpPr txBox="1"/>
          <p:nvPr/>
        </p:nvSpPr>
        <p:spPr>
          <a:xfrm>
            <a:off x="457200" y="5897880"/>
            <a:ext cx="11247120" cy="292608"/>
          </a:xfrm>
          <a:prstGeom prst="rect">
            <a:avLst/>
          </a:prstGeom>
          <a:noFill/>
        </p:spPr>
        <p:txBody>
          <a:bodyPr wrap="square" lIns="0" tIns="0" rIns="0" bIns="0" anchor="t">
            <a:noAutofit/>
          </a:bodyPr>
          <a:lstStyle/>
          <a:p>
            <a:pPr algn="l">
              <a:buNone/>
            </a:pPr>
            <a:r>
              <a:rPr lang="en-US" sz="900" b="0" dirty="0">
                <a:solidFill>
                  <a:srgbClr val="6B6690"/>
                </a:solidFill>
                <a:latin typeface="Arial"/>
              </a:rPr>
              <a:t>Source: Data_loading_and_eda.ipynb, sections 1 to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Rounded Rectangle 1"/>
          <p:cNvSpPr/>
          <p:nvPr/>
        </p:nvSpPr>
        <p:spPr>
          <a:xfrm>
            <a:off x="0" y="0"/>
            <a:ext cx="12191695" cy="73152"/>
          </a:xfrm>
          <a:prstGeom prst="roundRect">
            <a:avLst>
              <a:gd name="adj" fmla="val 8000"/>
            </a:avLst>
          </a:prstGeom>
          <a:solidFill>
            <a:srgbClr val="4E38AB"/>
          </a:solidFill>
          <a:ln>
            <a:noFill/>
          </a:ln>
          <a:effectLst/>
        </p:spPr>
        <p:txBody>
          <a:bodyPr lIns="0" tIns="0" rIns="0" bIns="0" rtlCol="0" anchor="ctr"/>
          <a:lstStyle/>
          <a:p>
            <a:endParaRPr lang="en-US"/>
          </a:p>
        </p:txBody>
      </p:sp>
      <p:sp>
        <p:nvSpPr>
          <p:cNvPr id="4" name="TextBox"/>
          <p:cNvSpPr txBox="1"/>
          <p:nvPr/>
        </p:nvSpPr>
        <p:spPr>
          <a:xfrm>
            <a:off x="457200" y="228600"/>
            <a:ext cx="7315200" cy="365760"/>
          </a:xfrm>
          <a:prstGeom prst="rect">
            <a:avLst/>
          </a:prstGeom>
          <a:noFill/>
        </p:spPr>
        <p:txBody>
          <a:bodyPr wrap="square" anchor="t">
            <a:noAutofit/>
          </a:bodyPr>
          <a:lstStyle/>
          <a:p>
            <a:pPr algn="l">
              <a:buNone/>
            </a:pPr>
            <a:r>
              <a:rPr lang="en-US" sz="1000" b="1" dirty="0">
                <a:solidFill>
                  <a:srgbClr val="4E38AB"/>
                </a:solidFill>
                <a:latin typeface="Arial"/>
              </a:rPr>
              <a:t>9 · THE ACTION</a:t>
            </a:r>
          </a:p>
        </p:txBody>
      </p:sp>
      <p:sp>
        <p:nvSpPr>
          <p:cNvPr id="5" name="TextBox"/>
          <p:cNvSpPr txBox="1"/>
          <p:nvPr/>
        </p:nvSpPr>
        <p:spPr>
          <a:xfrm>
            <a:off x="10332720" y="228600"/>
            <a:ext cx="1463040" cy="365760"/>
          </a:xfrm>
          <a:prstGeom prst="rect">
            <a:avLst/>
          </a:prstGeom>
          <a:noFill/>
        </p:spPr>
        <p:txBody>
          <a:bodyPr wrap="square" anchor="t">
            <a:noAutofit/>
          </a:bodyPr>
          <a:lstStyle/>
          <a:p>
            <a:pPr algn="r">
              <a:buNone/>
            </a:pPr>
            <a:r>
              <a:rPr lang="en-US" sz="1000" b="0" dirty="0">
                <a:solidFill>
                  <a:srgbClr val="6B6690"/>
                </a:solidFill>
                <a:latin typeface="Arial"/>
              </a:rPr>
              <a:t>9 / 9</a:t>
            </a:r>
          </a:p>
        </p:txBody>
      </p:sp>
      <p:pic>
        <p:nvPicPr>
          <p:cNvPr id="6" name="Picture 4" descr="IIT Gandhinagar seal"/>
          <p:cNvPicPr>
            <a:picLocks noChangeAspect="1"/>
          </p:cNvPicPr>
          <p:nvPr/>
        </p:nvPicPr>
        <p:blipFill>
          <a:blip r:embed="rId3"/>
          <a:stretch>
            <a:fillRect/>
          </a:stretch>
        </p:blipFill>
        <p:spPr>
          <a:xfrm>
            <a:off x="457200" y="6263640"/>
            <a:ext cx="411480" cy="411480"/>
          </a:xfrm>
          <a:prstGeom prst="rect">
            <a:avLst/>
          </a:prstGeom>
        </p:spPr>
      </p:pic>
      <p:sp>
        <p:nvSpPr>
          <p:cNvPr id="7" name="TextBox"/>
          <p:cNvSpPr txBox="1"/>
          <p:nvPr/>
        </p:nvSpPr>
        <p:spPr>
          <a:xfrm>
            <a:off x="960120" y="6309360"/>
            <a:ext cx="9144000" cy="365760"/>
          </a:xfrm>
          <a:prstGeom prst="rect">
            <a:avLst/>
          </a:prstGeom>
          <a:noFill/>
        </p:spPr>
        <p:txBody>
          <a:bodyPr wrap="square" anchor="t">
            <a:noAutofit/>
          </a:bodyPr>
          <a:lstStyle/>
          <a:p>
            <a:pPr algn="l">
              <a:buNone/>
            </a:pPr>
            <a:r>
              <a:rPr lang="en-US" sz="800" b="0" dirty="0">
                <a:solidFill>
                  <a:srgbClr val="6B6690"/>
                </a:solidFill>
                <a:latin typeface="Arial"/>
              </a:rPr>
              <a:t>Indian Institute of Technology Gandhinagar · PG Diploma in AI-ML and Agentic AI Engineering · Cohort 2 · Build 1</a:t>
            </a:r>
          </a:p>
        </p:txBody>
      </p:sp>
      <p:sp>
        <p:nvSpPr>
          <p:cNvPr id="8" name="TextBox"/>
          <p:cNvSpPr txBox="1"/>
          <p:nvPr/>
        </p:nvSpPr>
        <p:spPr>
          <a:xfrm>
            <a:off x="457200" y="640080"/>
            <a:ext cx="11247120" cy="914400"/>
          </a:xfrm>
          <a:prstGeom prst="rect">
            <a:avLst/>
          </a:prstGeom>
          <a:noFill/>
        </p:spPr>
        <p:txBody>
          <a:bodyPr wrap="square" anchor="t">
            <a:noAutofit/>
          </a:bodyPr>
          <a:lstStyle/>
          <a:p>
            <a:pPr algn="l">
              <a:buNone/>
            </a:pPr>
            <a:r>
              <a:rPr lang="en-US" sz="2800" b="1" dirty="0">
                <a:solidFill>
                  <a:srgbClr val="1A1440"/>
                </a:solidFill>
                <a:latin typeface="Georgia"/>
              </a:rPr>
              <a:t>Recommendations: one action per finding</a:t>
            </a:r>
          </a:p>
        </p:txBody>
      </p:sp>
      <p:sp>
        <p:nvSpPr>
          <p:cNvPr id="9" name="Rounded Rectangle"/>
          <p:cNvSpPr/>
          <p:nvPr/>
        </p:nvSpPr>
        <p:spPr>
          <a:xfrm>
            <a:off x="457200" y="1645920"/>
            <a:ext cx="2674620" cy="3474720"/>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0" name="TextBox"/>
          <p:cNvSpPr txBox="1"/>
          <p:nvPr/>
        </p:nvSpPr>
        <p:spPr>
          <a:xfrm>
            <a:off x="621792" y="1737360"/>
            <a:ext cx="2377440" cy="502920"/>
          </a:xfrm>
          <a:prstGeom prst="rect">
            <a:avLst/>
          </a:prstGeom>
          <a:noFill/>
        </p:spPr>
        <p:txBody>
          <a:bodyPr wrap="square" lIns="0" tIns="0" rIns="0" bIns="0" anchor="t">
            <a:noAutofit/>
          </a:bodyPr>
          <a:lstStyle/>
          <a:p>
            <a:pPr algn="l">
              <a:buNone/>
            </a:pPr>
            <a:r>
              <a:rPr lang="en-US" sz="2600" b="1" dirty="0">
                <a:solidFill>
                  <a:srgbClr val="4E38AB"/>
                </a:solidFill>
                <a:latin typeface="Georgia"/>
              </a:rPr>
              <a:t>1</a:t>
            </a:r>
          </a:p>
        </p:txBody>
      </p:sp>
      <p:sp>
        <p:nvSpPr>
          <p:cNvPr id="11" name="TextBox"/>
          <p:cNvSpPr txBox="1"/>
          <p:nvPr/>
        </p:nvSpPr>
        <p:spPr>
          <a:xfrm>
            <a:off x="621792" y="2240280"/>
            <a:ext cx="2377440" cy="777240"/>
          </a:xfrm>
          <a:prstGeom prst="rect">
            <a:avLst/>
          </a:prstGeom>
          <a:noFill/>
        </p:spPr>
        <p:txBody>
          <a:bodyPr wrap="square" lIns="0" tIns="0" rIns="0" bIns="0" anchor="t">
            <a:noAutofit/>
          </a:bodyPr>
          <a:lstStyle/>
          <a:p>
            <a:pPr algn="l">
              <a:buNone/>
            </a:pPr>
            <a:r>
              <a:rPr lang="en-US" sz="1300" b="1" dirty="0">
                <a:solidFill>
                  <a:srgbClr val="1A1440"/>
                </a:solidFill>
                <a:latin typeface="Arial"/>
              </a:rPr>
              <a:t>Reset the plan to what stable cities deliver</a:t>
            </a:r>
          </a:p>
        </p:txBody>
      </p:sp>
      <p:sp>
        <p:nvSpPr>
          <p:cNvPr id="12" name="TextBox"/>
          <p:cNvSpPr txBox="1"/>
          <p:nvPr/>
        </p:nvSpPr>
        <p:spPr>
          <a:xfrm>
            <a:off x="621792" y="3063240"/>
            <a:ext cx="2377440" cy="1325880"/>
          </a:xfrm>
          <a:prstGeom prst="rect">
            <a:avLst/>
          </a:prstGeom>
          <a:noFill/>
        </p:spPr>
        <p:txBody>
          <a:bodyPr wrap="square" lIns="0" tIns="0" rIns="0" bIns="0" anchor="t">
            <a:noAutofit/>
          </a:bodyPr>
          <a:lstStyle/>
          <a:p>
            <a:pPr algn="l">
              <a:buNone/>
            </a:pPr>
            <a:r>
              <a:rPr lang="en-US" sz="1100" b="0" dirty="0">
                <a:solidFill>
                  <a:srgbClr val="1A1440"/>
                </a:solidFill>
                <a:latin typeface="Arial"/>
              </a:rPr>
              <a:t>The four cities with no system change grew 8.4% against a plan of 19.2%. Use this run-rate for second-half targets and cost planning.</a:t>
            </a:r>
          </a:p>
        </p:txBody>
      </p:sp>
      <p:sp>
        <p:nvSpPr>
          <p:cNvPr id="13" name="TextBox"/>
          <p:cNvSpPr txBox="1"/>
          <p:nvPr/>
        </p:nvSpPr>
        <p:spPr>
          <a:xfrm>
            <a:off x="621792" y="4434840"/>
            <a:ext cx="2377440" cy="594360"/>
          </a:xfrm>
          <a:prstGeom prst="rect">
            <a:avLst/>
          </a:prstGeom>
          <a:noFill/>
        </p:spPr>
        <p:txBody>
          <a:bodyPr wrap="square" lIns="0" tIns="0" rIns="0" bIns="0" anchor="b">
            <a:noAutofit/>
          </a:bodyPr>
          <a:lstStyle/>
          <a:p>
            <a:pPr algn="l">
              <a:buNone/>
            </a:pPr>
            <a:r>
              <a:rPr lang="en-US" sz="1100" b="1" dirty="0">
                <a:solidFill>
                  <a:srgbClr val="9C6A12"/>
                </a:solidFill>
                <a:latin typeface="Arial"/>
              </a:rPr>
              <a:t>One point of patient growth is about 4,350 tests.</a:t>
            </a:r>
          </a:p>
        </p:txBody>
      </p:sp>
      <p:sp>
        <p:nvSpPr>
          <p:cNvPr id="14" name="Rounded Rectangle"/>
          <p:cNvSpPr/>
          <p:nvPr/>
        </p:nvSpPr>
        <p:spPr>
          <a:xfrm>
            <a:off x="3314700" y="1645920"/>
            <a:ext cx="2674620" cy="3474720"/>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15" name="TextBox"/>
          <p:cNvSpPr txBox="1"/>
          <p:nvPr/>
        </p:nvSpPr>
        <p:spPr>
          <a:xfrm>
            <a:off x="3479292" y="1737360"/>
            <a:ext cx="2377440" cy="502920"/>
          </a:xfrm>
          <a:prstGeom prst="rect">
            <a:avLst/>
          </a:prstGeom>
          <a:noFill/>
        </p:spPr>
        <p:txBody>
          <a:bodyPr wrap="square" lIns="0" tIns="0" rIns="0" bIns="0" anchor="t">
            <a:noAutofit/>
          </a:bodyPr>
          <a:lstStyle/>
          <a:p>
            <a:pPr algn="l">
              <a:buNone/>
            </a:pPr>
            <a:r>
              <a:rPr lang="en-US" sz="2600" b="1" dirty="0">
                <a:solidFill>
                  <a:srgbClr val="4E38AB"/>
                </a:solidFill>
                <a:latin typeface="Georgia"/>
              </a:rPr>
              <a:t>2</a:t>
            </a:r>
          </a:p>
        </p:txBody>
      </p:sp>
      <p:sp>
        <p:nvSpPr>
          <p:cNvPr id="16" name="TextBox"/>
          <p:cNvSpPr txBox="1"/>
          <p:nvPr/>
        </p:nvSpPr>
        <p:spPr>
          <a:xfrm>
            <a:off x="3479292" y="2240280"/>
            <a:ext cx="2377440" cy="777240"/>
          </a:xfrm>
          <a:prstGeom prst="rect">
            <a:avLst/>
          </a:prstGeom>
          <a:noFill/>
        </p:spPr>
        <p:txBody>
          <a:bodyPr wrap="square" lIns="0" tIns="0" rIns="0" bIns="0" anchor="t">
            <a:noAutofit/>
          </a:bodyPr>
          <a:lstStyle/>
          <a:p>
            <a:pPr algn="l">
              <a:buNone/>
            </a:pPr>
            <a:r>
              <a:rPr lang="en-US" sz="1300" b="1" dirty="0">
                <a:solidFill>
                  <a:srgbClr val="1A1440"/>
                </a:solidFill>
                <a:latin typeface="Arial"/>
              </a:rPr>
              <a:t>Find the cause in Chennai and Jaipur before cutting staff</a:t>
            </a:r>
          </a:p>
        </p:txBody>
      </p:sp>
      <p:sp>
        <p:nvSpPr>
          <p:cNvPr id="17" name="TextBox"/>
          <p:cNvSpPr txBox="1"/>
          <p:nvPr/>
        </p:nvSpPr>
        <p:spPr>
          <a:xfrm>
            <a:off x="3479292" y="3063240"/>
            <a:ext cx="2377440" cy="1325880"/>
          </a:xfrm>
          <a:prstGeom prst="rect">
            <a:avLst/>
          </a:prstGeom>
          <a:noFill/>
        </p:spPr>
        <p:txBody>
          <a:bodyPr wrap="square" lIns="0" tIns="0" rIns="0" bIns="0" anchor="t">
            <a:noAutofit/>
          </a:bodyPr>
          <a:lstStyle/>
          <a:p>
            <a:pPr algn="l">
              <a:buNone/>
            </a:pPr>
            <a:r>
              <a:rPr lang="en-US" sz="1100" b="0" dirty="0">
                <a:solidFill>
                  <a:srgbClr val="1A1440"/>
                </a:solidFill>
                <a:latin typeface="Arial"/>
              </a:rPr>
              <a:t>The fall is real, so action is needed, but the cause is not known. Ask the city heads when competitor centres opened and how their prices compare.</a:t>
            </a:r>
          </a:p>
        </p:txBody>
      </p:sp>
      <p:sp>
        <p:nvSpPr>
          <p:cNvPr id="18" name="TextBox"/>
          <p:cNvSpPr txBox="1"/>
          <p:nvPr/>
        </p:nvSpPr>
        <p:spPr>
          <a:xfrm>
            <a:off x="3479292" y="4434840"/>
            <a:ext cx="2377440" cy="594360"/>
          </a:xfrm>
          <a:prstGeom prst="rect">
            <a:avLst/>
          </a:prstGeom>
          <a:noFill/>
        </p:spPr>
        <p:txBody>
          <a:bodyPr wrap="square" lIns="0" tIns="0" rIns="0" bIns="0" anchor="b">
            <a:noAutofit/>
          </a:bodyPr>
          <a:lstStyle/>
          <a:p>
            <a:pPr algn="l">
              <a:buNone/>
            </a:pPr>
            <a:r>
              <a:rPr lang="en-US" sz="1100" b="1" dirty="0">
                <a:solidFill>
                  <a:srgbClr val="9C6A12"/>
                </a:solidFill>
                <a:latin typeface="Arial"/>
              </a:rPr>
              <a:t>Back to last year's level: +4,239 tests. Back to plan: +25,484 tests.</a:t>
            </a:r>
          </a:p>
        </p:txBody>
      </p:sp>
      <p:sp>
        <p:nvSpPr>
          <p:cNvPr id="19" name="Rounded Rectangle"/>
          <p:cNvSpPr/>
          <p:nvPr/>
        </p:nvSpPr>
        <p:spPr>
          <a:xfrm>
            <a:off x="6172200" y="1645920"/>
            <a:ext cx="2674620" cy="3474720"/>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20" name="TextBox"/>
          <p:cNvSpPr txBox="1"/>
          <p:nvPr/>
        </p:nvSpPr>
        <p:spPr>
          <a:xfrm>
            <a:off x="6336792" y="1737360"/>
            <a:ext cx="2377440" cy="502920"/>
          </a:xfrm>
          <a:prstGeom prst="rect">
            <a:avLst/>
          </a:prstGeom>
          <a:noFill/>
        </p:spPr>
        <p:txBody>
          <a:bodyPr wrap="square" lIns="0" tIns="0" rIns="0" bIns="0" anchor="t">
            <a:noAutofit/>
          </a:bodyPr>
          <a:lstStyle/>
          <a:p>
            <a:pPr algn="l">
              <a:buNone/>
            </a:pPr>
            <a:r>
              <a:rPr lang="en-US" sz="2600" b="1" dirty="0">
                <a:solidFill>
                  <a:srgbClr val="4E38AB"/>
                </a:solidFill>
                <a:latin typeface="Georgia"/>
              </a:rPr>
              <a:t>3</a:t>
            </a:r>
          </a:p>
        </p:txBody>
      </p:sp>
      <p:sp>
        <p:nvSpPr>
          <p:cNvPr id="21" name="TextBox"/>
          <p:cNvSpPr txBox="1"/>
          <p:nvPr/>
        </p:nvSpPr>
        <p:spPr>
          <a:xfrm>
            <a:off x="6336792" y="2240280"/>
            <a:ext cx="2377440" cy="777240"/>
          </a:xfrm>
          <a:prstGeom prst="rect">
            <a:avLst/>
          </a:prstGeom>
          <a:noFill/>
        </p:spPr>
        <p:txBody>
          <a:bodyPr wrap="square" lIns="0" tIns="0" rIns="0" bIns="0" anchor="t">
            <a:noAutofit/>
          </a:bodyPr>
          <a:lstStyle/>
          <a:p>
            <a:pPr algn="l">
              <a:buNone/>
            </a:pPr>
            <a:r>
              <a:rPr lang="en-US" sz="1300" b="1" dirty="0">
                <a:solidFill>
                  <a:srgbClr val="1A1440"/>
                </a:solidFill>
                <a:latin typeface="Arial"/>
              </a:rPr>
              <a:t>Treat CHE-03 as a booking-mix problem first</a:t>
            </a:r>
          </a:p>
        </p:txBody>
      </p:sp>
      <p:sp>
        <p:nvSpPr>
          <p:cNvPr id="22" name="TextBox"/>
          <p:cNvSpPr txBox="1"/>
          <p:nvPr/>
        </p:nvSpPr>
        <p:spPr>
          <a:xfrm>
            <a:off x="6336792" y="3063240"/>
            <a:ext cx="2377440" cy="1325880"/>
          </a:xfrm>
          <a:prstGeom prst="rect">
            <a:avLst/>
          </a:prstGeom>
          <a:noFill/>
        </p:spPr>
        <p:txBody>
          <a:bodyPr wrap="square" lIns="0" tIns="0" rIns="0" bIns="0" anchor="t">
            <a:noAutofit/>
          </a:bodyPr>
          <a:lstStyle/>
          <a:p>
            <a:pPr algn="l">
              <a:buNone/>
            </a:pPr>
            <a:r>
              <a:rPr lang="en-US" sz="1100" b="0" dirty="0">
                <a:solidFill>
                  <a:srgbClr val="1A1440"/>
                </a:solidFill>
                <a:latin typeface="Arial"/>
              </a:rPr>
              <a:t>Its 17.3% no-show rate is not chance, but 86% of the gap is its evening slots (50% vs 26%) and phone bookings (44% vs 30%). Start with those visits, not the clinic.</a:t>
            </a:r>
          </a:p>
        </p:txBody>
      </p:sp>
      <p:sp>
        <p:nvSpPr>
          <p:cNvPr id="23" name="TextBox"/>
          <p:cNvSpPr txBox="1"/>
          <p:nvPr/>
        </p:nvSpPr>
        <p:spPr>
          <a:xfrm>
            <a:off x="6336792" y="4434840"/>
            <a:ext cx="2377440" cy="594360"/>
          </a:xfrm>
          <a:prstGeom prst="rect">
            <a:avLst/>
          </a:prstGeom>
          <a:noFill/>
        </p:spPr>
        <p:txBody>
          <a:bodyPr wrap="square" lIns="0" tIns="0" rIns="0" bIns="0" anchor="b">
            <a:noAutofit/>
          </a:bodyPr>
          <a:lstStyle/>
          <a:p>
            <a:pPr algn="l">
              <a:buNone/>
            </a:pPr>
            <a:r>
              <a:rPr lang="en-US" sz="1100" b="1" dirty="0">
                <a:solidFill>
                  <a:srgbClr val="9C6A12"/>
                </a:solidFill>
                <a:latin typeface="Arial"/>
              </a:rPr>
              <a:t>Left after matching: +0.4 points (95% band −0.1 to +0.9).</a:t>
            </a:r>
          </a:p>
        </p:txBody>
      </p:sp>
      <p:sp>
        <p:nvSpPr>
          <p:cNvPr id="24" name="Rounded Rectangle"/>
          <p:cNvSpPr/>
          <p:nvPr/>
        </p:nvSpPr>
        <p:spPr>
          <a:xfrm>
            <a:off x="9029700" y="1645920"/>
            <a:ext cx="2674620" cy="3474720"/>
          </a:xfrm>
          <a:prstGeom prst="roundRect">
            <a:avLst>
              <a:gd name="adj" fmla="val 8000"/>
            </a:avLst>
          </a:prstGeom>
          <a:solidFill>
            <a:srgbClr val="FFFFFF"/>
          </a:solidFill>
          <a:ln w="12700">
            <a:solidFill>
              <a:srgbClr val="D9D2F4"/>
            </a:solidFill>
          </a:ln>
          <a:effectLst/>
        </p:spPr>
        <p:txBody>
          <a:bodyPr lIns="0" tIns="0" rIns="0" bIns="0" rtlCol="0" anchor="ctr"/>
          <a:lstStyle/>
          <a:p>
            <a:endParaRPr lang="en-US"/>
          </a:p>
        </p:txBody>
      </p:sp>
      <p:sp>
        <p:nvSpPr>
          <p:cNvPr id="25" name="TextBox"/>
          <p:cNvSpPr txBox="1"/>
          <p:nvPr/>
        </p:nvSpPr>
        <p:spPr>
          <a:xfrm>
            <a:off x="9194292" y="1737360"/>
            <a:ext cx="2377440" cy="502920"/>
          </a:xfrm>
          <a:prstGeom prst="rect">
            <a:avLst/>
          </a:prstGeom>
          <a:noFill/>
        </p:spPr>
        <p:txBody>
          <a:bodyPr wrap="square" lIns="0" tIns="0" rIns="0" bIns="0" anchor="t">
            <a:noAutofit/>
          </a:bodyPr>
          <a:lstStyle/>
          <a:p>
            <a:pPr algn="l">
              <a:buNone/>
            </a:pPr>
            <a:r>
              <a:rPr lang="en-US" sz="2600" b="1" dirty="0">
                <a:solidFill>
                  <a:srgbClr val="4E38AB"/>
                </a:solidFill>
                <a:latin typeface="Georgia"/>
              </a:rPr>
              <a:t>4</a:t>
            </a:r>
          </a:p>
        </p:txBody>
      </p:sp>
      <p:sp>
        <p:nvSpPr>
          <p:cNvPr id="26" name="TextBox"/>
          <p:cNvSpPr txBox="1"/>
          <p:nvPr/>
        </p:nvSpPr>
        <p:spPr>
          <a:xfrm>
            <a:off x="9194292" y="2240280"/>
            <a:ext cx="2377440" cy="777240"/>
          </a:xfrm>
          <a:prstGeom prst="rect">
            <a:avLst/>
          </a:prstGeom>
          <a:noFill/>
        </p:spPr>
        <p:txBody>
          <a:bodyPr wrap="square" lIns="0" tIns="0" rIns="0" bIns="0" anchor="t">
            <a:noAutofit/>
          </a:bodyPr>
          <a:lstStyle/>
          <a:p>
            <a:pPr algn="l">
              <a:buNone/>
            </a:pPr>
            <a:r>
              <a:rPr lang="en-US" sz="1300" b="1" dirty="0">
                <a:solidFill>
                  <a:srgbClr val="1A1440"/>
                </a:solidFill>
                <a:latin typeface="Arial"/>
              </a:rPr>
              <a:t>Study the growth in home collection</a:t>
            </a:r>
          </a:p>
        </p:txBody>
      </p:sp>
      <p:sp>
        <p:nvSpPr>
          <p:cNvPr id="27" name="TextBox"/>
          <p:cNvSpPr txBox="1"/>
          <p:nvPr/>
        </p:nvSpPr>
        <p:spPr>
          <a:xfrm>
            <a:off x="9194292" y="3063240"/>
            <a:ext cx="2377440" cy="1325880"/>
          </a:xfrm>
          <a:prstGeom prst="rect">
            <a:avLst/>
          </a:prstGeom>
          <a:noFill/>
        </p:spPr>
        <p:txBody>
          <a:bodyPr wrap="square" lIns="0" tIns="0" rIns="0" bIns="0" anchor="t">
            <a:noAutofit/>
          </a:bodyPr>
          <a:lstStyle/>
          <a:p>
            <a:pPr algn="l">
              <a:buNone/>
            </a:pPr>
            <a:r>
              <a:rPr lang="en-US" sz="1100" b="0" dirty="0">
                <a:solidFill>
                  <a:srgbClr val="1A1440"/>
                </a:solidFill>
                <a:latin typeface="Arial"/>
              </a:rPr>
              <a:t>Home tests grew by 55,754 and clinic tests fell by 33,974. Check if home brings new patients or only moves existing ones, and what it costs.</a:t>
            </a:r>
          </a:p>
        </p:txBody>
      </p:sp>
      <p:sp>
        <p:nvSpPr>
          <p:cNvPr id="28" name="TextBox"/>
          <p:cNvSpPr txBox="1"/>
          <p:nvPr/>
        </p:nvSpPr>
        <p:spPr>
          <a:xfrm>
            <a:off x="9194292" y="4434840"/>
            <a:ext cx="2377440" cy="594360"/>
          </a:xfrm>
          <a:prstGeom prst="rect">
            <a:avLst/>
          </a:prstGeom>
          <a:noFill/>
        </p:spPr>
        <p:txBody>
          <a:bodyPr wrap="square" lIns="0" tIns="0" rIns="0" bIns="0" anchor="b">
            <a:noAutofit/>
          </a:bodyPr>
          <a:lstStyle/>
          <a:p>
            <a:pPr algn="l">
              <a:buNone/>
            </a:pPr>
            <a:r>
              <a:rPr lang="en-US" sz="1100" b="1" dirty="0">
                <a:solidFill>
                  <a:srgbClr val="9C6A12"/>
                </a:solidFill>
                <a:latin typeface="Arial"/>
              </a:rPr>
              <a:t>Extra finding, outside Briefs A, B and D.</a:t>
            </a:r>
          </a:p>
        </p:txBody>
      </p:sp>
      <p:sp>
        <p:nvSpPr>
          <p:cNvPr id="29" name="TextBox"/>
          <p:cNvSpPr txBox="1"/>
          <p:nvPr/>
        </p:nvSpPr>
        <p:spPr>
          <a:xfrm>
            <a:off x="457200" y="5230368"/>
            <a:ext cx="11247120" cy="621792"/>
          </a:xfrm>
          <a:prstGeom prst="rect">
            <a:avLst/>
          </a:prstGeom>
          <a:noFill/>
        </p:spPr>
        <p:txBody>
          <a:bodyPr wrap="square" lIns="0" tIns="0" rIns="0" bIns="0" anchor="t">
            <a:noAutofit/>
          </a:bodyPr>
          <a:lstStyle/>
          <a:p>
            <a:pPr algn="l">
              <a:buNone/>
            </a:pPr>
            <a:r>
              <a:rPr lang="en-US" sz="1100" b="1" dirty="0">
                <a:solidFill>
                  <a:srgbClr val="4E38AB"/>
                </a:solidFill>
                <a:latin typeface="Arial"/>
              </a:rPr>
              <a:t>What we would do with two more days: </a:t>
            </a:r>
            <a:r>
              <a:rPr lang="en-US" sz="1100" b="0" dirty="0">
                <a:solidFill>
                  <a:srgbClr val="1A1440"/>
                </a:solidFill>
                <a:latin typeface="Arial"/>
              </a:rPr>
              <a:t>add the rule that test codes must look like T### or PK## (it would reject the 1,289 lines with no code); record how each cleaning step changes the headline growth rate; move the booked, collected and tested comparison into the main flow; update the notebook notes that still say 'missing'. Next data: campaigns (Brief E), invoices and payments (Brief C).</a:t>
            </a:r>
          </a:p>
        </p:txBody>
      </p:sp>
      <p:sp>
        <p:nvSpPr>
          <p:cNvPr id="30" name="TextBox"/>
          <p:cNvSpPr txBox="1"/>
          <p:nvPr/>
        </p:nvSpPr>
        <p:spPr>
          <a:xfrm>
            <a:off x="457200" y="5897880"/>
            <a:ext cx="11247120" cy="292608"/>
          </a:xfrm>
          <a:prstGeom prst="rect">
            <a:avLst/>
          </a:prstGeom>
          <a:noFill/>
        </p:spPr>
        <p:txBody>
          <a:bodyPr wrap="square" lIns="0" tIns="0" rIns="0" bIns="0" anchor="t">
            <a:noAutofit/>
          </a:bodyPr>
          <a:lstStyle/>
          <a:p>
            <a:pPr algn="l">
              <a:buNone/>
            </a:pPr>
            <a:r>
              <a:rPr lang="en-US" sz="900" b="0" dirty="0">
                <a:solidFill>
                  <a:srgbClr val="6B6690"/>
                </a:solidFill>
                <a:latin typeface="Arial"/>
              </a:rPr>
              <a:t>The cost of each action is not in our data and needs to be worked out with finance.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5" name="TextBox 3"/>
          <p:cNvSpPr txBox="1"/>
          <p:nvPr/>
        </p:nvSpPr>
        <p:spPr>
          <a:xfrm>
            <a:off x="548640" y="3657600"/>
            <a:ext cx="10058400" cy="914400"/>
          </a:xfrm>
          <a:prstGeom prst="rect">
            <a:avLst/>
          </a:prstGeom>
          <a:noFill/>
        </p:spPr>
        <p:txBody>
          <a:bodyPr wrap="square">
            <a:spAutoFit/>
          </a:bodyPr>
          <a:lstStyle/>
          <a:p>
            <a:pPr algn="l"/>
            <a:r>
              <a:rPr sz="1600" b="0">
                <a:solidFill>
                  <a:srgbClr val="DCD6F7"/>
                </a:solidFill>
                <a:latin typeface="Arial"/>
              </a:rPr>
              <a:t>The notebook, the cleaned bookings and the rejects log (every rejected row with its reason) are in the repository: github.com/Nitishvarma50/kalpa-health-growth-analysis</a:t>
            </a:r>
          </a:p>
        </p:txBody>
      </p:sp>
    </p:spTree>
  </p:cSld>
  <p:clrMapOvr>
    <a:masterClrMapping/>
  </p:clrMapOvr>
</p:sld>
</file>

<file path=ppt/theme/theme1.xml><?xml version="1.0" encoding="utf-8"?>
<a:theme xmlns:a="http://schemas.openxmlformats.org/drawingml/2006/main" name="Kalpa Review">
  <a:themeElements>
    <a:clrScheme name="Kalpa Review">
      <a:dk1>
        <a:srgbClr val="262626"/>
      </a:dk1>
      <a:lt1>
        <a:srgbClr val="FFFFFF"/>
      </a:lt1>
      <a:dk2>
        <a:srgbClr val="1F3A5F"/>
      </a:dk2>
      <a:lt2>
        <a:srgbClr val="F3F6F9"/>
      </a:lt2>
      <a:accent1>
        <a:srgbClr val="2E75B6"/>
      </a:accent1>
      <a:accent2>
        <a:srgbClr val="C00000"/>
      </a:accent2>
      <a:accent3>
        <a:srgbClr val="ED7D31"/>
      </a:accent3>
      <a:accent4>
        <a:srgbClr val="A6A6A6"/>
      </a:accent4>
      <a:accent5>
        <a:srgbClr val="548235"/>
      </a:accent5>
      <a:accent6>
        <a:srgbClr val="595959"/>
      </a:accent6>
      <a:hlink>
        <a:srgbClr val="2E75B6"/>
      </a:hlink>
      <a:folHlink>
        <a:srgbClr val="595959"/>
      </a:folHlink>
    </a:clrScheme>
    <a:fontScheme name="Kalpa Review">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3239</Words>
  <Application>Microsoft Office PowerPoint</Application>
  <PresentationFormat>Widescreen</PresentationFormat>
  <Paragraphs>330</Paragraphs>
  <Slides>15</Slides>
  <Notes>15</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Kalpa Review</vt:lpstr>
      <vt:lpstr>Where did our growth fall short?</vt:lpstr>
      <vt:lpstr>Summary: we grew 5.0% against a plan of 18.6%</vt:lpstr>
      <vt:lpstr>We combined five data sources and cleaned them before the analysis</vt:lpstr>
      <vt:lpstr>Test volume grew 5.0%, but the plan needed 18.6%</vt:lpstr>
      <vt:lpstr>Brief A: not enough patients is the main reason for the gap</vt:lpstr>
      <vt:lpstr>PowerPoint Presentation</vt:lpstr>
      <vt:lpstr>PowerPoint Presentation</vt:lpstr>
      <vt:lpstr>Chennai, Bengaluru and Jaipur missed plan by the most: 65% of the gap</vt:lpstr>
      <vt:lpstr>Growth by city: only Chennai and Jaipur lost patients</vt:lpstr>
      <vt:lpstr>Brief B: Jaipur fell before the new system; Chennai fell after it</vt:lpstr>
      <vt:lpstr>The fall is real: it is not caused by the new booking system</vt:lpstr>
      <vt:lpstr>PowerPoint Presentation</vt:lpstr>
      <vt:lpstr>PowerPoint Presentation</vt:lpstr>
      <vt:lpstr>What to keep in mind, and what we will improve in the notebook</vt:lpstr>
      <vt:lpstr>Recommendations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Kalpa Health: H1 2026 growth review</dc:title>
  <dc:subject>PptxGenJS Presentation</dc:subject>
  <dc:creator>Data Analytics</dc:creator>
  <cp:lastModifiedBy>Sharad Panchal</cp:lastModifiedBy>
  <cp:revision>3</cp:revision>
  <dcterms:created xsi:type="dcterms:W3CDTF">2026-10-24T14:16:00Z</dcterms:created>
  <dcterms:modified xsi:type="dcterms:W3CDTF">2026-10-25T10:05:27Z</dcterms:modified>
</cp:coreProperties>
</file>
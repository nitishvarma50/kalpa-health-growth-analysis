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view" id="{30358e57-cc64-ef08-b091-3bff930101c4}">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Tests in the first half (thousands)</a:t>
            </a:r>
          </a:p>
        </c:rich>
      </c:tx>
      <c:layout/>
      <c:overlay val="0"/>
    </c:title>
    <c:autoTitleDeleted val="0"/>
    <c:plotArea>
      <c:layout/>
      <c:barChart>
        <c:barDir val="col"/>
        <c:grouping val="clustered"/>
        <c:varyColors val="0"/>
        <c:ser>
          <c:idx val="0"/>
          <c:order val="0"/>
          <c:tx>
            <c:strRef>
              <c:f>Sheet1!$B$1</c:f>
              <c:strCache>
                <c:ptCount val="1"/>
                <c:pt idx="0">
                  <c:v>Tests</c:v>
                </c:pt>
              </c:strCache>
            </c:strRef>
          </c:tx>
          <c:spPr>
            <a:solidFill>
              <a:srgbClr val="A6A6A6"/>
            </a:solidFill>
            <a:effectLst/>
          </c:spPr>
          <c:invertIfNegative val="0"/>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2E75B6"/>
              </a:solidFill>
              <a:effectLst/>
            </c:spPr>
          </c:dPt>
          <c:dPt>
            <c:idx val="2"/>
            <c:invertIfNegative val="0"/>
            <c:bubble3D val="0"/>
            <c:spPr>
              <a:solidFill>
                <a:srgbClr val="ED7D31"/>
              </a:solidFill>
              <a:effectLst/>
            </c:spPr>
          </c:dPt>
          <c:cat>
            <c:multiLvlStrRef>
              <c:f>Sheet1!$A$2:$A$4</c:f>
              <c:multiLvlStrCache>
                <c:ptCount val="3"/>
                <c:lvl>
                  <c:pt idx="0">
                    <c:v>H1 2025 actual</c:v>
                  </c:pt>
                  <c:pt idx="1">
                    <c:v>H1 2026 actual</c:v>
                  </c:pt>
                  <c:pt idx="2">
                    <c:v>H1 2026 plan</c:v>
                  </c:pt>
                </c:lvl>
              </c:multiLvlStrCache>
            </c:multiLvlStrRef>
          </c:cat>
          <c:val>
            <c:numRef>
              <c:f>Sheet1!$B$2:$B$4</c:f>
              <c:numCache>
                <c:formatCode>General</c:formatCode>
                <c:ptCount val="3"/>
                <c:pt idx="0">
                  <c:v>435.008</c:v>
                </c:pt>
                <c:pt idx="1">
                  <c:v>456.788</c:v>
                </c:pt>
                <c:pt idx="2">
                  <c:v>515.74</c:v>
                </c:pt>
              </c:numCache>
            </c:numRef>
          </c:val>
        </c:ser>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9525" cap="flat">
              <a:solidFill>
                <a:srgbClr val="E7E7E7"/>
              </a:solidFill>
              <a:prstDash val="solid"/>
              <a:round/>
            </a:ln>
          </c:spPr>
        </c:majorGridlines>
        <c:numFmt formatCode="0&quot;K&quot;" sourceLinked="0"/>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Growth, H1 2026 vs H1 2025</a:t>
            </a:r>
          </a:p>
        </c:rich>
      </c:tx>
      <c:layout/>
      <c:overlay val="0"/>
    </c:title>
    <c:autoTitleDeleted val="0"/>
    <c:plotArea>
      <c:layout/>
      <c:barChart>
        <c:barDir val="col"/>
        <c:grouping val="clustered"/>
        <c:varyColors val="0"/>
        <c:ser>
          <c:idx val="0"/>
          <c:order val="0"/>
          <c:tx>
            <c:strRef>
              <c:f>Sheet1!$B$1</c:f>
              <c:strCache>
                <c:ptCount val="1"/>
                <c:pt idx="0">
                  <c:v>Growth</c:v>
                </c:pt>
              </c:strCache>
            </c:strRef>
          </c:tx>
          <c:spPr>
            <a:solidFill>
              <a:srgbClr val="2E75B6"/>
            </a:solidFill>
            <a:effectLst/>
          </c:spPr>
          <c:invertIfNegative val="0"/>
          <c:dLbls>
            <c:numFmt formatCode="+0.0&quot;%&quot;;-0.0&quot;%&quot;;0.0&quot;%&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dPt>
            <c:idx val="0"/>
            <c:invertIfNegative val="0"/>
            <c:bubble3D val="0"/>
            <c:spPr>
              <a:solidFill>
                <a:srgbClr val="2E75B6"/>
              </a:solidFill>
              <a:effectLst/>
            </c:spPr>
          </c:dPt>
          <c:dPt>
            <c:idx val="1"/>
            <c:invertIfNegative val="0"/>
            <c:bubble3D val="0"/>
            <c:spPr>
              <a:solidFill>
                <a:srgbClr val="C00000"/>
              </a:solidFill>
              <a:effectLst/>
            </c:spPr>
          </c:dPt>
          <c:dPt>
            <c:idx val="2"/>
            <c:invertIfNegative val="0"/>
            <c:bubble3D val="0"/>
            <c:spPr>
              <a:solidFill>
                <a:srgbClr val="2E75B6"/>
              </a:solidFill>
              <a:effectLst/>
            </c:spPr>
          </c:dPt>
          <c:dPt>
            <c:idx val="3"/>
            <c:invertIfNegative val="0"/>
            <c:bubble3D val="0"/>
            <c:spPr>
              <a:solidFill>
                <a:srgbClr val="1F3A5F"/>
              </a:solidFill>
              <a:effectLst/>
            </c:spPr>
          </c:dPt>
          <c:cat>
            <c:multiLvlStrRef>
              <c:f>Sheet1!$A$2:$A$5</c:f>
              <c:multiLvlStrCache>
                <c:ptCount val="4"/>
                <c:lvl>
                  <c:pt idx="0">
                    <c:v>Patients</c:v>
                  </c:pt>
                  <c:pt idx="1">
                    <c:v>Visits per patient</c:v>
                  </c:pt>
                  <c:pt idx="2">
                    <c:v>Tests per visit</c:v>
                  </c:pt>
                  <c:pt idx="3">
                    <c:v>Total tests</c:v>
                  </c:pt>
                </c:lvl>
              </c:multiLvlStrCache>
            </c:multiLvlStrRef>
          </c:cat>
          <c:val>
            <c:numRef>
              <c:f>Sheet1!$B$2:$B$5</c:f>
              <c:numCache>
                <c:formatCode>General</c:formatCode>
                <c:ptCount val="4"/>
                <c:pt idx="0">
                  <c:v>3.8</c:v>
                </c:pt>
                <c:pt idx="1">
                  <c:v>-1</c:v>
                </c:pt>
                <c:pt idx="2">
                  <c:v>2.2</c:v>
                </c:pt>
                <c:pt idx="3">
                  <c:v>5</c:v>
                </c:pt>
              </c:numCache>
            </c:numRef>
          </c:val>
        </c:ser>
        <c:dLbls>
          <c:numFmt formatCode="+0.0&quot;%&quot;;-0.0&quot;%&quot;;0.0&quot;%&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8"/>
          <c:min val="-4"/>
        </c:scaling>
        <c:delete val="0"/>
        <c:axPos val="l"/>
        <c:majorGridlines>
          <c:spPr>
            <a:ln w="9525" cap="flat">
              <a:solidFill>
                <a:srgbClr val="E7E7E7"/>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Tests short of plan, H1 2026 (thousands)</a:t>
            </a:r>
          </a:p>
        </c:rich>
      </c:tx>
      <c:layout/>
      <c:overlay val="0"/>
    </c:title>
    <c:autoTitleDeleted val="0"/>
    <c:plotArea>
      <c:layout/>
      <c:barChart>
        <c:barDir val="bar"/>
        <c:grouping val="clustered"/>
        <c:varyColors val="0"/>
        <c:ser>
          <c:idx val="0"/>
          <c:order val="0"/>
          <c:tx>
            <c:strRef>
              <c:f>Sheet1!$B$1</c:f>
              <c:strCache>
                <c:ptCount val="1"/>
                <c:pt idx="0">
                  <c:v>Shortfall</c:v>
                </c:pt>
              </c:strCache>
            </c:strRef>
          </c:tx>
          <c:spPr>
            <a:solidFill>
              <a:srgbClr val="C00000"/>
            </a:solidFill>
            <a:effectLst/>
          </c:spPr>
          <c:invertIfNegative val="0"/>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A6A6A6"/>
              </a:solidFill>
              <a:effectLst/>
            </c:spPr>
          </c:dPt>
          <c:dPt>
            <c:idx val="2"/>
            <c:invertIfNegative val="0"/>
            <c:bubble3D val="0"/>
            <c:spPr>
              <a:solidFill>
                <a:srgbClr val="C00000"/>
              </a:solidFill>
              <a:effectLst/>
            </c:spPr>
          </c:dPt>
          <c:dPt>
            <c:idx val="3"/>
            <c:invertIfNegative val="0"/>
            <c:bubble3D val="0"/>
            <c:spPr>
              <a:solidFill>
                <a:srgbClr val="A6A6A6"/>
              </a:solidFill>
              <a:effectLst/>
            </c:spPr>
          </c:dPt>
          <c:dPt>
            <c:idx val="4"/>
            <c:invertIfNegative val="0"/>
            <c:bubble3D val="0"/>
            <c:spPr>
              <a:solidFill>
                <a:srgbClr val="A6A6A6"/>
              </a:solidFill>
              <a:effectLst/>
            </c:spPr>
          </c:dPt>
          <c:dPt>
            <c:idx val="5"/>
            <c:invertIfNegative val="0"/>
            <c:bubble3D val="0"/>
            <c:spPr>
              <a:solidFill>
                <a:srgbClr val="A6A6A6"/>
              </a:solidFill>
              <a:effectLst/>
            </c:spPr>
          </c:dPt>
          <c:cat>
            <c:multiLvlStrRef>
              <c:f>Sheet1!$A$2:$A$7</c:f>
              <c:multiLvlStrCache>
                <c:ptCount val="6"/>
                <c:lvl>
                  <c:pt idx="0">
                    <c:v>Chennai</c:v>
                  </c:pt>
                  <c:pt idx="1">
                    <c:v>Bengaluru</c:v>
                  </c:pt>
                  <c:pt idx="2">
                    <c:v>Jaipur</c:v>
                  </c:pt>
                  <c:pt idx="3">
                    <c:v>Hyderabad</c:v>
                  </c:pt>
                  <c:pt idx="4">
                    <c:v>Pune</c:v>
                  </c:pt>
                  <c:pt idx="5">
                    <c:v>Ahmedabad</c:v>
                  </c:pt>
                </c:lvl>
              </c:multiLvlStrCache>
            </c:multiLvlStrRef>
          </c:cat>
          <c:val>
            <c:numRef>
              <c:f>Sheet1!$B$2:$B$7</c:f>
              <c:numCache>
                <c:formatCode>General</c:formatCode>
                <c:ptCount val="6"/>
                <c:pt idx="0">
                  <c:v>13.276</c:v>
                </c:pt>
                <c:pt idx="1">
                  <c:v>12.73</c:v>
                </c:pt>
                <c:pt idx="2">
                  <c:v>12.208</c:v>
                </c:pt>
                <c:pt idx="3">
                  <c:v>7.971</c:v>
                </c:pt>
                <c:pt idx="4">
                  <c:v>6.81</c:v>
                </c:pt>
                <c:pt idx="5">
                  <c:v>5.957</c:v>
                </c:pt>
              </c:numCache>
            </c:numRef>
          </c:val>
        </c:ser>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Chennai: visits per month</a:t>
            </a:r>
          </a:p>
        </c:rich>
      </c:tx>
      <c:layout/>
      <c:overlay val="0"/>
    </c:title>
    <c:autoTitleDeleted val="0"/>
    <c:plotArea>
      <c:layout/>
      <c:lineChart>
        <c:varyColors val="0"/>
        <c:ser>
          <c:idx val="0"/>
          <c:order val="0"/>
          <c:tx>
            <c:strRef>
              <c:f>Sheet1!$B$1</c:f>
              <c:strCache>
                <c:ptCount val="1"/>
                <c:pt idx="0">
                  <c:v>H1 2025</c:v>
                </c:pt>
              </c:strCache>
            </c:strRef>
          </c:tx>
          <c:spPr>
            <a:solidFill>
              <a:srgbClr val="A6A6A6"/>
            </a:solidFill>
            <a:ln w="38100" cap="flat">
              <a:solidFill>
                <a:srgbClr val="A6A6A6"/>
              </a:solidFill>
              <a:prstDash val="solid"/>
              <a:round/>
            </a:ln>
            <a:effectLst/>
          </c:spPr>
          <c:invertIfNegative val="0"/>
          <c:dLbls>
            <c:numFmt formatCode="#,##0" sourceLinked="0"/>
            <c:txPr>
              <a:bodyPr/>
              <a:lstStyle/>
              <a:p>
                <a:pPr>
                  <a:defRPr b="0" i="0" strike="noStrike" sz="1200" u="none">
                    <a:solidFill>
                      <a:srgbClr val="262626"/>
                    </a:solidFill>
                    <a:latin typeface="+mn-lt"/>
                  </a:defRPr>
                </a:pPr>
              </a:p>
            </c:txPr>
            <c:showLegendKey val="0"/>
            <c:showVal val="0"/>
            <c:showCatName val="0"/>
            <c:showSerName val="0"/>
            <c:showPercent val="0"/>
            <c:showBubbleSize val="0"/>
            <c:showLeaderLines val="0"/>
          </c:dLbls>
          <c:marker>
            <c:symbol val="circle"/>
            <c:size val="7"/>
            <c:spPr>
              <a:solidFill>
                <a:srgbClr val="A6A6A6"/>
              </a:solidFill>
              <a:ln w="9525" cap="flat">
                <a:solidFill>
                  <a:srgbClr val="A6A6A6"/>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5713</c:v>
                </c:pt>
                <c:pt idx="1">
                  <c:v>5609</c:v>
                </c:pt>
                <c:pt idx="2">
                  <c:v>6107</c:v>
                </c:pt>
                <c:pt idx="3">
                  <c:v>5821</c:v>
                </c:pt>
                <c:pt idx="4">
                  <c:v>5826</c:v>
                </c:pt>
                <c:pt idx="5">
                  <c:v>5811</c:v>
                </c:pt>
              </c:numCache>
            </c:numRef>
          </c:val>
          <c:smooth val="0"/>
        </c:ser>
        <c:ser>
          <c:idx val="1"/>
          <c:order val="1"/>
          <c:tx>
            <c:strRef>
              <c:f>Sheet1!$C$1</c:f>
              <c:strCache>
                <c:ptCount val="1"/>
                <c:pt idx="0">
                  <c:v>H1 2026</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262626"/>
                    </a:solidFill>
                    <a:latin typeface="+mn-lt"/>
                  </a:defRPr>
                </a:pPr>
              </a:p>
            </c:txPr>
            <c:showLegendKey val="0"/>
            <c:showVal val="0"/>
            <c:showCatName val="0"/>
            <c:showSerName val="0"/>
            <c:showPercent val="0"/>
            <c:showBubbleSize val="0"/>
            <c:showLeaderLines val="0"/>
          </c:dLbls>
          <c:marker>
            <c:symbol val="circle"/>
            <c:size val="7"/>
            <c:spPr>
              <a:solidFill>
                <a:srgbClr val="2E75B6"/>
              </a:solidFill>
              <a:ln w="9525" cap="flat">
                <a:solidFill>
                  <a:srgbClr val="2E75B6"/>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5765</c:v>
                </c:pt>
                <c:pt idx="1">
                  <c:v>6180</c:v>
                </c:pt>
                <c:pt idx="2">
                  <c:v>5664</c:v>
                </c:pt>
                <c:pt idx="3">
                  <c:v>5535</c:v>
                </c:pt>
                <c:pt idx="4">
                  <c:v>5571</c:v>
                </c:pt>
                <c:pt idx="5">
                  <c:v>5479</c:v>
                </c:pt>
              </c:numCache>
            </c:numRef>
          </c:val>
          <c:smooth val="0"/>
        </c:ser>
        <c:dLbls>
          <c:numFmt formatCode="#,##0" sourceLinked="0"/>
          <c:txPr>
            <a:bodyPr/>
            <a:lstStyle/>
            <a:p>
              <a:pPr>
                <a:defRPr b="0" i="0" strike="noStrike" sz="1200" u="none">
                  <a:solidFill>
                    <a:srgbClr val="2626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6500"/>
          <c:min val="4500"/>
        </c:scaling>
        <c:delete val="0"/>
        <c:axPos val="l"/>
        <c:majorGridlines>
          <c:spPr>
            <a:ln w="9525" cap="flat">
              <a:solidFill>
                <a:srgbClr val="E7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Jaipur: visits per month</a:t>
            </a:r>
          </a:p>
        </c:rich>
      </c:tx>
      <c:layout/>
      <c:overlay val="0"/>
    </c:title>
    <c:autoTitleDeleted val="0"/>
    <c:plotArea>
      <c:layout/>
      <c:lineChart>
        <c:varyColors val="0"/>
        <c:ser>
          <c:idx val="0"/>
          <c:order val="0"/>
          <c:tx>
            <c:strRef>
              <c:f>Sheet1!$B$1</c:f>
              <c:strCache>
                <c:ptCount val="1"/>
                <c:pt idx="0">
                  <c:v>H1 2025</c:v>
                </c:pt>
              </c:strCache>
            </c:strRef>
          </c:tx>
          <c:spPr>
            <a:solidFill>
              <a:srgbClr val="A6A6A6"/>
            </a:solidFill>
            <a:ln w="38100" cap="flat">
              <a:solidFill>
                <a:srgbClr val="A6A6A6"/>
              </a:solidFill>
              <a:prstDash val="solid"/>
              <a:round/>
            </a:ln>
            <a:effectLst/>
          </c:spPr>
          <c:invertIfNegative val="0"/>
          <c:dLbls>
            <c:numFmt formatCode="#,##0" sourceLinked="0"/>
            <c:txPr>
              <a:bodyPr/>
              <a:lstStyle/>
              <a:p>
                <a:pPr>
                  <a:defRPr b="0" i="0" strike="noStrike" sz="1200" u="none">
                    <a:solidFill>
                      <a:srgbClr val="262626"/>
                    </a:solidFill>
                    <a:latin typeface="+mn-lt"/>
                  </a:defRPr>
                </a:pPr>
              </a:p>
            </c:txPr>
            <c:showLegendKey val="0"/>
            <c:showVal val="0"/>
            <c:showCatName val="0"/>
            <c:showSerName val="0"/>
            <c:showPercent val="0"/>
            <c:showBubbleSize val="0"/>
            <c:showLeaderLines val="0"/>
          </c:dLbls>
          <c:marker>
            <c:symbol val="circle"/>
            <c:size val="7"/>
            <c:spPr>
              <a:solidFill>
                <a:srgbClr val="A6A6A6"/>
              </a:solidFill>
              <a:ln w="9525" cap="flat">
                <a:solidFill>
                  <a:srgbClr val="A6A6A6"/>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3331</c:v>
                </c:pt>
                <c:pt idx="1">
                  <c:v>3491</c:v>
                </c:pt>
                <c:pt idx="2">
                  <c:v>3605</c:v>
                </c:pt>
                <c:pt idx="3">
                  <c:v>2941</c:v>
                </c:pt>
                <c:pt idx="4">
                  <c:v>3189</c:v>
                </c:pt>
                <c:pt idx="5">
                  <c:v>3031</c:v>
                </c:pt>
              </c:numCache>
            </c:numRef>
          </c:val>
          <c:smooth val="0"/>
        </c:ser>
        <c:ser>
          <c:idx val="1"/>
          <c:order val="1"/>
          <c:tx>
            <c:strRef>
              <c:f>Sheet1!$C$1</c:f>
              <c:strCache>
                <c:ptCount val="1"/>
                <c:pt idx="0">
                  <c:v>H1 2026</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262626"/>
                    </a:solidFill>
                    <a:latin typeface="+mn-lt"/>
                  </a:defRPr>
                </a:pPr>
              </a:p>
            </c:txPr>
            <c:showLegendKey val="0"/>
            <c:showVal val="0"/>
            <c:showCatName val="0"/>
            <c:showSerName val="0"/>
            <c:showPercent val="0"/>
            <c:showBubbleSize val="0"/>
            <c:showLeaderLines val="0"/>
          </c:dLbls>
          <c:marker>
            <c:symbol val="circle"/>
            <c:size val="7"/>
            <c:spPr>
              <a:solidFill>
                <a:srgbClr val="2E75B6"/>
              </a:solidFill>
              <a:ln w="9525" cap="flat">
                <a:solidFill>
                  <a:srgbClr val="2E75B6"/>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2905</c:v>
                </c:pt>
                <c:pt idx="1">
                  <c:v>2930</c:v>
                </c:pt>
                <c:pt idx="2">
                  <c:v>2940</c:v>
                </c:pt>
                <c:pt idx="3">
                  <c:v>2754</c:v>
                </c:pt>
                <c:pt idx="4">
                  <c:v>2771</c:v>
                </c:pt>
                <c:pt idx="5">
                  <c:v>2869</c:v>
                </c:pt>
              </c:numCache>
            </c:numRef>
          </c:val>
          <c:smooth val="0"/>
        </c:ser>
        <c:dLbls>
          <c:numFmt formatCode="#,##0" sourceLinked="0"/>
          <c:txPr>
            <a:bodyPr/>
            <a:lstStyle/>
            <a:p>
              <a:pPr>
                <a:defRPr b="0" i="0" strike="noStrike" sz="1200" u="none">
                  <a:solidFill>
                    <a:srgbClr val="2626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4000"/>
          <c:min val="2000"/>
        </c:scaling>
        <c:delete val="0"/>
        <c:axPos val="l"/>
        <c:majorGridlines>
          <c:spPr>
            <a:ln w="9525" cap="flat">
              <a:solidFill>
                <a:srgbClr val="E7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Growth, H1 2026 vs H1 2025</a:t>
            </a:r>
          </a:p>
        </c:rich>
      </c:tx>
      <c:layout/>
      <c:overlay val="0"/>
    </c:title>
    <c:autoTitleDeleted val="0"/>
    <c:plotArea>
      <c:layout/>
      <c:barChart>
        <c:barDir val="col"/>
        <c:grouping val="clustered"/>
        <c:varyColors val="0"/>
        <c:ser>
          <c:idx val="0"/>
          <c:order val="0"/>
          <c:tx>
            <c:strRef>
              <c:f>Sheet1!$B$1</c:f>
              <c:strCache>
                <c:ptCount val="1"/>
                <c:pt idx="0">
                  <c:v>Booked tests</c:v>
                </c:pt>
              </c:strCache>
            </c:strRef>
          </c:tx>
          <c:spPr>
            <a:solidFill>
              <a:srgbClr val="A6A6A6"/>
            </a:solidFill>
            <a:effectLst/>
          </c:spPr>
          <c:invertIfNegative val="0"/>
          <c:dLbls>
            <c:numFmt formatCode="+0.0&quot;%&quot;;-0.0&quot;%&quot;;0.0&quot;%&quot;" sourceLinked="0"/>
            <c:txPr>
              <a:bodyPr/>
              <a:lstStyle/>
              <a:p>
                <a:pPr>
                  <a:defRPr b="0" i="0" strike="noStrike" sz="1100" u="none">
                    <a:solidFill>
                      <a:srgbClr val="262626"/>
                    </a:solidFill>
                    <a:latin typeface="+mn-lt"/>
                  </a:defRPr>
                </a:pPr>
              </a:p>
            </c:txPr>
            <c:showLegendKey val="0"/>
            <c:showVal val="1"/>
            <c:showCatName val="0"/>
            <c:showSerName val="0"/>
            <c:showPercent val="0"/>
            <c:showBubbleSize val="0"/>
            <c:showLeaderLines val="0"/>
          </c:dLbls>
          <c:cat>
            <c:multiLvlStrRef>
              <c:f>Sheet1!$A$2:$A$5</c:f>
              <c:multiLvlStrCache>
                <c:ptCount val="4"/>
                <c:lvl>
                  <c:pt idx="0">
                    <c:v>Chennai Jan-Mar (old)</c:v>
                  </c:pt>
                  <c:pt idx="1">
                    <c:v>Chennai Apr-Jun (new)</c:v>
                  </c:pt>
                  <c:pt idx="2">
                    <c:v>Jaipur Jan-Mar (old)</c:v>
                  </c:pt>
                  <c:pt idx="3">
                    <c:v>Jaipur Apr-Jun (new)</c:v>
                  </c:pt>
                </c:lvl>
              </c:multiLvlStrCache>
            </c:multiLvlStrRef>
          </c:cat>
          <c:val>
            <c:numRef>
              <c:f>Sheet1!$B$2:$B$5</c:f>
              <c:numCache>
                <c:formatCode>General</c:formatCode>
                <c:ptCount val="4"/>
                <c:pt idx="0">
                  <c:v>3.8</c:v>
                </c:pt>
                <c:pt idx="1">
                  <c:v>-2.3</c:v>
                </c:pt>
                <c:pt idx="2">
                  <c:v>-14.7</c:v>
                </c:pt>
                <c:pt idx="3">
                  <c:v>-6.3</c:v>
                </c:pt>
              </c:numCache>
            </c:numRef>
          </c:val>
        </c:ser>
        <c:ser>
          <c:idx val="1"/>
          <c:order val="1"/>
          <c:tx>
            <c:strRef>
              <c:f>Sheet1!$C$1</c:f>
              <c:strCache>
                <c:ptCount val="1"/>
                <c:pt idx="0">
                  <c:v>Collected tests</c:v>
                </c:pt>
              </c:strCache>
            </c:strRef>
          </c:tx>
          <c:spPr>
            <a:solidFill>
              <a:srgbClr val="2E75B6"/>
            </a:solidFill>
            <a:effectLst/>
          </c:spPr>
          <c:invertIfNegative val="0"/>
          <c:dLbls>
            <c:numFmt formatCode="+0.0&quot;%&quot;;-0.0&quot;%&quot;;0.0&quot;%&quot;" sourceLinked="0"/>
            <c:txPr>
              <a:bodyPr/>
              <a:lstStyle/>
              <a:p>
                <a:pPr>
                  <a:defRPr b="0" i="0" strike="noStrike" sz="1100" u="none">
                    <a:solidFill>
                      <a:srgbClr val="262626"/>
                    </a:solidFill>
                    <a:latin typeface="+mn-lt"/>
                  </a:defRPr>
                </a:pPr>
              </a:p>
            </c:txPr>
            <c:showLegendKey val="0"/>
            <c:showVal val="1"/>
            <c:showCatName val="0"/>
            <c:showSerName val="0"/>
            <c:showPercent val="0"/>
            <c:showBubbleSize val="0"/>
            <c:showLeaderLines val="0"/>
          </c:dLbls>
          <c:cat>
            <c:multiLvlStrRef>
              <c:f>Sheet1!$A$2:$A$5</c:f>
              <c:multiLvlStrCache>
                <c:ptCount val="4"/>
                <c:lvl>
                  <c:pt idx="0">
                    <c:v>Chennai Jan-Mar (old)</c:v>
                  </c:pt>
                  <c:pt idx="1">
                    <c:v>Chennai Apr-Jun (new)</c:v>
                  </c:pt>
                  <c:pt idx="2">
                    <c:v>Jaipur Jan-Mar (old)</c:v>
                  </c:pt>
                  <c:pt idx="3">
                    <c:v>Jaipur Apr-Jun (new)</c:v>
                  </c:pt>
                </c:lvl>
              </c:multiLvlStrCache>
            </c:multiLvlStrRef>
          </c:cat>
          <c:val>
            <c:numRef>
              <c:f>Sheet1!$C$2:$C$5</c:f>
              <c:numCache>
                <c:formatCode>General</c:formatCode>
                <c:ptCount val="4"/>
                <c:pt idx="0">
                  <c:v>4.8</c:v>
                </c:pt>
                <c:pt idx="1">
                  <c:v>-7.7</c:v>
                </c:pt>
                <c:pt idx="2">
                  <c:v>-12.9</c:v>
                </c:pt>
                <c:pt idx="3">
                  <c:v>-12.3</c:v>
                </c:pt>
              </c:numCache>
            </c:numRef>
          </c:val>
        </c:ser>
        <c:ser>
          <c:idx val="2"/>
          <c:order val="2"/>
          <c:tx>
            <c:strRef>
              <c:f>Sheet1!$D$1</c:f>
              <c:strCache>
                <c:ptCount val="1"/>
                <c:pt idx="0">
                  <c:v>Tested (lab results)</c:v>
                </c:pt>
              </c:strCache>
            </c:strRef>
          </c:tx>
          <c:spPr>
            <a:solidFill>
              <a:srgbClr val="1F3A5F"/>
            </a:solidFill>
            <a:effectLst/>
          </c:spPr>
          <c:invertIfNegative val="0"/>
          <c:dLbls>
            <c:numFmt formatCode="+0.0&quot;%&quot;;-0.0&quot;%&quot;;0.0&quot;%&quot;" sourceLinked="0"/>
            <c:txPr>
              <a:bodyPr/>
              <a:lstStyle/>
              <a:p>
                <a:pPr>
                  <a:defRPr b="0" i="0" strike="noStrike" sz="1100" u="none">
                    <a:solidFill>
                      <a:srgbClr val="262626"/>
                    </a:solidFill>
                    <a:latin typeface="+mn-lt"/>
                  </a:defRPr>
                </a:pPr>
              </a:p>
            </c:txPr>
            <c:showLegendKey val="0"/>
            <c:showVal val="1"/>
            <c:showCatName val="0"/>
            <c:showSerName val="0"/>
            <c:showPercent val="0"/>
            <c:showBubbleSize val="0"/>
            <c:showLeaderLines val="0"/>
          </c:dLbls>
          <c:cat>
            <c:multiLvlStrRef>
              <c:f>Sheet1!$A$2:$A$5</c:f>
              <c:multiLvlStrCache>
                <c:ptCount val="4"/>
                <c:lvl>
                  <c:pt idx="0">
                    <c:v>Chennai Jan-Mar (old)</c:v>
                  </c:pt>
                  <c:pt idx="1">
                    <c:v>Chennai Apr-Jun (new)</c:v>
                  </c:pt>
                  <c:pt idx="2">
                    <c:v>Jaipur Jan-Mar (old)</c:v>
                  </c:pt>
                  <c:pt idx="3">
                    <c:v>Jaipur Apr-Jun (new)</c:v>
                  </c:pt>
                </c:lvl>
              </c:multiLvlStrCache>
            </c:multiLvlStrRef>
          </c:cat>
          <c:val>
            <c:numRef>
              <c:f>Sheet1!$D$2:$D$5</c:f>
              <c:numCache>
                <c:formatCode>General</c:formatCode>
                <c:ptCount val="4"/>
                <c:pt idx="0">
                  <c:v>5</c:v>
                </c:pt>
                <c:pt idx="1">
                  <c:v>-7.8</c:v>
                </c:pt>
                <c:pt idx="2">
                  <c:v>-12.8</c:v>
                </c:pt>
                <c:pt idx="3">
                  <c:v>-12.3</c:v>
                </c:pt>
              </c:numCache>
            </c:numRef>
          </c:val>
        </c:ser>
        <c:dLbls>
          <c:numFmt formatCode="+0.0&quot;%&quot;;-0.0&quot;%&quot;;0.0&quot;%&quot;" sourceLinked="0"/>
          <c:txPr>
            <a:bodyPr/>
            <a:lstStyle/>
            <a:p>
              <a:pPr>
                <a:defRPr b="0" i="0" strike="noStrike" sz="1100" u="none">
                  <a:solidFill>
                    <a:srgbClr val="26262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0"/>
          <c:min val="-20"/>
        </c:scaling>
        <c:delete val="0"/>
        <c:axPos val="l"/>
        <c:majorGridlines>
          <c:spPr>
            <a:ln w="9525" cap="flat">
              <a:solidFill>
                <a:srgbClr val="E7E7E7"/>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626"/>
                </a:solidFill>
                <a:latin typeface="+mn-lt"/>
              </a:defRPr>
            </a:pPr>
            <a:r>
              <a:rPr sz="1400" b="0" i="0" u="none" strike="noStrike">
                <a:solidFill>
                  <a:srgbClr val="262626"/>
                </a:solidFill>
                <a:latin typeface="+mn-lt"/>
              </a:rPr>
              <a:t>Tests by channel (thousands)</a:t>
            </a:r>
          </a:p>
        </c:rich>
      </c:tx>
      <c:layout/>
      <c:overlay val="0"/>
    </c:title>
    <c:autoTitleDeleted val="0"/>
    <c:plotArea>
      <c:layout/>
      <c:barChart>
        <c:barDir val="col"/>
        <c:grouping val="clustered"/>
        <c:varyColors val="0"/>
        <c:ser>
          <c:idx val="0"/>
          <c:order val="0"/>
          <c:tx>
            <c:strRef>
              <c:f>Sheet1!$B$1</c:f>
              <c:strCache>
                <c:ptCount val="1"/>
                <c:pt idx="0">
                  <c:v>H1 2025</c:v>
                </c:pt>
              </c:strCache>
            </c:strRef>
          </c:tx>
          <c:spPr>
            <a:solidFill>
              <a:srgbClr val="A6A6A6"/>
            </a:solidFill>
            <a:effectLst/>
          </c:spPr>
          <c:invertIfNegative val="0"/>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cat>
            <c:multiLvlStrRef>
              <c:f>Sheet1!$A$2:$A$3</c:f>
              <c:multiLvlStrCache>
                <c:ptCount val="2"/>
                <c:lvl>
                  <c:pt idx="0">
                    <c:v>Clinic</c:v>
                  </c:pt>
                  <c:pt idx="1">
                    <c:v>Home</c:v>
                  </c:pt>
                </c:lvl>
              </c:multiLvlStrCache>
            </c:multiLvlStrRef>
          </c:cat>
          <c:val>
            <c:numRef>
              <c:f>Sheet1!$B$2:$B$3</c:f>
              <c:numCache>
                <c:formatCode>General</c:formatCode>
                <c:ptCount val="2"/>
                <c:pt idx="0">
                  <c:v>286.411</c:v>
                </c:pt>
                <c:pt idx="1">
                  <c:v>148.597</c:v>
                </c:pt>
              </c:numCache>
            </c:numRef>
          </c:val>
        </c:ser>
        <c:ser>
          <c:idx val="1"/>
          <c:order val="1"/>
          <c:tx>
            <c:strRef>
              <c:f>Sheet1!$C$1</c:f>
              <c:strCache>
                <c:ptCount val="1"/>
                <c:pt idx="0">
                  <c:v>H1 2026</c:v>
                </c:pt>
              </c:strCache>
            </c:strRef>
          </c:tx>
          <c:spPr>
            <a:solidFill>
              <a:srgbClr val="2E75B6"/>
            </a:solidFill>
            <a:effectLst/>
          </c:spPr>
          <c:invertIfNegative val="0"/>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cat>
            <c:multiLvlStrRef>
              <c:f>Sheet1!$A$2:$A$3</c:f>
              <c:multiLvlStrCache>
                <c:ptCount val="2"/>
                <c:lvl>
                  <c:pt idx="0">
                    <c:v>Clinic</c:v>
                  </c:pt>
                  <c:pt idx="1">
                    <c:v>Home</c:v>
                  </c:pt>
                </c:lvl>
              </c:multiLvlStrCache>
            </c:multiLvlStrRef>
          </c:cat>
          <c:val>
            <c:numRef>
              <c:f>Sheet1!$C$2:$C$3</c:f>
              <c:numCache>
                <c:formatCode>General</c:formatCode>
                <c:ptCount val="2"/>
                <c:pt idx="0">
                  <c:v>252.437</c:v>
                </c:pt>
                <c:pt idx="1">
                  <c:v>204.351</c:v>
                </c:pt>
              </c:numCache>
            </c:numRef>
          </c:val>
        </c:ser>
        <c:dLbls>
          <c:numFmt formatCode="0.0&quot;K&quot;" sourceLinked="0"/>
          <c:txPr>
            <a:bodyPr/>
            <a:lstStyle/>
            <a:p>
              <a:pPr>
                <a:defRPr b="0" i="0" strike="noStrike" sz="1200" u="none">
                  <a:solidFill>
                    <a:srgbClr val="2626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350"/>
          <c:min val="0"/>
        </c:scaling>
        <c:delete val="0"/>
        <c:axPos val="l"/>
        <c:majorGridlines>
          <c:spPr>
            <a:ln w="9525" cap="flat">
              <a:solidFill>
                <a:srgbClr val="E7E7E7"/>
              </a:solidFill>
              <a:prstDash val="solid"/>
              <a:round/>
            </a:ln>
          </c:spPr>
        </c:majorGridlines>
        <c:numFmt formatCode="0&quot;K&quot;" sourceLinked="0"/>
        <c:majorTickMark val="out"/>
        <c:minorTickMark val="none"/>
        <c:tickLblPos val="nextTo"/>
        <c:spPr>
          <a:ln w="12700" cap="flat">
            <a:no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gap. The plan was 18.6% growth on last year's first half. We delivered 5.0%, which is 58,952 tests short. This talk covers Brief A (which part of the business is short) and Brief B (why bookings fell in Chennai and Jaipur). We also include one extra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1) Patients are the main reason: they grew 3.8% when about 17% was needed. 2) All six cities missed plan; Chennai and Jaipur are 43% of the gap. 3) The fall in Chennai and Jaipur is real; it is not caused by the new booking system. 4) Extra finding, not part of Brief A or B: home collection grew 37.5% while clinic tests fell 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booking systems, legacy and Nova, had different formats, so we first made them one table. We kept a record of every row we changed or rejected. The check at the bottom shows no rows were lost: raw 1,315,204 equals accepted 1,312,740 plus rejected 2,464. Bangalore was spelled two ways, and the plan file uses Bangalore, so this rename matters for the plan comparison. One gap: we have not yet measured how much each cleaning step changes the final growth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 the 5% the COO quoted: 435,008 tests in H1 2025 and 456,788 in H1 2026. The plan target is the sum of the six city targets: 515,740. To make sure the 5% does not depend on which table we count from, we also counted collected tests and tests with a lab result. All three give about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can be split into three parts that multiply together: number of patients, visits per patient, and tests per visit. 1.0376 x 0.9903 x 1.0220 = 1.0501, which matches the 5% growth. Patients grew 3.8%, visits per patient fell 1.0%, and tests per visit grew 2.2%. If the other two parts stay as they were, patients needed to grow about 17.1% to reach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Shortfall is plan minus actual tests for each city. The six numbers add up to 58,952. Chennai and Jaipur are 29% of last year's volume but 43% of the gap. Bengaluru is large only because its plan asked for 20.4% growth, the highest of all cities, and it grew 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split by city. Four cities gained 7% to 10% patients. Chennai lost 5.0% and Jaipur 12.1%. Tests per visit went up in every city, by 1.6% to 2.8%, so the problem is the number of patients, not the number of tests each patient orders. Plan growth is the city target divided by last year's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booking system, Nova, started in April 2026 in both cities. If the new system caused the fall, Jaipur would look normal in January to March. It does not: Jaipur visits were already down 15.8% in the first quarter on the old system. Chennai was flat in the first quarter (up 1.0%) and fell 5.0% in the second quarter, which fits with the new system or with a new competitor, and the data cannot separate the two. The other four cities grew visits 4.4% to 6.1% in the second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test for Brief B. If the new system only changed how we count, then booked tests would fall but collected tests and tested tests would stay the same. We see the opposite: after the new system started, collected and tested counts fell more than booked counts. In the new system quarter, 8.5% of bookings have no collection record, against 3.0% a year ago. That is about 1,375 extra bookings, close to the 1,500 rescheduled bookings, so booked numbers look a little better than the real situation. What the data cannot tell us is why patients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outside Brief A and Brief B, so we show it as an extra. Clinic tests fell from 286,411 to 252,437. Home tests grew from 148,597 to 204,351. The net gain of 21,780 tests is the 5% growth. We do not know yet if home collection is bringing new patients or taking existing clinic patients. The free home collection offer is the likely reason and belongs to Brief E. Revenue here is booked value: list price plus home fee. It is not the invoiced amount. Peer figures are from the handbook and are for the quarter to June 2026, so use them only as a general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the limits of the analysis, in simple words. The most important is the last one: the data shows what happened in Chennai and Jaipur but not why. Right side: four improvements for the core notebook. The test-code rule matters most because 1,289 lines have a price but no test code and are being counted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actions. First, reset the plan: the four stable cities grew 8.4% against a 19.2% plan, so the plan was too high even in cities with no system change. Each one point of patient growth is worth about 4,350 tests. Second, find the cause in Chennai and Jaipur before cutting staff: the fall is real, but we do not know why yet. Getting both back to last year's level is worth 4,239 tests; getting them to plan is worth 25,484. Third, study the home collection growth. The cost of each action is not in our data and needs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0584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3383280"/>
            <a:ext cx="9601200" cy="109728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Kalpa Health  |  H1 2026 growth review</a:t>
            </a:r>
            <a:endParaRPr lang="en-US" sz="1000" dirty="0"/>
          </a:p>
        </p:txBody>
      </p:sp>
      <p:sp>
        <p:nvSpPr>
          <p:cNvPr id="3" name="Text 1"/>
          <p:cNvSpPr/>
          <p:nvPr>
            <p:ph idx="101" type="title" hasCustomPrompt="1"/>
          </p:nvPr>
        </p:nvSpPr>
        <p:spPr>
          <a:xfrm>
            <a:off x="548640" y="365760"/>
            <a:ext cx="11091672"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058400" cy="1371600"/>
          </a:xfrm>
          <a:prstGeom prst="rect">
            <a:avLst/>
          </a:prstGeom>
          <a:noFill/>
          <a:ln/>
        </p:spPr>
        <p:txBody>
          <a:bodyPr wrap="square" lIns="0" tIns="0" rIns="0" bIns="0" rtlCol="0" anchor="t"/>
          <a:lstStyle/>
          <a:p>
            <a:pPr algn="l" indent="0" marL="0">
              <a:buNone/>
            </a:pPr>
            <a:r>
              <a:rPr lang="en-US" sz="4400" b="1" dirty="0">
                <a:solidFill>
                  <a:schemeClr val="bg1"/>
                </a:solidFill>
              </a:rPr>
              <a:t>Where did our growth fall short?</a:t>
            </a:r>
            <a:endParaRPr lang="en-US" sz="4400" dirty="0"/>
          </a:p>
        </p:txBody>
      </p:sp>
      <p:sp>
        <p:nvSpPr>
          <p:cNvPr id="3" name="Text 0"/>
          <p:cNvSpPr/>
          <p:nvPr>
            <p:ph idx="101" type="body" hasCustomPrompt="1"/>
          </p:nvPr>
        </p:nvSpPr>
        <p:spPr>
          <a:xfrm>
            <a:off x="822960" y="3383280"/>
            <a:ext cx="9601200" cy="1097280"/>
          </a:xfrm>
          <a:prstGeom prst="rect">
            <a:avLst/>
          </a:prstGeom>
          <a:noFill/>
          <a:ln/>
        </p:spPr>
        <p:txBody>
          <a:bodyPr wrap="square" lIns="0" tIns="0" rIns="0" bIns="0" rtlCol="0" anchor="t"/>
          <a:lstStyle/>
          <a:p>
            <a:pPr indent="0" marL="0">
              <a:buNone/>
            </a:pPr>
            <a:r>
              <a:rPr lang="en-US" sz="2000" dirty="0">
                <a:solidFill>
                  <a:schemeClr val="bg1"/>
                </a:solidFill>
              </a:rPr>
              <a:t>H1 2026 test volume grew 5.0% against a plan of 18.6%. This review shows which part is short, why Chennai and Jaipur fell, and what else we found.</a:t>
            </a:r>
            <a:endParaRPr lang="en-US" sz="2000" dirty="0"/>
          </a:p>
        </p:txBody>
      </p:sp>
      <p:sp>
        <p:nvSpPr>
          <p:cNvPr id="4" name="Text 2"/>
          <p:cNvSpPr txBox="1"/>
          <p:nvPr/>
        </p:nvSpPr>
        <p:spPr>
          <a:xfrm>
            <a:off x="822960" y="5852160"/>
            <a:ext cx="10058400" cy="320040"/>
          </a:xfrm>
          <a:prstGeom prst="rect">
            <a:avLst/>
          </a:prstGeom>
          <a:noFill/>
          <a:ln/>
        </p:spPr>
        <p:txBody>
          <a:bodyPr wrap="square" lIns="0" tIns="0" rIns="0" bIns="0" rtlCol="0" anchor="ctr"/>
          <a:lstStyle/>
          <a:p>
            <a:pPr indent="0" marL="0">
              <a:buNone/>
            </a:pPr>
            <a:r>
              <a:rPr lang="en-US" sz="1400" dirty="0">
                <a:solidFill>
                  <a:srgbClr val="BFD0E4"/>
                </a:solidFill>
              </a:rPr>
              <a:t>Presented by the Data Analytics team  |  For: Dr Priya Menon, COO, and the leadership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Summary: we grew 5.0% against a plan of 18.6%</a:t>
            </a:r>
            <a:endParaRPr lang="en-US" sz="2800" dirty="0"/>
          </a:p>
        </p:txBody>
      </p:sp>
      <p:sp>
        <p:nvSpPr>
          <p:cNvPr id="4" name="Shape 1"/>
          <p:cNvSpPr/>
          <p:nvPr/>
        </p:nvSpPr>
        <p:spPr>
          <a:xfrm>
            <a:off x="548640" y="1463040"/>
            <a:ext cx="3291840" cy="1234440"/>
          </a:xfrm>
          <a:prstGeom prst="rect">
            <a:avLst/>
          </a:prstGeom>
          <a:solidFill>
            <a:srgbClr val="F3F6F9"/>
          </a:solidFill>
          <a:ln w="12700">
            <a:solidFill>
              <a:srgbClr val="F3F6F9"/>
            </a:solidFill>
            <a:prstDash val="solid"/>
          </a:ln>
        </p:spPr>
      </p:sp>
      <p:sp>
        <p:nvSpPr>
          <p:cNvPr id="5" name="Text 2"/>
          <p:cNvSpPr txBox="1"/>
          <p:nvPr/>
        </p:nvSpPr>
        <p:spPr>
          <a:xfrm>
            <a:off x="777240" y="1536192"/>
            <a:ext cx="2834640" cy="678942"/>
          </a:xfrm>
          <a:prstGeom prst="rect">
            <a:avLst/>
          </a:prstGeom>
          <a:noFill/>
          <a:ln/>
        </p:spPr>
        <p:txBody>
          <a:bodyPr wrap="square" lIns="0" tIns="0" rIns="0" bIns="0" rtlCol="0" anchor="ctr"/>
          <a:lstStyle/>
          <a:p>
            <a:pPr indent="0" marL="0">
              <a:buNone/>
            </a:pPr>
            <a:r>
              <a:rPr lang="en-US" sz="3000" b="1" dirty="0">
                <a:solidFill>
                  <a:srgbClr val="C55A11"/>
                </a:solidFill>
              </a:rPr>
              <a:t>+18.6%</a:t>
            </a:r>
            <a:endParaRPr lang="en-US" sz="3000" dirty="0"/>
          </a:p>
        </p:txBody>
      </p:sp>
      <p:sp>
        <p:nvSpPr>
          <p:cNvPr id="6" name="Text 3"/>
          <p:cNvSpPr txBox="1"/>
          <p:nvPr/>
        </p:nvSpPr>
        <p:spPr>
          <a:xfrm>
            <a:off x="777240" y="2179015"/>
            <a:ext cx="2834640" cy="444398"/>
          </a:xfrm>
          <a:prstGeom prst="rect">
            <a:avLst/>
          </a:prstGeom>
          <a:noFill/>
          <a:ln/>
        </p:spPr>
        <p:txBody>
          <a:bodyPr wrap="square" lIns="0" tIns="0" rIns="0" bIns="0" rtlCol="0" anchor="t"/>
          <a:lstStyle/>
          <a:p>
            <a:pPr indent="0" marL="0">
              <a:buNone/>
            </a:pPr>
            <a:r>
              <a:rPr lang="en-US" sz="1400" dirty="0">
                <a:solidFill>
                  <a:srgbClr val="595959"/>
                </a:solidFill>
              </a:rPr>
              <a:t>Plan growth</a:t>
            </a:r>
            <a:endParaRPr lang="en-US" sz="1400" dirty="0"/>
          </a:p>
        </p:txBody>
      </p:sp>
      <p:sp>
        <p:nvSpPr>
          <p:cNvPr id="7" name="Shape 4"/>
          <p:cNvSpPr/>
          <p:nvPr/>
        </p:nvSpPr>
        <p:spPr>
          <a:xfrm>
            <a:off x="548640" y="2834640"/>
            <a:ext cx="3291840" cy="1234440"/>
          </a:xfrm>
          <a:prstGeom prst="rect">
            <a:avLst/>
          </a:prstGeom>
          <a:solidFill>
            <a:srgbClr val="F3F6F9"/>
          </a:solidFill>
          <a:ln w="12700">
            <a:solidFill>
              <a:srgbClr val="F3F6F9"/>
            </a:solidFill>
            <a:prstDash val="solid"/>
          </a:ln>
        </p:spPr>
      </p:sp>
      <p:sp>
        <p:nvSpPr>
          <p:cNvPr id="8" name="Text 5"/>
          <p:cNvSpPr txBox="1"/>
          <p:nvPr/>
        </p:nvSpPr>
        <p:spPr>
          <a:xfrm>
            <a:off x="777240" y="2907792"/>
            <a:ext cx="2834640" cy="678942"/>
          </a:xfrm>
          <a:prstGeom prst="rect">
            <a:avLst/>
          </a:prstGeom>
          <a:noFill/>
          <a:ln/>
        </p:spPr>
        <p:txBody>
          <a:bodyPr wrap="square" lIns="0" tIns="0" rIns="0" bIns="0" rtlCol="0" anchor="ctr"/>
          <a:lstStyle/>
          <a:p>
            <a:pPr indent="0" marL="0">
              <a:buNone/>
            </a:pPr>
            <a:r>
              <a:rPr lang="en-US" sz="3000" b="1" dirty="0">
                <a:solidFill>
                  <a:srgbClr val="2E75B6"/>
                </a:solidFill>
              </a:rPr>
              <a:t>+5.0%</a:t>
            </a:r>
            <a:endParaRPr lang="en-US" sz="3000" dirty="0"/>
          </a:p>
        </p:txBody>
      </p:sp>
      <p:sp>
        <p:nvSpPr>
          <p:cNvPr id="9" name="Text 6"/>
          <p:cNvSpPr txBox="1"/>
          <p:nvPr/>
        </p:nvSpPr>
        <p:spPr>
          <a:xfrm>
            <a:off x="777240" y="3550615"/>
            <a:ext cx="2834640" cy="444398"/>
          </a:xfrm>
          <a:prstGeom prst="rect">
            <a:avLst/>
          </a:prstGeom>
          <a:noFill/>
          <a:ln/>
        </p:spPr>
        <p:txBody>
          <a:bodyPr wrap="square" lIns="0" tIns="0" rIns="0" bIns="0" rtlCol="0" anchor="t"/>
          <a:lstStyle/>
          <a:p>
            <a:pPr indent="0" marL="0">
              <a:buNone/>
            </a:pPr>
            <a:r>
              <a:rPr lang="en-US" sz="1400" dirty="0">
                <a:solidFill>
                  <a:srgbClr val="595959"/>
                </a:solidFill>
              </a:rPr>
              <a:t>Actual growth</a:t>
            </a:r>
            <a:endParaRPr lang="en-US" sz="1400" dirty="0"/>
          </a:p>
        </p:txBody>
      </p:sp>
      <p:sp>
        <p:nvSpPr>
          <p:cNvPr id="10" name="Shape 7"/>
          <p:cNvSpPr/>
          <p:nvPr/>
        </p:nvSpPr>
        <p:spPr>
          <a:xfrm>
            <a:off x="548640" y="4206240"/>
            <a:ext cx="3291840" cy="1234440"/>
          </a:xfrm>
          <a:prstGeom prst="rect">
            <a:avLst/>
          </a:prstGeom>
          <a:solidFill>
            <a:srgbClr val="F3F6F9"/>
          </a:solidFill>
          <a:ln w="12700">
            <a:solidFill>
              <a:srgbClr val="F3F6F9"/>
            </a:solidFill>
            <a:prstDash val="solid"/>
          </a:ln>
        </p:spPr>
      </p:sp>
      <p:sp>
        <p:nvSpPr>
          <p:cNvPr id="11" name="Text 8"/>
          <p:cNvSpPr txBox="1"/>
          <p:nvPr/>
        </p:nvSpPr>
        <p:spPr>
          <a:xfrm>
            <a:off x="777240" y="4279392"/>
            <a:ext cx="2834640" cy="678942"/>
          </a:xfrm>
          <a:prstGeom prst="rect">
            <a:avLst/>
          </a:prstGeom>
          <a:noFill/>
          <a:ln/>
        </p:spPr>
        <p:txBody>
          <a:bodyPr wrap="square" lIns="0" tIns="0" rIns="0" bIns="0" rtlCol="0" anchor="ctr"/>
          <a:lstStyle/>
          <a:p>
            <a:pPr indent="0" marL="0">
              <a:buNone/>
            </a:pPr>
            <a:r>
              <a:rPr lang="en-US" sz="3000" b="1" dirty="0">
                <a:solidFill>
                  <a:srgbClr val="C00000"/>
                </a:solidFill>
              </a:rPr>
              <a:t>58,952</a:t>
            </a:r>
            <a:endParaRPr lang="en-US" sz="3000" dirty="0"/>
          </a:p>
        </p:txBody>
      </p:sp>
      <p:sp>
        <p:nvSpPr>
          <p:cNvPr id="12" name="Text 9"/>
          <p:cNvSpPr txBox="1"/>
          <p:nvPr/>
        </p:nvSpPr>
        <p:spPr>
          <a:xfrm>
            <a:off x="777240" y="4922215"/>
            <a:ext cx="2834640" cy="444398"/>
          </a:xfrm>
          <a:prstGeom prst="rect">
            <a:avLst/>
          </a:prstGeom>
          <a:noFill/>
          <a:ln/>
        </p:spPr>
        <p:txBody>
          <a:bodyPr wrap="square" lIns="0" tIns="0" rIns="0" bIns="0" rtlCol="0" anchor="t"/>
          <a:lstStyle/>
          <a:p>
            <a:pPr indent="0" marL="0">
              <a:buNone/>
            </a:pPr>
            <a:r>
              <a:rPr lang="en-US" sz="1400" dirty="0">
                <a:solidFill>
                  <a:srgbClr val="595959"/>
                </a:solidFill>
              </a:rPr>
              <a:t>Tests short of plan</a:t>
            </a:r>
            <a:endParaRPr lang="en-US" sz="1400" dirty="0"/>
          </a:p>
        </p:txBody>
      </p:sp>
      <p:sp>
        <p:nvSpPr>
          <p:cNvPr id="13" name="Text 10"/>
          <p:cNvSpPr txBox="1"/>
          <p:nvPr/>
        </p:nvSpPr>
        <p:spPr>
          <a:xfrm>
            <a:off x="4297680" y="1463040"/>
            <a:ext cx="411480" cy="411480"/>
          </a:xfrm>
          <a:prstGeom prst="rect">
            <a:avLst/>
          </a:prstGeom>
          <a:noFill/>
          <a:ln/>
        </p:spPr>
        <p:txBody>
          <a:bodyPr wrap="square" lIns="0" tIns="0" rIns="0" bIns="0" rtlCol="0" anchor="t"/>
          <a:lstStyle/>
          <a:p>
            <a:pPr indent="0" marL="0">
              <a:buNone/>
            </a:pPr>
            <a:r>
              <a:rPr lang="en-US" sz="2200" b="1" dirty="0">
                <a:solidFill>
                  <a:srgbClr val="2E75B6"/>
                </a:solidFill>
              </a:rPr>
              <a:t>1</a:t>
            </a:r>
            <a:endParaRPr lang="en-US" sz="2200" dirty="0"/>
          </a:p>
        </p:txBody>
      </p:sp>
      <p:sp>
        <p:nvSpPr>
          <p:cNvPr id="14" name="Text 11"/>
          <p:cNvSpPr txBox="1"/>
          <p:nvPr/>
        </p:nvSpPr>
        <p:spPr>
          <a:xfrm>
            <a:off x="4754880" y="1463040"/>
            <a:ext cx="6885432" cy="914400"/>
          </a:xfrm>
          <a:prstGeom prst="rect">
            <a:avLst/>
          </a:prstGeom>
          <a:noFill/>
          <a:ln/>
        </p:spPr>
        <p:txBody>
          <a:bodyPr wrap="square" lIns="0" tIns="0" rIns="0" bIns="0" rtlCol="0" anchor="t"/>
          <a:lstStyle/>
          <a:p>
            <a:pPr indent="0" marL="0">
              <a:spcAft>
                <a:spcPts val="300"/>
              </a:spcAft>
              <a:buNone/>
            </a:pPr>
            <a:r>
              <a:rPr lang="en-US" sz="1700" b="1" dirty="0">
                <a:solidFill>
                  <a:srgbClr val="1F3A5F"/>
                </a:solidFill>
              </a:rPr>
              <a:t>Not enough patients is the main reason.</a:t>
            </a:r>
            <a:endParaRPr lang="en-US" sz="1700" dirty="0"/>
          </a:p>
          <a:p>
            <a:pPr indent="0" marL="0">
              <a:spcAft>
                <a:spcPts val="300"/>
              </a:spcAft>
              <a:buNone/>
            </a:pPr>
            <a:r>
              <a:rPr lang="en-US" sz="1500" dirty="0">
                <a:solidFill>
                  <a:srgbClr val="262626"/>
                </a:solidFill>
              </a:rPr>
              <a:t>Patients grew only 3.8%. To meet the plan they needed to grow 17.1%.</a:t>
            </a:r>
            <a:endParaRPr lang="en-US" sz="1700" dirty="0"/>
          </a:p>
        </p:txBody>
      </p:sp>
      <p:sp>
        <p:nvSpPr>
          <p:cNvPr id="15" name="Text 12"/>
          <p:cNvSpPr txBox="1"/>
          <p:nvPr/>
        </p:nvSpPr>
        <p:spPr>
          <a:xfrm>
            <a:off x="4297680" y="2468880"/>
            <a:ext cx="411480" cy="411480"/>
          </a:xfrm>
          <a:prstGeom prst="rect">
            <a:avLst/>
          </a:prstGeom>
          <a:noFill/>
          <a:ln/>
        </p:spPr>
        <p:txBody>
          <a:bodyPr wrap="square" lIns="0" tIns="0" rIns="0" bIns="0" rtlCol="0" anchor="t"/>
          <a:lstStyle/>
          <a:p>
            <a:pPr indent="0" marL="0">
              <a:buNone/>
            </a:pPr>
            <a:r>
              <a:rPr lang="en-US" sz="2200" b="1" dirty="0">
                <a:solidFill>
                  <a:srgbClr val="2E75B6"/>
                </a:solidFill>
              </a:rPr>
              <a:t>2</a:t>
            </a:r>
            <a:endParaRPr lang="en-US" sz="2200" dirty="0"/>
          </a:p>
        </p:txBody>
      </p:sp>
      <p:sp>
        <p:nvSpPr>
          <p:cNvPr id="16" name="Text 13"/>
          <p:cNvSpPr txBox="1"/>
          <p:nvPr/>
        </p:nvSpPr>
        <p:spPr>
          <a:xfrm>
            <a:off x="4754880" y="2468880"/>
            <a:ext cx="6885432" cy="914400"/>
          </a:xfrm>
          <a:prstGeom prst="rect">
            <a:avLst/>
          </a:prstGeom>
          <a:noFill/>
          <a:ln/>
        </p:spPr>
        <p:txBody>
          <a:bodyPr wrap="square" lIns="0" tIns="0" rIns="0" bIns="0" rtlCol="0" anchor="t"/>
          <a:lstStyle/>
          <a:p>
            <a:pPr indent="0" marL="0">
              <a:spcAft>
                <a:spcPts val="300"/>
              </a:spcAft>
              <a:buNone/>
            </a:pPr>
            <a:r>
              <a:rPr lang="en-US" sz="1700" b="1" dirty="0">
                <a:solidFill>
                  <a:srgbClr val="1F3A5F"/>
                </a:solidFill>
              </a:rPr>
              <a:t>Every city missed its plan.</a:t>
            </a:r>
            <a:endParaRPr lang="en-US" sz="1700" dirty="0"/>
          </a:p>
          <a:p>
            <a:pPr indent="0" marL="0">
              <a:spcAft>
                <a:spcPts val="300"/>
              </a:spcAft>
              <a:buNone/>
            </a:pPr>
            <a:r>
              <a:rPr lang="en-US" sz="1500" dirty="0">
                <a:solidFill>
                  <a:srgbClr val="262626"/>
                </a:solidFill>
              </a:rPr>
              <a:t>Chennai and Jaipur account for 43% of the gap. The other four cities grew 8.4% against a plan of 19.2%.</a:t>
            </a:r>
            <a:endParaRPr lang="en-US" sz="1700" dirty="0"/>
          </a:p>
        </p:txBody>
      </p:sp>
      <p:sp>
        <p:nvSpPr>
          <p:cNvPr id="17" name="Text 14"/>
          <p:cNvSpPr txBox="1"/>
          <p:nvPr/>
        </p:nvSpPr>
        <p:spPr>
          <a:xfrm>
            <a:off x="4297680" y="3474720"/>
            <a:ext cx="411480" cy="411480"/>
          </a:xfrm>
          <a:prstGeom prst="rect">
            <a:avLst/>
          </a:prstGeom>
          <a:noFill/>
          <a:ln/>
        </p:spPr>
        <p:txBody>
          <a:bodyPr wrap="square" lIns="0" tIns="0" rIns="0" bIns="0" rtlCol="0" anchor="t"/>
          <a:lstStyle/>
          <a:p>
            <a:pPr indent="0" marL="0">
              <a:buNone/>
            </a:pPr>
            <a:r>
              <a:rPr lang="en-US" sz="2200" b="1" dirty="0">
                <a:solidFill>
                  <a:srgbClr val="2E75B6"/>
                </a:solidFill>
              </a:rPr>
              <a:t>3</a:t>
            </a:r>
            <a:endParaRPr lang="en-US" sz="2200" dirty="0"/>
          </a:p>
        </p:txBody>
      </p:sp>
      <p:sp>
        <p:nvSpPr>
          <p:cNvPr id="18" name="Text 15"/>
          <p:cNvSpPr txBox="1"/>
          <p:nvPr/>
        </p:nvSpPr>
        <p:spPr>
          <a:xfrm>
            <a:off x="4754880" y="3474720"/>
            <a:ext cx="6885432" cy="914400"/>
          </a:xfrm>
          <a:prstGeom prst="rect">
            <a:avLst/>
          </a:prstGeom>
          <a:noFill/>
          <a:ln/>
        </p:spPr>
        <p:txBody>
          <a:bodyPr wrap="square" lIns="0" tIns="0" rIns="0" bIns="0" rtlCol="0" anchor="t"/>
          <a:lstStyle/>
          <a:p>
            <a:pPr indent="0" marL="0">
              <a:spcAft>
                <a:spcPts val="300"/>
              </a:spcAft>
              <a:buNone/>
            </a:pPr>
            <a:r>
              <a:rPr lang="en-US" sz="1700" b="1" dirty="0">
                <a:solidFill>
                  <a:srgbClr val="1F3A5F"/>
                </a:solidFill>
              </a:rPr>
              <a:t>The fall in Chennai and Jaipur is real.</a:t>
            </a:r>
            <a:endParaRPr lang="en-US" sz="1700" dirty="0"/>
          </a:p>
          <a:p>
            <a:pPr indent="0" marL="0">
              <a:spcAft>
                <a:spcPts val="300"/>
              </a:spcAft>
              <a:buNone/>
            </a:pPr>
            <a:r>
              <a:rPr lang="en-US" sz="1500" dirty="0">
                <a:solidFill>
                  <a:srgbClr val="262626"/>
                </a:solidFill>
              </a:rPr>
              <a:t>Collected and tested counts fell too, so it is not a counting problem from the new booking system.</a:t>
            </a:r>
            <a:endParaRPr lang="en-US" sz="1700" dirty="0"/>
          </a:p>
        </p:txBody>
      </p:sp>
      <p:sp>
        <p:nvSpPr>
          <p:cNvPr id="19" name="Text 16"/>
          <p:cNvSpPr txBox="1"/>
          <p:nvPr/>
        </p:nvSpPr>
        <p:spPr>
          <a:xfrm>
            <a:off x="4297680" y="4480560"/>
            <a:ext cx="411480" cy="411480"/>
          </a:xfrm>
          <a:prstGeom prst="rect">
            <a:avLst/>
          </a:prstGeom>
          <a:noFill/>
          <a:ln/>
        </p:spPr>
        <p:txBody>
          <a:bodyPr wrap="square" lIns="0" tIns="0" rIns="0" bIns="0" rtlCol="0" anchor="t"/>
          <a:lstStyle/>
          <a:p>
            <a:pPr indent="0" marL="0">
              <a:buNone/>
            </a:pPr>
            <a:r>
              <a:rPr lang="en-US" sz="2200" b="1" dirty="0">
                <a:solidFill>
                  <a:srgbClr val="2E75B6"/>
                </a:solidFill>
              </a:rPr>
              <a:t>4</a:t>
            </a:r>
            <a:endParaRPr lang="en-US" sz="2200" dirty="0"/>
          </a:p>
        </p:txBody>
      </p:sp>
      <p:sp>
        <p:nvSpPr>
          <p:cNvPr id="20" name="Text 17"/>
          <p:cNvSpPr txBox="1"/>
          <p:nvPr/>
        </p:nvSpPr>
        <p:spPr>
          <a:xfrm>
            <a:off x="4754880" y="4480560"/>
            <a:ext cx="6885432" cy="914400"/>
          </a:xfrm>
          <a:prstGeom prst="rect">
            <a:avLst/>
          </a:prstGeom>
          <a:noFill/>
          <a:ln/>
        </p:spPr>
        <p:txBody>
          <a:bodyPr wrap="square" lIns="0" tIns="0" rIns="0" bIns="0" rtlCol="0" anchor="t"/>
          <a:lstStyle/>
          <a:p>
            <a:pPr indent="0" marL="0">
              <a:spcAft>
                <a:spcPts val="300"/>
              </a:spcAft>
              <a:buNone/>
            </a:pPr>
            <a:r>
              <a:rPr lang="en-US" sz="1700" b="1" dirty="0">
                <a:solidFill>
                  <a:srgbClr val="1F3A5F"/>
                </a:solidFill>
              </a:rPr>
              <a:t>Extra finding: home collection is growing.</a:t>
            </a:r>
            <a:endParaRPr lang="en-US" sz="1700" dirty="0"/>
          </a:p>
          <a:p>
            <a:pPr indent="0" marL="0">
              <a:spcAft>
                <a:spcPts val="300"/>
              </a:spcAft>
              <a:buNone/>
            </a:pPr>
            <a:r>
              <a:rPr lang="en-US" sz="1500" dirty="0">
                <a:solidFill>
                  <a:srgbClr val="262626"/>
                </a:solidFill>
              </a:rPr>
              <a:t>Home tests grew 37.5% while clinic tests fell 11.9%.</a:t>
            </a:r>
            <a:endParaRPr lang="en-US" sz="1700" dirty="0"/>
          </a:p>
        </p:txBody>
      </p:sp>
      <p:sp>
        <p:nvSpPr>
          <p:cNvPr id="21" name="Text 18"/>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Data_loading_and_eda.ipynb. H1 2026 compared with H1 2025, by appointment date.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We combined five data sources and cleaned them before the analysis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914400"/>
        </p:xfrm>
        <a:graphic>
          <a:graphicData uri="http://schemas.openxmlformats.org/drawingml/2006/table">
            <a:tbl>
              <a:tblPr/>
              <a:tblGrid>
                <a:gridCol w="2194560"/>
                <a:gridCol w="1005840"/>
                <a:gridCol w="2286000"/>
              </a:tblGrid>
              <a:tr h="384048">
                <a:tc>
                  <a:txBody>
                    <a:bodyPr/>
                    <a:lstStyle/>
                    <a:p>
                      <a:pPr algn="l" indent="0" marL="0">
                        <a:buNone/>
                      </a:pPr>
                      <a:r>
                        <a:rPr lang="en-US" sz="1300" b="1" dirty="0">
                          <a:solidFill>
                            <a:srgbClr val="FFFFFF"/>
                          </a:solidFill>
                        </a:rPr>
                        <a:t>Data source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c>
                  <a:txBody>
                    <a:bodyPr/>
                    <a:lstStyle/>
                    <a:p>
                      <a:pPr algn="r" indent="0" marL="0">
                        <a:buNone/>
                      </a:pPr>
                      <a:r>
                        <a:rPr lang="en-US" sz="1300" b="1" dirty="0">
                          <a:solidFill>
                            <a:srgbClr val="FFFFFF"/>
                          </a:solidFill>
                        </a:rPr>
                        <a:t>Rows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c>
                  <a:txBody>
                    <a:bodyPr/>
                    <a:lstStyle/>
                    <a:p>
                      <a:pPr algn="l" indent="0" marL="0">
                        <a:buNone/>
                      </a:pPr>
                      <a:r>
                        <a:rPr lang="en-US" sz="1300" b="1" dirty="0">
                          <a:solidFill>
                            <a:srgbClr val="FFFFFF"/>
                          </a:solidFill>
                        </a:rPr>
                        <a:t>Used for</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r>
              <a:tr h="384048">
                <a:tc>
                  <a:txBody>
                    <a:bodyPr/>
                    <a:lstStyle/>
                    <a:p>
                      <a:pPr indent="0" marL="0">
                        <a:buNone/>
                      </a:pPr>
                      <a:r>
                        <a:rPr lang="en-US" sz="1300" b="1" dirty="0">
                          <a:solidFill>
                            <a:srgbClr val="262626"/>
                          </a:solidFill>
                        </a:rPr>
                        <a:t>Legacy bookings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1,252,786</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indent="0" marL="0">
                        <a:buNone/>
                      </a:pPr>
                      <a:r>
                        <a:rPr lang="en-US" sz="1300" dirty="0">
                          <a:solidFill>
                            <a:srgbClr val="262626"/>
                          </a:solidFill>
                        </a:rPr>
                        <a:t>Visits, prices, channel</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b="1" dirty="0">
                          <a:solidFill>
                            <a:srgbClr val="262626"/>
                          </a:solidFill>
                        </a:rPr>
                        <a:t>Nova bookings (new system)</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26,543</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62626"/>
                          </a:solidFill>
                        </a:rPr>
                        <a:t>Chennai and Jaipur from April</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262626"/>
                          </a:solidFill>
                        </a:rPr>
                        <a:t>Collections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552,492</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indent="0" marL="0">
                        <a:buNone/>
                      </a:pPr>
                      <a:r>
                        <a:rPr lang="en-US" sz="1300" dirty="0">
                          <a:solidFill>
                            <a:srgbClr val="262626"/>
                          </a:solidFill>
                        </a:rPr>
                        <a:t>Sample collected or no-show</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b="1" dirty="0">
                          <a:solidFill>
                            <a:srgbClr val="262626"/>
                          </a:solidFill>
                        </a:rPr>
                        <a:t>Lab results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1,078,420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62626"/>
                          </a:solidFill>
                        </a:rPr>
                        <a:t>Test was done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262626"/>
                          </a:solidFill>
                        </a:rPr>
                        <a:t>Patients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309,217</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indent="0" marL="0">
                        <a:buNone/>
                      </a:pPr>
                      <a:r>
                        <a:rPr lang="en-US" sz="1300" dirty="0">
                          <a:solidFill>
                            <a:srgbClr val="262626"/>
                          </a:solidFill>
                        </a:rPr>
                        <a:t>Match repeat patients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b="1" dirty="0">
                          <a:solidFill>
                            <a:srgbClr val="262626"/>
                          </a:solidFill>
                        </a:rPr>
                        <a:t>Plan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6 cities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62626"/>
                          </a:solidFill>
                        </a:rPr>
                        <a:t>H1 2026 targets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09360" y="1463040"/>
          <a:ext cx="5330952" cy="914400"/>
        </p:xfrm>
        <a:graphic>
          <a:graphicData uri="http://schemas.openxmlformats.org/drawingml/2006/table">
            <a:tbl>
              <a:tblPr/>
              <a:tblGrid>
                <a:gridCol w="2651760"/>
                <a:gridCol w="1371600"/>
                <a:gridCol w="1307592"/>
              </a:tblGrid>
              <a:tr h="384048">
                <a:tc>
                  <a:txBody>
                    <a:bodyPr/>
                    <a:lstStyle/>
                    <a:p>
                      <a:pPr algn="l" indent="0" marL="0">
                        <a:buNone/>
                      </a:pPr>
                      <a:r>
                        <a:rPr lang="en-US" sz="1300" b="1" dirty="0">
                          <a:solidFill>
                            <a:srgbClr val="FFFFFF"/>
                          </a:solidFill>
                        </a:rPr>
                        <a:t>What we found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c>
                  <a:txBody>
                    <a:bodyPr/>
                    <a:lstStyle/>
                    <a:p>
                      <a:pPr algn="r" indent="0" marL="0">
                        <a:buNone/>
                      </a:pPr>
                      <a:r>
                        <a:rPr lang="en-US" sz="1300" b="1" dirty="0">
                          <a:solidFill>
                            <a:srgbClr val="FFFFFF"/>
                          </a:solidFill>
                        </a:rPr>
                        <a:t>Count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c>
                  <a:txBody>
                    <a:bodyPr/>
                    <a:lstStyle/>
                    <a:p>
                      <a:pPr algn="l" indent="0" marL="0">
                        <a:buNone/>
                      </a:pPr>
                      <a:r>
                        <a:rPr lang="en-US" sz="1300" b="1" dirty="0">
                          <a:solidFill>
                            <a:srgbClr val="FFFFFF"/>
                          </a:solidFill>
                        </a:rPr>
                        <a:t>Action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r>
              <a:tr h="384048">
                <a:tc>
                  <a:txBody>
                    <a:bodyPr/>
                    <a:lstStyle/>
                    <a:p>
                      <a:pPr indent="0" marL="0">
                        <a:buNone/>
                      </a:pPr>
                      <a:r>
                        <a:rPr lang="en-US" sz="1300" dirty="0">
                          <a:solidFill>
                            <a:srgbClr val="262626"/>
                          </a:solidFill>
                        </a:rPr>
                        <a:t>Bangalore and Bengaluru</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193,558 rows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indent="0" marL="0">
                        <a:buNone/>
                      </a:pPr>
                      <a:r>
                        <a:rPr lang="en-US" sz="1300" b="1" dirty="0">
                          <a:solidFill>
                            <a:srgbClr val="262626"/>
                          </a:solidFill>
                        </a:rPr>
                        <a:t>Renamed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dirty="0">
                          <a:solidFill>
                            <a:srgbClr val="262626"/>
                          </a:solidFill>
                        </a:rPr>
                        <a:t>Appointment before booking time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2,443 rows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C00000"/>
                          </a:solidFill>
                        </a:rPr>
                        <a:t>Rejected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dirty="0">
                          <a:solidFill>
                            <a:srgbClr val="262626"/>
                          </a:solidFill>
                        </a:rPr>
                        <a:t>Booking with no tests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21</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indent="0" marL="0">
                        <a:buNone/>
                      </a:pPr>
                      <a:r>
                        <a:rPr lang="en-US" sz="1300" b="1" dirty="0">
                          <a:solidFill>
                            <a:srgbClr val="C00000"/>
                          </a:solidFill>
                        </a:rPr>
                        <a:t>Rejected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dirty="0">
                          <a:solidFill>
                            <a:srgbClr val="262626"/>
                          </a:solidFill>
                        </a:rPr>
                        <a:t>Old version of rescheduled bookings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1,499</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262626"/>
                          </a:solidFill>
                        </a:rPr>
                        <a:t>Removed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dirty="0">
                          <a:solidFill>
                            <a:srgbClr val="262626"/>
                          </a:solidFill>
                        </a:rPr>
                        <a:t>Collections scanned twice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2,894</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indent="0" marL="0">
                        <a:buNone/>
                      </a:pPr>
                      <a:r>
                        <a:rPr lang="en-US" sz="1300" b="1" dirty="0">
                          <a:solidFill>
                            <a:srgbClr val="262626"/>
                          </a:solidFill>
                        </a:rPr>
                        <a:t>Removed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dirty="0">
                          <a:solidFill>
                            <a:srgbClr val="262626"/>
                          </a:solidFill>
                        </a:rPr>
                        <a:t>Same patient, different IDs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5,862 bookings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262626"/>
                          </a:solidFill>
                        </a:rPr>
                        <a:t>Merged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Shape 1"/>
          <p:cNvSpPr/>
          <p:nvPr/>
        </p:nvSpPr>
        <p:spPr>
          <a:xfrm>
            <a:off x="548640" y="4526280"/>
            <a:ext cx="11091672" cy="548640"/>
          </a:xfrm>
          <a:prstGeom prst="rect">
            <a:avLst/>
          </a:prstGeom>
          <a:solidFill>
            <a:srgbClr val="E6F0E0"/>
          </a:solidFill>
          <a:ln w="12700">
            <a:solidFill>
              <a:srgbClr val="E6F0E0"/>
            </a:solidFill>
            <a:prstDash val="solid"/>
          </a:ln>
        </p:spPr>
      </p:sp>
      <p:sp>
        <p:nvSpPr>
          <p:cNvPr id="7" name="Text 2"/>
          <p:cNvSpPr txBox="1"/>
          <p:nvPr/>
        </p:nvSpPr>
        <p:spPr>
          <a:xfrm>
            <a:off x="822960" y="4526280"/>
            <a:ext cx="10543032" cy="548640"/>
          </a:xfrm>
          <a:prstGeom prst="rect">
            <a:avLst/>
          </a:prstGeom>
          <a:noFill/>
          <a:ln/>
        </p:spPr>
        <p:txBody>
          <a:bodyPr wrap="square" lIns="0" tIns="0" rIns="0" bIns="0" rtlCol="0" anchor="ctr"/>
          <a:lstStyle/>
          <a:p>
            <a:pPr indent="0" marL="0">
              <a:buNone/>
            </a:pPr>
            <a:r>
              <a:rPr lang="en-US" sz="1500" b="1" dirty="0">
                <a:solidFill>
                  <a:srgbClr val="548235"/>
                </a:solidFill>
              </a:rPr>
              <a:t>Check: 1,315,204 raw rows = 1,312,740 accepted + 2,464 rejected. No rows were lost.</a:t>
            </a:r>
            <a:endParaRPr lang="en-US" sz="1500" dirty="0"/>
          </a:p>
        </p:txBody>
      </p:sp>
      <p:sp>
        <p:nvSpPr>
          <p:cNvPr id="8" name="Text 3"/>
          <p:cNvSpPr txBox="1"/>
          <p:nvPr/>
        </p:nvSpPr>
        <p:spPr>
          <a:xfrm>
            <a:off x="548640" y="5303520"/>
            <a:ext cx="11091672" cy="640080"/>
          </a:xfrm>
          <a:prstGeom prst="rect">
            <a:avLst/>
          </a:prstGeom>
          <a:noFill/>
          <a:ln/>
        </p:spPr>
        <p:txBody>
          <a:bodyPr wrap="square" lIns="0" tIns="0" rIns="0" bIns="0" rtlCol="0" anchor="t"/>
          <a:lstStyle/>
          <a:p>
            <a:pPr indent="0" marL="0">
              <a:buNone/>
            </a:pPr>
            <a:r>
              <a:rPr lang="en-US" sz="1400" b="1" dirty="0">
                <a:solidFill>
                  <a:srgbClr val="262626"/>
                </a:solidFill>
              </a:rPr>
              <a:t>Result: 565,457 bookings from 188,210 different patients. </a:t>
            </a:r>
            <a:pPr indent="0" marL="0">
              <a:buNone/>
            </a:pPr>
            <a:r>
              <a:rPr lang="en-US" sz="1400" dirty="0">
                <a:solidFill>
                  <a:srgbClr val="262626"/>
                </a:solidFill>
              </a:rPr>
              <a:t>H1 means January to June, based on the appointment date. Rejected rows are saved with a reason in rejects_bookings.csv.</a:t>
            </a:r>
            <a:endParaRPr lang="en-US" sz="1400" dirty="0"/>
          </a:p>
        </p:txBody>
      </p:sp>
      <p:sp>
        <p:nvSpPr>
          <p:cNvPr id="9" name="Text 4"/>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Data_loading_and_eda.ipynb, sections 1 and 2.</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Test volume grew 5.0%, but the plan needed 18.6%</a:t>
            </a:r>
            <a:endParaRPr lang="en-US" sz="2800" dirty="0"/>
          </a:p>
        </p:txBody>
      </p:sp>
      <p:graphicFrame>
        <p:nvGraphicFramePr>
          <p:cNvPr id="4" name="Chart 0" descr=""/>
          <p:cNvGraphicFramePr/>
          <p:nvPr/>
        </p:nvGraphicFramePr>
        <p:xfrm>
          <a:off x="548640" y="141732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498080" y="1463040"/>
            <a:ext cx="4142232" cy="1005840"/>
          </a:xfrm>
          <a:prstGeom prst="rect">
            <a:avLst/>
          </a:prstGeom>
          <a:solidFill>
            <a:srgbClr val="F3F6F9"/>
          </a:solidFill>
          <a:ln w="12700">
            <a:solidFill>
              <a:srgbClr val="F3F6F9"/>
            </a:solidFill>
            <a:prstDash val="solid"/>
          </a:ln>
        </p:spPr>
      </p:sp>
      <p:sp>
        <p:nvSpPr>
          <p:cNvPr id="6" name="Text 2"/>
          <p:cNvSpPr txBox="1"/>
          <p:nvPr/>
        </p:nvSpPr>
        <p:spPr>
          <a:xfrm>
            <a:off x="7726680" y="1463040"/>
            <a:ext cx="1554480" cy="1005840"/>
          </a:xfrm>
          <a:prstGeom prst="rect">
            <a:avLst/>
          </a:prstGeom>
          <a:noFill/>
          <a:ln/>
        </p:spPr>
        <p:txBody>
          <a:bodyPr wrap="square" lIns="0" tIns="0" rIns="0" bIns="0" rtlCol="0" anchor="ctr"/>
          <a:lstStyle/>
          <a:p>
            <a:pPr indent="0" marL="0">
              <a:buNone/>
            </a:pPr>
            <a:r>
              <a:rPr lang="en-US" sz="2800" b="1" dirty="0">
                <a:solidFill>
                  <a:srgbClr val="2E75B6"/>
                </a:solidFill>
              </a:rPr>
              <a:t>+5.0%</a:t>
            </a:r>
            <a:endParaRPr lang="en-US" sz="2800" dirty="0"/>
          </a:p>
        </p:txBody>
      </p:sp>
      <p:sp>
        <p:nvSpPr>
          <p:cNvPr id="7" name="Text 3"/>
          <p:cNvSpPr txBox="1"/>
          <p:nvPr/>
        </p:nvSpPr>
        <p:spPr>
          <a:xfrm>
            <a:off x="9326880" y="1463040"/>
            <a:ext cx="2130552" cy="1005840"/>
          </a:xfrm>
          <a:prstGeom prst="rect">
            <a:avLst/>
          </a:prstGeom>
          <a:noFill/>
          <a:ln/>
        </p:spPr>
        <p:txBody>
          <a:bodyPr wrap="square" lIns="0" tIns="0" rIns="0" bIns="0" rtlCol="0" anchor="ctr"/>
          <a:lstStyle/>
          <a:p>
            <a:pPr indent="0" marL="0">
              <a:buNone/>
            </a:pPr>
            <a:r>
              <a:rPr lang="en-US" sz="1500" b="1" dirty="0">
                <a:solidFill>
                  <a:srgbClr val="262626"/>
                </a:solidFill>
              </a:rPr>
              <a:t>Tests</a:t>
            </a:r>
            <a:endParaRPr lang="en-US" sz="1500" dirty="0"/>
          </a:p>
          <a:p>
            <a:pPr indent="0" marL="0">
              <a:buNone/>
            </a:pPr>
            <a:r>
              <a:rPr lang="en-US" sz="1400" dirty="0">
                <a:solidFill>
                  <a:srgbClr val="595959"/>
                </a:solidFill>
              </a:rPr>
              <a:t>435,008 to 456,788</a:t>
            </a:r>
            <a:endParaRPr lang="en-US" sz="1500" dirty="0"/>
          </a:p>
        </p:txBody>
      </p:sp>
      <p:sp>
        <p:nvSpPr>
          <p:cNvPr id="8" name="Shape 4"/>
          <p:cNvSpPr/>
          <p:nvPr/>
        </p:nvSpPr>
        <p:spPr>
          <a:xfrm>
            <a:off x="7498080" y="2606040"/>
            <a:ext cx="4142232" cy="1005840"/>
          </a:xfrm>
          <a:prstGeom prst="rect">
            <a:avLst/>
          </a:prstGeom>
          <a:solidFill>
            <a:srgbClr val="F3F6F9"/>
          </a:solidFill>
          <a:ln w="12700">
            <a:solidFill>
              <a:srgbClr val="F3F6F9"/>
            </a:solidFill>
            <a:prstDash val="solid"/>
          </a:ln>
        </p:spPr>
      </p:sp>
      <p:sp>
        <p:nvSpPr>
          <p:cNvPr id="9" name="Text 5"/>
          <p:cNvSpPr txBox="1"/>
          <p:nvPr/>
        </p:nvSpPr>
        <p:spPr>
          <a:xfrm>
            <a:off x="7726680" y="2606040"/>
            <a:ext cx="1554480" cy="1005840"/>
          </a:xfrm>
          <a:prstGeom prst="rect">
            <a:avLst/>
          </a:prstGeom>
          <a:noFill/>
          <a:ln/>
        </p:spPr>
        <p:txBody>
          <a:bodyPr wrap="square" lIns="0" tIns="0" rIns="0" bIns="0" rtlCol="0" anchor="ctr"/>
          <a:lstStyle/>
          <a:p>
            <a:pPr indent="0" marL="0">
              <a:buNone/>
            </a:pPr>
            <a:r>
              <a:rPr lang="en-US" sz="2800" b="1" dirty="0">
                <a:solidFill>
                  <a:srgbClr val="2E75B6"/>
                </a:solidFill>
              </a:rPr>
              <a:t>+2.8%</a:t>
            </a:r>
            <a:endParaRPr lang="en-US" sz="2800" dirty="0"/>
          </a:p>
        </p:txBody>
      </p:sp>
      <p:sp>
        <p:nvSpPr>
          <p:cNvPr id="10" name="Text 6"/>
          <p:cNvSpPr txBox="1"/>
          <p:nvPr/>
        </p:nvSpPr>
        <p:spPr>
          <a:xfrm>
            <a:off x="9326880" y="2606040"/>
            <a:ext cx="2130552" cy="1005840"/>
          </a:xfrm>
          <a:prstGeom prst="rect">
            <a:avLst/>
          </a:prstGeom>
          <a:noFill/>
          <a:ln/>
        </p:spPr>
        <p:txBody>
          <a:bodyPr wrap="square" lIns="0" tIns="0" rIns="0" bIns="0" rtlCol="0" anchor="ctr"/>
          <a:lstStyle/>
          <a:p>
            <a:pPr indent="0" marL="0">
              <a:buNone/>
            </a:pPr>
            <a:r>
              <a:rPr lang="en-US" sz="1500" b="1" dirty="0">
                <a:solidFill>
                  <a:srgbClr val="262626"/>
                </a:solidFill>
              </a:rPr>
              <a:t>Bookings (visits)</a:t>
            </a:r>
            <a:endParaRPr lang="en-US" sz="1500" dirty="0"/>
          </a:p>
          <a:p>
            <a:pPr indent="0" marL="0">
              <a:buNone/>
            </a:pPr>
            <a:r>
              <a:rPr lang="en-US" sz="1400" dirty="0">
                <a:solidFill>
                  <a:srgbClr val="595959"/>
                </a:solidFill>
              </a:rPr>
              <a:t>189,500 to 194,713</a:t>
            </a:r>
            <a:endParaRPr lang="en-US" sz="1500" dirty="0"/>
          </a:p>
        </p:txBody>
      </p:sp>
      <p:sp>
        <p:nvSpPr>
          <p:cNvPr id="11" name="Shape 7"/>
          <p:cNvSpPr/>
          <p:nvPr/>
        </p:nvSpPr>
        <p:spPr>
          <a:xfrm>
            <a:off x="7498080" y="3749040"/>
            <a:ext cx="4142232" cy="1005840"/>
          </a:xfrm>
          <a:prstGeom prst="rect">
            <a:avLst/>
          </a:prstGeom>
          <a:solidFill>
            <a:srgbClr val="F3F6F9"/>
          </a:solidFill>
          <a:ln w="12700">
            <a:solidFill>
              <a:srgbClr val="F3F6F9"/>
            </a:solidFill>
            <a:prstDash val="solid"/>
          </a:ln>
        </p:spPr>
      </p:sp>
      <p:sp>
        <p:nvSpPr>
          <p:cNvPr id="12" name="Text 8"/>
          <p:cNvSpPr txBox="1"/>
          <p:nvPr/>
        </p:nvSpPr>
        <p:spPr>
          <a:xfrm>
            <a:off x="7726680" y="3749040"/>
            <a:ext cx="1554480" cy="1005840"/>
          </a:xfrm>
          <a:prstGeom prst="rect">
            <a:avLst/>
          </a:prstGeom>
          <a:noFill/>
          <a:ln/>
        </p:spPr>
        <p:txBody>
          <a:bodyPr wrap="square" lIns="0" tIns="0" rIns="0" bIns="0" rtlCol="0" anchor="ctr"/>
          <a:lstStyle/>
          <a:p>
            <a:pPr indent="0" marL="0">
              <a:buNone/>
            </a:pPr>
            <a:r>
              <a:rPr lang="en-US" sz="2800" b="1" dirty="0">
                <a:solidFill>
                  <a:srgbClr val="2E75B6"/>
                </a:solidFill>
              </a:rPr>
              <a:t>+3.8%</a:t>
            </a:r>
            <a:endParaRPr lang="en-US" sz="2800" dirty="0"/>
          </a:p>
        </p:txBody>
      </p:sp>
      <p:sp>
        <p:nvSpPr>
          <p:cNvPr id="13" name="Text 9"/>
          <p:cNvSpPr txBox="1"/>
          <p:nvPr/>
        </p:nvSpPr>
        <p:spPr>
          <a:xfrm>
            <a:off x="9326880" y="3749040"/>
            <a:ext cx="2130552" cy="1005840"/>
          </a:xfrm>
          <a:prstGeom prst="rect">
            <a:avLst/>
          </a:prstGeom>
          <a:noFill/>
          <a:ln/>
        </p:spPr>
        <p:txBody>
          <a:bodyPr wrap="square" lIns="0" tIns="0" rIns="0" bIns="0" rtlCol="0" anchor="ctr"/>
          <a:lstStyle/>
          <a:p>
            <a:pPr indent="0" marL="0">
              <a:buNone/>
            </a:pPr>
            <a:r>
              <a:rPr lang="en-US" sz="1500" b="1" dirty="0">
                <a:solidFill>
                  <a:srgbClr val="262626"/>
                </a:solidFill>
              </a:rPr>
              <a:t>Patients</a:t>
            </a:r>
            <a:endParaRPr lang="en-US" sz="1500" dirty="0"/>
          </a:p>
          <a:p>
            <a:pPr indent="0" marL="0">
              <a:buNone/>
            </a:pPr>
            <a:r>
              <a:rPr lang="en-US" sz="1400" dirty="0">
                <a:solidFill>
                  <a:srgbClr val="595959"/>
                </a:solidFill>
              </a:rPr>
              <a:t>94,477 to 98,025</a:t>
            </a:r>
            <a:endParaRPr lang="en-US" sz="1500" dirty="0"/>
          </a:p>
        </p:txBody>
      </p:sp>
      <p:sp>
        <p:nvSpPr>
          <p:cNvPr id="14" name="Shape 10"/>
          <p:cNvSpPr/>
          <p:nvPr/>
        </p:nvSpPr>
        <p:spPr>
          <a:xfrm>
            <a:off x="7498080" y="5074920"/>
            <a:ext cx="4142232" cy="868680"/>
          </a:xfrm>
          <a:prstGeom prst="rect">
            <a:avLst/>
          </a:prstGeom>
          <a:solidFill>
            <a:srgbClr val="1F3A5F"/>
          </a:solidFill>
          <a:ln w="12700">
            <a:solidFill>
              <a:srgbClr val="1F3A5F"/>
            </a:solidFill>
            <a:prstDash val="solid"/>
          </a:ln>
        </p:spPr>
      </p:sp>
      <p:sp>
        <p:nvSpPr>
          <p:cNvPr id="15" name="Text 11"/>
          <p:cNvSpPr txBox="1"/>
          <p:nvPr/>
        </p:nvSpPr>
        <p:spPr>
          <a:xfrm>
            <a:off x="7726680" y="5074920"/>
            <a:ext cx="3685032" cy="868680"/>
          </a:xfrm>
          <a:prstGeom prst="rect">
            <a:avLst/>
          </a:prstGeom>
          <a:noFill/>
          <a:ln/>
        </p:spPr>
        <p:txBody>
          <a:bodyPr wrap="square" lIns="0" tIns="0" rIns="0" bIns="0" rtlCol="0" anchor="ctr"/>
          <a:lstStyle/>
          <a:p>
            <a:pPr indent="0" marL="0">
              <a:spcAft>
                <a:spcPts val="300"/>
              </a:spcAft>
              <a:buNone/>
            </a:pPr>
            <a:r>
              <a:rPr lang="en-US" sz="1300" b="1" dirty="0">
                <a:solidFill>
                  <a:srgbClr val="BFD0E4"/>
                </a:solidFill>
              </a:rPr>
              <a:t>Three counts agree</a:t>
            </a:r>
            <a:endParaRPr lang="en-US" sz="1300" dirty="0"/>
          </a:p>
          <a:p>
            <a:pPr indent="0" marL="0">
              <a:spcAft>
                <a:spcPts val="300"/>
              </a:spcAft>
              <a:buNone/>
            </a:pPr>
            <a:r>
              <a:rPr lang="en-US" sz="1400" b="1" dirty="0">
                <a:solidFill>
                  <a:srgbClr val="FFFFFF"/>
                </a:solidFill>
              </a:rPr>
              <a:t>Booked +5.0%  |  Collected +4.9%  |  Tested +5.0%</a:t>
            </a:r>
            <a:endParaRPr lang="en-US" sz="1300" dirty="0"/>
          </a:p>
        </p:txBody>
      </p:sp>
      <p:sp>
        <p:nvSpPr>
          <p:cNvPr id="16" name="Text 12"/>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current bookings, H1 2026 and H1 2025. Plan = sum of the six city targets.</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Brief A: not enough patients is the main reason for the gap</a:t>
            </a:r>
            <a:endParaRPr lang="en-US" sz="2800" dirty="0"/>
          </a:p>
        </p:txBody>
      </p:sp>
      <p:graphicFrame>
        <p:nvGraphicFramePr>
          <p:cNvPr id="4" name="Chart 0" descr=""/>
          <p:cNvGraphicFramePr/>
          <p:nvPr/>
        </p:nvGraphicFramePr>
        <p:xfrm>
          <a:off x="548640" y="1417320"/>
          <a:ext cx="603504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0" y="1463040"/>
          <a:ext cx="4782312" cy="914400"/>
        </p:xfrm>
        <a:graphic>
          <a:graphicData uri="http://schemas.openxmlformats.org/drawingml/2006/table">
            <a:tbl>
              <a:tblPr/>
              <a:tblGrid>
                <a:gridCol w="2011680"/>
                <a:gridCol w="1371600"/>
                <a:gridCol w="1399032"/>
              </a:tblGrid>
              <a:tr h="384048">
                <a:tc>
                  <a:txBody>
                    <a:bodyPr/>
                    <a:lstStyle/>
                    <a:p>
                      <a:pPr algn="l" indent="0" marL="0">
                        <a:buNone/>
                      </a:pP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c>
                  <a:txBody>
                    <a:bodyPr/>
                    <a:lstStyle/>
                    <a:p>
                      <a:pPr algn="r" indent="0" marL="0">
                        <a:buNone/>
                      </a:pPr>
                      <a:r>
                        <a:rPr lang="en-US" sz="1300" b="1" dirty="0">
                          <a:solidFill>
                            <a:srgbClr val="FFFFFF"/>
                          </a:solidFill>
                        </a:rPr>
                        <a:t>H1 2025</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c>
                  <a:txBody>
                    <a:bodyPr/>
                    <a:lstStyle/>
                    <a:p>
                      <a:pPr algn="r" indent="0" marL="0">
                        <a:buNone/>
                      </a:pPr>
                      <a:r>
                        <a:rPr lang="en-US" sz="1300" b="1" dirty="0">
                          <a:solidFill>
                            <a:srgbClr val="FFFFFF"/>
                          </a:solidFill>
                        </a:rPr>
                        <a:t>H1 2026</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F3A5F"/>
                    </a:solidFill>
                  </a:tcPr>
                </a:tc>
              </a:tr>
              <a:tr h="384048">
                <a:tc>
                  <a:txBody>
                    <a:bodyPr/>
                    <a:lstStyle/>
                    <a:p>
                      <a:pPr indent="0" marL="0">
                        <a:buNone/>
                      </a:pPr>
                      <a:r>
                        <a:rPr lang="en-US" sz="1300" b="1" dirty="0">
                          <a:solidFill>
                            <a:srgbClr val="262626"/>
                          </a:solidFill>
                        </a:rPr>
                        <a:t>Patients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94,477</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98,025</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b="1" dirty="0">
                          <a:solidFill>
                            <a:srgbClr val="262626"/>
                          </a:solidFill>
                        </a:rPr>
                        <a:t>Visits per patient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2.01</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1.99</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262626"/>
                          </a:solidFill>
                        </a:rPr>
                        <a:t>Tests per visit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2.30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c>
                  <a:txBody>
                    <a:bodyPr/>
                    <a:lstStyle/>
                    <a:p>
                      <a:pPr algn="r" indent="0" marL="0">
                        <a:buNone/>
                      </a:pPr>
                      <a:r>
                        <a:rPr lang="en-US" sz="1300" dirty="0">
                          <a:solidFill>
                            <a:srgbClr val="262626"/>
                          </a:solidFill>
                        </a:rPr>
                        <a:t>2.35</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3F6F9"/>
                    </a:solidFill>
                  </a:tcPr>
                </a:tc>
              </a:tr>
              <a:tr h="384048">
                <a:tc>
                  <a:txBody>
                    <a:bodyPr/>
                    <a:lstStyle/>
                    <a:p>
                      <a:pPr indent="0" marL="0">
                        <a:buNone/>
                      </a:pPr>
                      <a:r>
                        <a:rPr lang="en-US" sz="1300" b="1" dirty="0">
                          <a:solidFill>
                            <a:srgbClr val="262626"/>
                          </a:solidFill>
                        </a:rPr>
                        <a:t>Total tests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435,008</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262626"/>
                          </a:solidFill>
                        </a:rPr>
                        <a:t>456,788</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1"/>
          <p:cNvSpPr txBox="1"/>
          <p:nvPr/>
        </p:nvSpPr>
        <p:spPr>
          <a:xfrm>
            <a:off x="6858000" y="3520440"/>
            <a:ext cx="4782312" cy="320040"/>
          </a:xfrm>
          <a:prstGeom prst="rect">
            <a:avLst/>
          </a:prstGeom>
          <a:noFill/>
          <a:ln/>
        </p:spPr>
        <p:txBody>
          <a:bodyPr wrap="square" lIns="0" tIns="0" rIns="0" bIns="0" rtlCol="0" anchor="ctr"/>
          <a:lstStyle/>
          <a:p>
            <a:pPr indent="0" marL="0">
              <a:buNone/>
            </a:pPr>
            <a:r>
              <a:rPr lang="en-US" sz="1300" dirty="0">
                <a:solidFill>
                  <a:srgbClr val="595959"/>
                </a:solidFill>
              </a:rPr>
              <a:t>Tests = patients × visits per patient × tests per visit</a:t>
            </a:r>
            <a:endParaRPr lang="en-US" sz="1300" dirty="0"/>
          </a:p>
        </p:txBody>
      </p:sp>
      <p:sp>
        <p:nvSpPr>
          <p:cNvPr id="7" name="Shape 2"/>
          <p:cNvSpPr/>
          <p:nvPr/>
        </p:nvSpPr>
        <p:spPr>
          <a:xfrm>
            <a:off x="6858000" y="3977640"/>
            <a:ext cx="4782312" cy="1965960"/>
          </a:xfrm>
          <a:prstGeom prst="rect">
            <a:avLst/>
          </a:prstGeom>
          <a:solidFill>
            <a:srgbClr val="FBE5E1"/>
          </a:solidFill>
          <a:ln w="12700">
            <a:solidFill>
              <a:srgbClr val="FBE5E1"/>
            </a:solidFill>
            <a:prstDash val="solid"/>
          </a:ln>
        </p:spPr>
      </p:sp>
      <p:sp>
        <p:nvSpPr>
          <p:cNvPr id="8" name="Text 3"/>
          <p:cNvSpPr txBox="1"/>
          <p:nvPr/>
        </p:nvSpPr>
        <p:spPr>
          <a:xfrm>
            <a:off x="7086600" y="3977640"/>
            <a:ext cx="4325112" cy="1965960"/>
          </a:xfrm>
          <a:prstGeom prst="rect">
            <a:avLst/>
          </a:prstGeom>
          <a:noFill/>
          <a:ln/>
        </p:spPr>
        <p:txBody>
          <a:bodyPr wrap="square" lIns="0" tIns="0" rIns="0" bIns="0" rtlCol="0" anchor="ctr"/>
          <a:lstStyle/>
          <a:p>
            <a:pPr indent="0" marL="0">
              <a:spcAft>
                <a:spcPts val="400"/>
              </a:spcAft>
              <a:buNone/>
            </a:pPr>
            <a:r>
              <a:rPr lang="en-US" sz="1600" b="1" dirty="0">
                <a:solidFill>
                  <a:srgbClr val="C00000"/>
                </a:solidFill>
              </a:rPr>
              <a:t>What the plan needed</a:t>
            </a:r>
            <a:endParaRPr lang="en-US" sz="1600" dirty="0"/>
          </a:p>
          <a:p>
            <a:pPr indent="0" marL="0">
              <a:spcAft>
                <a:spcPts val="400"/>
              </a:spcAft>
              <a:buNone/>
            </a:pPr>
            <a:r>
              <a:rPr lang="en-US" sz="1500" dirty="0">
                <a:solidFill>
                  <a:srgbClr val="262626"/>
                </a:solidFill>
              </a:rPr>
              <a:t>If visits per patient and tests per visit stay as they were, patients had to grow 17.1%. They grew 3.8%.</a:t>
            </a:r>
            <a:endParaRPr lang="en-US" sz="1600" dirty="0"/>
          </a:p>
        </p:txBody>
      </p:sp>
      <p:sp>
        <p:nvSpPr>
          <p:cNvPr id="9" name="Text 4"/>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current bookings. Patient = one person after matching IDs; visit = one booking; test = one booked test.</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Chennai, Bengaluru and Jaipur missed plan by the most: 65% of the gap</a:t>
            </a:r>
            <a:endParaRPr lang="en-US" sz="2800" dirty="0"/>
          </a:p>
        </p:txBody>
      </p:sp>
      <p:graphicFrame>
        <p:nvGraphicFramePr>
          <p:cNvPr id="4" name="Chart 0" descr=""/>
          <p:cNvGraphicFramePr/>
          <p:nvPr/>
        </p:nvGraphicFramePr>
        <p:xfrm>
          <a:off x="548640" y="141732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498080" y="1463040"/>
            <a:ext cx="4142232" cy="1188720"/>
          </a:xfrm>
          <a:prstGeom prst="rect">
            <a:avLst/>
          </a:prstGeom>
          <a:solidFill>
            <a:srgbClr val="F3F6F9"/>
          </a:solidFill>
          <a:ln w="12700">
            <a:solidFill>
              <a:srgbClr val="F3F6F9"/>
            </a:solidFill>
            <a:prstDash val="solid"/>
          </a:ln>
        </p:spPr>
      </p:sp>
      <p:sp>
        <p:nvSpPr>
          <p:cNvPr id="6" name="Text 2"/>
          <p:cNvSpPr txBox="1"/>
          <p:nvPr/>
        </p:nvSpPr>
        <p:spPr>
          <a:xfrm>
            <a:off x="7726680" y="1536192"/>
            <a:ext cx="3685032" cy="653796"/>
          </a:xfrm>
          <a:prstGeom prst="rect">
            <a:avLst/>
          </a:prstGeom>
          <a:noFill/>
          <a:ln/>
        </p:spPr>
        <p:txBody>
          <a:bodyPr wrap="square" lIns="0" tIns="0" rIns="0" bIns="0" rtlCol="0" anchor="ctr"/>
          <a:lstStyle/>
          <a:p>
            <a:pPr indent="0" marL="0">
              <a:buNone/>
            </a:pPr>
            <a:r>
              <a:rPr lang="en-US" sz="3000" b="1" dirty="0">
                <a:solidFill>
                  <a:srgbClr val="C00000"/>
                </a:solidFill>
              </a:rPr>
              <a:t>25,484</a:t>
            </a:r>
            <a:endParaRPr lang="en-US" sz="3000" dirty="0"/>
          </a:p>
        </p:txBody>
      </p:sp>
      <p:sp>
        <p:nvSpPr>
          <p:cNvPr id="7" name="Text 3"/>
          <p:cNvSpPr txBox="1"/>
          <p:nvPr/>
        </p:nvSpPr>
        <p:spPr>
          <a:xfrm>
            <a:off x="7726680" y="2152498"/>
            <a:ext cx="3685032" cy="427939"/>
          </a:xfrm>
          <a:prstGeom prst="rect">
            <a:avLst/>
          </a:prstGeom>
          <a:noFill/>
          <a:ln/>
        </p:spPr>
        <p:txBody>
          <a:bodyPr wrap="square" lIns="0" tIns="0" rIns="0" bIns="0" rtlCol="0" anchor="t"/>
          <a:lstStyle/>
          <a:p>
            <a:pPr indent="0" marL="0">
              <a:buNone/>
            </a:pPr>
            <a:r>
              <a:rPr lang="en-US" sz="1400" dirty="0">
                <a:solidFill>
                  <a:srgbClr val="595959"/>
                </a:solidFill>
              </a:rPr>
              <a:t>Chennai + Jaipur (43% of the gap)</a:t>
            </a:r>
            <a:endParaRPr lang="en-US" sz="1400" dirty="0"/>
          </a:p>
        </p:txBody>
      </p:sp>
      <p:sp>
        <p:nvSpPr>
          <p:cNvPr id="8" name="Shape 4"/>
          <p:cNvSpPr/>
          <p:nvPr/>
        </p:nvSpPr>
        <p:spPr>
          <a:xfrm>
            <a:off x="7498080" y="2788920"/>
            <a:ext cx="4142232" cy="1188720"/>
          </a:xfrm>
          <a:prstGeom prst="rect">
            <a:avLst/>
          </a:prstGeom>
          <a:solidFill>
            <a:srgbClr val="F3F6F9"/>
          </a:solidFill>
          <a:ln w="12700">
            <a:solidFill>
              <a:srgbClr val="F3F6F9"/>
            </a:solidFill>
            <a:prstDash val="solid"/>
          </a:ln>
        </p:spPr>
      </p:sp>
      <p:sp>
        <p:nvSpPr>
          <p:cNvPr id="9" name="Text 5"/>
          <p:cNvSpPr txBox="1"/>
          <p:nvPr/>
        </p:nvSpPr>
        <p:spPr>
          <a:xfrm>
            <a:off x="7726680" y="2862072"/>
            <a:ext cx="3685032" cy="653796"/>
          </a:xfrm>
          <a:prstGeom prst="rect">
            <a:avLst/>
          </a:prstGeom>
          <a:noFill/>
          <a:ln/>
        </p:spPr>
        <p:txBody>
          <a:bodyPr wrap="square" lIns="0" tIns="0" rIns="0" bIns="0" rtlCol="0" anchor="ctr"/>
          <a:lstStyle/>
          <a:p>
            <a:pPr indent="0" marL="0">
              <a:buNone/>
            </a:pPr>
            <a:r>
              <a:rPr lang="en-US" sz="3000" b="1" dirty="0">
                <a:solidFill>
                  <a:srgbClr val="595959"/>
                </a:solidFill>
              </a:rPr>
              <a:t>33,468</a:t>
            </a:r>
            <a:endParaRPr lang="en-US" sz="3000" dirty="0"/>
          </a:p>
        </p:txBody>
      </p:sp>
      <p:sp>
        <p:nvSpPr>
          <p:cNvPr id="10" name="Text 6"/>
          <p:cNvSpPr txBox="1"/>
          <p:nvPr/>
        </p:nvSpPr>
        <p:spPr>
          <a:xfrm>
            <a:off x="7726680" y="3478378"/>
            <a:ext cx="3685032" cy="427939"/>
          </a:xfrm>
          <a:prstGeom prst="rect">
            <a:avLst/>
          </a:prstGeom>
          <a:noFill/>
          <a:ln/>
        </p:spPr>
        <p:txBody>
          <a:bodyPr wrap="square" lIns="0" tIns="0" rIns="0" bIns="0" rtlCol="0" anchor="t"/>
          <a:lstStyle/>
          <a:p>
            <a:pPr indent="0" marL="0">
              <a:buNone/>
            </a:pPr>
            <a:r>
              <a:rPr lang="en-US" sz="1400" dirty="0">
                <a:solidFill>
                  <a:srgbClr val="595959"/>
                </a:solidFill>
              </a:rPr>
              <a:t>Other four cities (57% of the gap)</a:t>
            </a:r>
            <a:endParaRPr lang="en-US" sz="1400" dirty="0"/>
          </a:p>
        </p:txBody>
      </p:sp>
      <p:sp>
        <p:nvSpPr>
          <p:cNvPr id="11" name="Shape 7"/>
          <p:cNvSpPr/>
          <p:nvPr/>
        </p:nvSpPr>
        <p:spPr>
          <a:xfrm>
            <a:off x="7498080" y="4114800"/>
            <a:ext cx="4142232" cy="1828800"/>
          </a:xfrm>
          <a:prstGeom prst="rect">
            <a:avLst/>
          </a:prstGeom>
          <a:solidFill>
            <a:srgbClr val="F3F6F9"/>
          </a:solidFill>
          <a:ln w="12700">
            <a:solidFill>
              <a:srgbClr val="F3F6F9"/>
            </a:solidFill>
            <a:prstDash val="solid"/>
          </a:ln>
        </p:spPr>
      </p:sp>
      <p:sp>
        <p:nvSpPr>
          <p:cNvPr id="12" name="Text 8"/>
          <p:cNvSpPr txBox="1"/>
          <p:nvPr/>
        </p:nvSpPr>
        <p:spPr>
          <a:xfrm>
            <a:off x="7726680" y="4114800"/>
            <a:ext cx="3685032" cy="1828800"/>
          </a:xfrm>
          <a:prstGeom prst="rect">
            <a:avLst/>
          </a:prstGeom>
          <a:noFill/>
          <a:ln/>
        </p:spPr>
        <p:txBody>
          <a:bodyPr wrap="square" lIns="0" tIns="0" rIns="0" bIns="0" rtlCol="0" anchor="ctr"/>
          <a:lstStyle/>
          <a:p>
            <a:pPr indent="0" marL="0">
              <a:spcAft>
                <a:spcPts val="400"/>
              </a:spcAft>
              <a:buNone/>
            </a:pPr>
            <a:r>
              <a:rPr lang="en-US" sz="1500" b="1" dirty="0">
                <a:solidFill>
                  <a:srgbClr val="1F3A5F"/>
                </a:solidFill>
              </a:rPr>
              <a:t>Bengaluru</a:t>
            </a:r>
            <a:endParaRPr lang="en-US" sz="1500" dirty="0"/>
          </a:p>
          <a:p>
            <a:pPr indent="0" marL="0">
              <a:spcAft>
                <a:spcPts val="400"/>
              </a:spcAft>
              <a:buNone/>
            </a:pPr>
            <a:r>
              <a:rPr lang="en-US" sz="1400" dirty="0">
                <a:solidFill>
                  <a:srgbClr val="262626"/>
                </a:solidFill>
              </a:rPr>
              <a:t>Its plan asked for 20.4% growth, the highest of all cities. It grew 7.6%. The miss is mostly because the target was very high.</a:t>
            </a:r>
            <a:endParaRPr lang="en-US" sz="1500" dirty="0"/>
          </a:p>
        </p:txBody>
      </p:sp>
      <p:sp>
        <p:nvSpPr>
          <p:cNvPr id="13" name="Text 9"/>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plan minus actual booked tests. Red bars = Chennai and Jaipur (29% of H1 2025 volume).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Growth by city: only Chennai and Jaipur lost patients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743200"/>
                <a:gridCol w="1737360"/>
                <a:gridCol w="1737360"/>
                <a:gridCol w="1737360"/>
                <a:gridCol w="1645920"/>
                <a:gridCol w="1490472"/>
              </a:tblGrid>
              <a:tr h="457200">
                <a:tc>
                  <a:txBody>
                    <a:bodyPr/>
                    <a:lstStyle/>
                    <a:p>
                      <a:pPr algn="l" indent="0" marL="0">
                        <a:buNone/>
                      </a:pPr>
                      <a:r>
                        <a:rPr lang="en-US" sz="1300" b="1" dirty="0">
                          <a:solidFill>
                            <a:srgbClr val="FFFFFF"/>
                          </a:solidFill>
                        </a:rPr>
                        <a:t>City</a:t>
                      </a:r>
                      <a:endParaRPr lang="en-US" sz="13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Tests</a:t>
                      </a:r>
                      <a:endParaRPr lang="en-US" sz="13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Plan</a:t>
                      </a:r>
                      <a:endParaRPr lang="en-US" sz="13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Patients</a:t>
                      </a:r>
                      <a:endParaRPr lang="en-US" sz="13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Visits per patient</a:t>
                      </a:r>
                      <a:endParaRPr lang="en-US" sz="13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Tests per visit</a:t>
                      </a:r>
                      <a:endParaRPr lang="en-US" sz="13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r>
              <a:tr h="457200">
                <a:tc>
                  <a:txBody>
                    <a:bodyPr/>
                    <a:lstStyle/>
                    <a:p>
                      <a:pPr indent="0" marL="0">
                        <a:buNone/>
                      </a:pPr>
                      <a:r>
                        <a:rPr lang="en-US" sz="1500" b="1" dirty="0">
                          <a:solidFill>
                            <a:srgbClr val="262626"/>
                          </a:solidFill>
                        </a:rPr>
                        <a:t>Ahmedabad</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262626"/>
                          </a:solidFill>
                        </a:rPr>
                        <a:t>+10.5%</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C55A11"/>
                          </a:solidFill>
                        </a:rPr>
                        <a:t>+18.3%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dirty="0">
                          <a:solidFill>
                            <a:srgbClr val="262626"/>
                          </a:solidFill>
                        </a:rPr>
                        <a:t>+9.6%</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C00000"/>
                          </a:solidFill>
                        </a:rPr>
                        <a:t>-1.0%</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dirty="0">
                          <a:solidFill>
                            <a:srgbClr val="262626"/>
                          </a:solidFill>
                        </a:rPr>
                        <a:t>+1.8%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r>
              <a:tr h="457200">
                <a:tc>
                  <a:txBody>
                    <a:bodyPr/>
                    <a:lstStyle/>
                    <a:p>
                      <a:pPr indent="0" marL="0">
                        <a:buNone/>
                      </a:pPr>
                      <a:r>
                        <a:rPr lang="en-US" sz="1500" b="1" dirty="0">
                          <a:solidFill>
                            <a:srgbClr val="262626"/>
                          </a:solidFill>
                        </a:rPr>
                        <a:t>Bengaluru</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62626"/>
                          </a:solidFill>
                        </a:rPr>
                        <a:t>+7.6%</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55A11"/>
                          </a:solidFill>
                        </a:rPr>
                        <a:t>+20.4%</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62626"/>
                          </a:solidFill>
                        </a:rPr>
                        <a:t>+7.2%</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rPr>
                        <a:t>-2.3%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dirty="0">
                          <a:solidFill>
                            <a:srgbClr val="262626"/>
                          </a:solidFill>
                        </a:rPr>
                        <a:t>+2.8%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262626"/>
                          </a:solidFill>
                        </a:rPr>
                        <a:t>Chennai (new system)</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262626"/>
                          </a:solidFill>
                        </a:rPr>
                        <a:t>+0.8%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C55A11"/>
                          </a:solidFill>
                        </a:rPr>
                        <a:t>+17.4%</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C00000"/>
                          </a:solidFill>
                        </a:rPr>
                        <a:t>-5.0%</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dirty="0">
                          <a:solidFill>
                            <a:srgbClr val="262626"/>
                          </a:solidFill>
                        </a:rPr>
                        <a:t>+3.2%</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dirty="0">
                          <a:solidFill>
                            <a:srgbClr val="262626"/>
                          </a:solidFill>
                        </a:rPr>
                        <a:t>+2.8%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r>
              <a:tr h="457200">
                <a:tc>
                  <a:txBody>
                    <a:bodyPr/>
                    <a:lstStyle/>
                    <a:p>
                      <a:pPr indent="0" marL="0">
                        <a:buNone/>
                      </a:pPr>
                      <a:r>
                        <a:rPr lang="en-US" sz="1500" b="1" dirty="0">
                          <a:solidFill>
                            <a:srgbClr val="262626"/>
                          </a:solidFill>
                        </a:rPr>
                        <a:t>Hyderabad</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62626"/>
                          </a:solidFill>
                        </a:rPr>
                        <a:t>+7.4%</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55A11"/>
                          </a:solidFill>
                        </a:rPr>
                        <a:t>+18.3%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62626"/>
                          </a:solidFill>
                        </a:rPr>
                        <a:t>+8.1%</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rPr>
                        <a:t>-2.4%</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dirty="0">
                          <a:solidFill>
                            <a:srgbClr val="262626"/>
                          </a:solidFill>
                        </a:rPr>
                        <a:t>+1.8%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262626"/>
                          </a:solidFill>
                        </a:rPr>
                        <a:t>Jaipur (new system)</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C00000"/>
                          </a:solidFill>
                        </a:rPr>
                        <a:t>-10.8%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b="1" dirty="0">
                          <a:solidFill>
                            <a:srgbClr val="C55A11"/>
                          </a:solidFill>
                        </a:rPr>
                        <a:t>+16.3%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500" b="1" dirty="0">
                          <a:solidFill>
                            <a:srgbClr val="C00000"/>
                          </a:solidFill>
                        </a:rPr>
                        <a:t>-12.1%</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b="1" dirty="0">
                          <a:solidFill>
                            <a:srgbClr val="C00000"/>
                          </a:solidFill>
                        </a:rPr>
                        <a:t>-0.3%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dirty="0">
                          <a:solidFill>
                            <a:srgbClr val="262626"/>
                          </a:solidFill>
                        </a:rPr>
                        <a:t>+1.8%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6F9"/>
                    </a:solidFill>
                  </a:tcPr>
                </a:tc>
              </a:tr>
              <a:tr h="457200">
                <a:tc>
                  <a:txBody>
                    <a:bodyPr/>
                    <a:lstStyle/>
                    <a:p>
                      <a:pPr indent="0" marL="0">
                        <a:buNone/>
                      </a:pPr>
                      <a:r>
                        <a:rPr lang="en-US" sz="1500" b="1" dirty="0">
                          <a:solidFill>
                            <a:srgbClr val="262626"/>
                          </a:solidFill>
                        </a:rPr>
                        <a:t>Pune</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62626"/>
                          </a:solidFill>
                        </a:rPr>
                        <a:t>+8.1%</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55A11"/>
                          </a:solidFill>
                        </a:rPr>
                        <a:t>+19.4%</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62626"/>
                          </a:solidFill>
                        </a:rPr>
                        <a:t>+8.9%</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rPr>
                        <a:t>-2.3%</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5E1"/>
                    </a:solidFill>
                  </a:tcPr>
                </a:tc>
                <a:tc>
                  <a:txBody>
                    <a:bodyPr/>
                    <a:lstStyle/>
                    <a:p>
                      <a:pPr algn="ctr" indent="0" marL="0">
                        <a:buNone/>
                      </a:pPr>
                      <a:r>
                        <a:rPr lang="en-US" sz="1500" dirty="0">
                          <a:solidFill>
                            <a:srgbClr val="262626"/>
                          </a:solidFill>
                        </a:rPr>
                        <a:t>+1.6%</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FFFFFF"/>
                          </a:solidFill>
                        </a:rPr>
                        <a:t>All cities</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rPr>
                        <a:t>+5.0%</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rPr>
                        <a:t>+18.6%</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rPr>
                        <a:t>+3.8%</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rPr>
                        <a:t>-1.0%</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rPr>
                        <a:t>+2.2%</a:t>
                      </a:r>
                      <a:endParaRPr lang="en-US" sz="15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A5F"/>
                    </a:solidFill>
                  </a:tcPr>
                </a:tc>
              </a:tr>
            </a:tbl>
          </a:graphicData>
        </a:graphic>
      </p:graphicFrame>
      <p:sp>
        <p:nvSpPr>
          <p:cNvPr id="5" name="Shape 1"/>
          <p:cNvSpPr/>
          <p:nvPr/>
        </p:nvSpPr>
        <p:spPr>
          <a:xfrm>
            <a:off x="548640" y="5303520"/>
            <a:ext cx="11091672" cy="685800"/>
          </a:xfrm>
          <a:prstGeom prst="rect">
            <a:avLst/>
          </a:prstGeom>
          <a:solidFill>
            <a:srgbClr val="F3F6F9"/>
          </a:solidFill>
          <a:ln w="12700">
            <a:solidFill>
              <a:srgbClr val="F3F6F9"/>
            </a:solidFill>
            <a:prstDash val="solid"/>
          </a:ln>
        </p:spPr>
      </p:sp>
      <p:sp>
        <p:nvSpPr>
          <p:cNvPr id="6" name="Text 2"/>
          <p:cNvSpPr txBox="1"/>
          <p:nvPr/>
        </p:nvSpPr>
        <p:spPr>
          <a:xfrm>
            <a:off x="822960" y="5303520"/>
            <a:ext cx="10543032" cy="685800"/>
          </a:xfrm>
          <a:prstGeom prst="rect">
            <a:avLst/>
          </a:prstGeom>
          <a:noFill/>
          <a:ln/>
        </p:spPr>
        <p:txBody>
          <a:bodyPr wrap="square" lIns="0" tIns="0" rIns="0" bIns="0" rtlCol="0" anchor="ctr"/>
          <a:lstStyle/>
          <a:p>
            <a:pPr indent="0" marL="0">
              <a:buNone/>
            </a:pPr>
            <a:r>
              <a:rPr lang="en-US" sz="1400" dirty="0">
                <a:solidFill>
                  <a:srgbClr val="262626"/>
                </a:solidFill>
              </a:rPr>
              <a:t>Patients grew 7% to 10% in four cities but fell in Chennai and Jaipur. Tests per visit grew in all six cities, so the gap is about patients, not about tests per patient.</a:t>
            </a:r>
            <a:endParaRPr lang="en-US" sz="1400" dirty="0"/>
          </a:p>
        </p:txBody>
      </p:sp>
      <p:sp>
        <p:nvSpPr>
          <p:cNvPr id="7" name="Text 3"/>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current bookings, H1 2026 vs H1 2025. Red = decline. Orange = plan growth.</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Brief B: Jaipur fell before the new system; Chennai fell after it</a:t>
            </a:r>
            <a:endParaRPr lang="en-US" sz="2800" dirty="0"/>
          </a:p>
        </p:txBody>
      </p:sp>
      <p:graphicFrame>
        <p:nvGraphicFramePr>
          <p:cNvPr id="4" name="Chart 0" descr=""/>
          <p:cNvGraphicFramePr/>
          <p:nvPr/>
        </p:nvGraphicFramePr>
        <p:xfrm>
          <a:off x="548640" y="1371600"/>
          <a:ext cx="5408676" cy="301752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4526280"/>
            <a:ext cx="2612898" cy="868680"/>
          </a:xfrm>
          <a:prstGeom prst="rect">
            <a:avLst/>
          </a:prstGeom>
          <a:solidFill>
            <a:srgbClr val="E6F0E0"/>
          </a:solidFill>
          <a:ln w="12700">
            <a:solidFill>
              <a:srgbClr val="E6F0E0"/>
            </a:solidFill>
            <a:prstDash val="solid"/>
          </a:ln>
        </p:spPr>
      </p:sp>
      <p:sp>
        <p:nvSpPr>
          <p:cNvPr id="6" name="Text 2"/>
          <p:cNvSpPr txBox="1"/>
          <p:nvPr/>
        </p:nvSpPr>
        <p:spPr>
          <a:xfrm>
            <a:off x="731520" y="4572000"/>
            <a:ext cx="2247138" cy="274320"/>
          </a:xfrm>
          <a:prstGeom prst="rect">
            <a:avLst/>
          </a:prstGeom>
          <a:noFill/>
          <a:ln/>
        </p:spPr>
        <p:txBody>
          <a:bodyPr wrap="square" lIns="0" tIns="0" rIns="0" bIns="0" rtlCol="0" anchor="ctr"/>
          <a:lstStyle/>
          <a:p>
            <a:pPr indent="0" marL="0">
              <a:buNone/>
            </a:pPr>
            <a:r>
              <a:rPr lang="en-US" sz="1200" dirty="0">
                <a:solidFill>
                  <a:srgbClr val="595959"/>
                </a:solidFill>
              </a:rPr>
              <a:t>Jan to Mar (old system)</a:t>
            </a:r>
            <a:endParaRPr lang="en-US" sz="1200" dirty="0"/>
          </a:p>
        </p:txBody>
      </p:sp>
      <p:sp>
        <p:nvSpPr>
          <p:cNvPr id="7" name="Text 3"/>
          <p:cNvSpPr txBox="1"/>
          <p:nvPr/>
        </p:nvSpPr>
        <p:spPr>
          <a:xfrm>
            <a:off x="731520" y="4846320"/>
            <a:ext cx="2247138" cy="457200"/>
          </a:xfrm>
          <a:prstGeom prst="rect">
            <a:avLst/>
          </a:prstGeom>
          <a:noFill/>
          <a:ln/>
        </p:spPr>
        <p:txBody>
          <a:bodyPr wrap="square" lIns="0" tIns="0" rIns="0" bIns="0" rtlCol="0" anchor="ctr"/>
          <a:lstStyle/>
          <a:p>
            <a:pPr indent="0" marL="0">
              <a:buNone/>
            </a:pPr>
            <a:r>
              <a:rPr lang="en-US" sz="2000" b="1" dirty="0">
                <a:solidFill>
                  <a:srgbClr val="548235"/>
                </a:solidFill>
              </a:rPr>
              <a:t>Visits +1.0%</a:t>
            </a:r>
            <a:endParaRPr lang="en-US" sz="2000" dirty="0"/>
          </a:p>
        </p:txBody>
      </p:sp>
      <p:sp>
        <p:nvSpPr>
          <p:cNvPr id="8" name="Shape 4"/>
          <p:cNvSpPr/>
          <p:nvPr/>
        </p:nvSpPr>
        <p:spPr>
          <a:xfrm>
            <a:off x="3344418" y="4526280"/>
            <a:ext cx="2612898" cy="868680"/>
          </a:xfrm>
          <a:prstGeom prst="rect">
            <a:avLst/>
          </a:prstGeom>
          <a:solidFill>
            <a:srgbClr val="FBE5E1"/>
          </a:solidFill>
          <a:ln w="12700">
            <a:solidFill>
              <a:srgbClr val="FBE5E1"/>
            </a:solidFill>
            <a:prstDash val="solid"/>
          </a:ln>
        </p:spPr>
      </p:sp>
      <p:sp>
        <p:nvSpPr>
          <p:cNvPr id="9" name="Text 5"/>
          <p:cNvSpPr txBox="1"/>
          <p:nvPr/>
        </p:nvSpPr>
        <p:spPr>
          <a:xfrm>
            <a:off x="3527298" y="4572000"/>
            <a:ext cx="2247138" cy="274320"/>
          </a:xfrm>
          <a:prstGeom prst="rect">
            <a:avLst/>
          </a:prstGeom>
          <a:noFill/>
          <a:ln/>
        </p:spPr>
        <p:txBody>
          <a:bodyPr wrap="square" lIns="0" tIns="0" rIns="0" bIns="0" rtlCol="0" anchor="ctr"/>
          <a:lstStyle/>
          <a:p>
            <a:pPr indent="0" marL="0">
              <a:buNone/>
            </a:pPr>
            <a:r>
              <a:rPr lang="en-US" sz="1200" dirty="0">
                <a:solidFill>
                  <a:srgbClr val="595959"/>
                </a:solidFill>
              </a:rPr>
              <a:t>Apr to Jun (new system)</a:t>
            </a:r>
            <a:endParaRPr lang="en-US" sz="1200" dirty="0"/>
          </a:p>
        </p:txBody>
      </p:sp>
      <p:sp>
        <p:nvSpPr>
          <p:cNvPr id="10" name="Text 6"/>
          <p:cNvSpPr txBox="1"/>
          <p:nvPr/>
        </p:nvSpPr>
        <p:spPr>
          <a:xfrm>
            <a:off x="3527298" y="4846320"/>
            <a:ext cx="2247138" cy="457200"/>
          </a:xfrm>
          <a:prstGeom prst="rect">
            <a:avLst/>
          </a:prstGeom>
          <a:noFill/>
          <a:ln/>
        </p:spPr>
        <p:txBody>
          <a:bodyPr wrap="square" lIns="0" tIns="0" rIns="0" bIns="0" rtlCol="0" anchor="ctr"/>
          <a:lstStyle/>
          <a:p>
            <a:pPr indent="0" marL="0">
              <a:buNone/>
            </a:pPr>
            <a:r>
              <a:rPr lang="en-US" sz="2000" b="1" dirty="0">
                <a:solidFill>
                  <a:srgbClr val="C00000"/>
                </a:solidFill>
              </a:rPr>
              <a:t>Visits -5.0%</a:t>
            </a:r>
            <a:endParaRPr lang="en-US" sz="2000" dirty="0"/>
          </a:p>
        </p:txBody>
      </p:sp>
      <p:graphicFrame>
        <p:nvGraphicFramePr>
          <p:cNvPr id="11" name="Chart 1" descr=""/>
          <p:cNvGraphicFramePr/>
          <p:nvPr/>
        </p:nvGraphicFramePr>
        <p:xfrm>
          <a:off x="6231636" y="1371600"/>
          <a:ext cx="5408676" cy="3017520"/>
        </p:xfrm>
        <a:graphic xmlns:a="http://schemas.openxmlformats.org/drawingml/2006/main">
          <a:graphicData uri="http://schemas.openxmlformats.org/drawingml/2006/chart">
            <c:chart xmlns:c="http://schemas.openxmlformats.org/drawingml/2006/chart" r:id="rId2"/>
          </a:graphicData>
        </a:graphic>
      </p:graphicFrame>
      <p:sp>
        <p:nvSpPr>
          <p:cNvPr id="12" name="Shape 7"/>
          <p:cNvSpPr/>
          <p:nvPr/>
        </p:nvSpPr>
        <p:spPr>
          <a:xfrm>
            <a:off x="6231636" y="4526280"/>
            <a:ext cx="2612898" cy="868680"/>
          </a:xfrm>
          <a:prstGeom prst="rect">
            <a:avLst/>
          </a:prstGeom>
          <a:solidFill>
            <a:srgbClr val="FBE5E1"/>
          </a:solidFill>
          <a:ln w="12700">
            <a:solidFill>
              <a:srgbClr val="FBE5E1"/>
            </a:solidFill>
            <a:prstDash val="solid"/>
          </a:ln>
        </p:spPr>
      </p:sp>
      <p:sp>
        <p:nvSpPr>
          <p:cNvPr id="13" name="Text 8"/>
          <p:cNvSpPr txBox="1"/>
          <p:nvPr/>
        </p:nvSpPr>
        <p:spPr>
          <a:xfrm>
            <a:off x="6414516" y="4572000"/>
            <a:ext cx="2247138" cy="274320"/>
          </a:xfrm>
          <a:prstGeom prst="rect">
            <a:avLst/>
          </a:prstGeom>
          <a:noFill/>
          <a:ln/>
        </p:spPr>
        <p:txBody>
          <a:bodyPr wrap="square" lIns="0" tIns="0" rIns="0" bIns="0" rtlCol="0" anchor="ctr"/>
          <a:lstStyle/>
          <a:p>
            <a:pPr indent="0" marL="0">
              <a:buNone/>
            </a:pPr>
            <a:r>
              <a:rPr lang="en-US" sz="1200" dirty="0">
                <a:solidFill>
                  <a:srgbClr val="595959"/>
                </a:solidFill>
              </a:rPr>
              <a:t>Jan to Mar (old system)</a:t>
            </a:r>
            <a:endParaRPr lang="en-US" sz="1200" dirty="0"/>
          </a:p>
        </p:txBody>
      </p:sp>
      <p:sp>
        <p:nvSpPr>
          <p:cNvPr id="14" name="Text 9"/>
          <p:cNvSpPr txBox="1"/>
          <p:nvPr/>
        </p:nvSpPr>
        <p:spPr>
          <a:xfrm>
            <a:off x="6414516" y="4846320"/>
            <a:ext cx="2247138" cy="457200"/>
          </a:xfrm>
          <a:prstGeom prst="rect">
            <a:avLst/>
          </a:prstGeom>
          <a:noFill/>
          <a:ln/>
        </p:spPr>
        <p:txBody>
          <a:bodyPr wrap="square" lIns="0" tIns="0" rIns="0" bIns="0" rtlCol="0" anchor="ctr"/>
          <a:lstStyle/>
          <a:p>
            <a:pPr indent="0" marL="0">
              <a:buNone/>
            </a:pPr>
            <a:r>
              <a:rPr lang="en-US" sz="2000" b="1" dirty="0">
                <a:solidFill>
                  <a:srgbClr val="C00000"/>
                </a:solidFill>
              </a:rPr>
              <a:t>Visits -15.8%</a:t>
            </a:r>
            <a:endParaRPr lang="en-US" sz="2000" dirty="0"/>
          </a:p>
        </p:txBody>
      </p:sp>
      <p:sp>
        <p:nvSpPr>
          <p:cNvPr id="15" name="Shape 10"/>
          <p:cNvSpPr/>
          <p:nvPr/>
        </p:nvSpPr>
        <p:spPr>
          <a:xfrm>
            <a:off x="9027414" y="4526280"/>
            <a:ext cx="2612898" cy="868680"/>
          </a:xfrm>
          <a:prstGeom prst="rect">
            <a:avLst/>
          </a:prstGeom>
          <a:solidFill>
            <a:srgbClr val="FBE5E1"/>
          </a:solidFill>
          <a:ln w="12700">
            <a:solidFill>
              <a:srgbClr val="FBE5E1"/>
            </a:solidFill>
            <a:prstDash val="solid"/>
          </a:ln>
        </p:spPr>
      </p:sp>
      <p:sp>
        <p:nvSpPr>
          <p:cNvPr id="16" name="Text 11"/>
          <p:cNvSpPr txBox="1"/>
          <p:nvPr/>
        </p:nvSpPr>
        <p:spPr>
          <a:xfrm>
            <a:off x="9210294" y="4572000"/>
            <a:ext cx="2247138" cy="274320"/>
          </a:xfrm>
          <a:prstGeom prst="rect">
            <a:avLst/>
          </a:prstGeom>
          <a:noFill/>
          <a:ln/>
        </p:spPr>
        <p:txBody>
          <a:bodyPr wrap="square" lIns="0" tIns="0" rIns="0" bIns="0" rtlCol="0" anchor="ctr"/>
          <a:lstStyle/>
          <a:p>
            <a:pPr indent="0" marL="0">
              <a:buNone/>
            </a:pPr>
            <a:r>
              <a:rPr lang="en-US" sz="1200" dirty="0">
                <a:solidFill>
                  <a:srgbClr val="595959"/>
                </a:solidFill>
              </a:rPr>
              <a:t>Apr to Jun (new system)</a:t>
            </a:r>
            <a:endParaRPr lang="en-US" sz="1200" dirty="0"/>
          </a:p>
        </p:txBody>
      </p:sp>
      <p:sp>
        <p:nvSpPr>
          <p:cNvPr id="17" name="Text 12"/>
          <p:cNvSpPr txBox="1"/>
          <p:nvPr/>
        </p:nvSpPr>
        <p:spPr>
          <a:xfrm>
            <a:off x="9210294" y="4846320"/>
            <a:ext cx="2247138" cy="457200"/>
          </a:xfrm>
          <a:prstGeom prst="rect">
            <a:avLst/>
          </a:prstGeom>
          <a:noFill/>
          <a:ln/>
        </p:spPr>
        <p:txBody>
          <a:bodyPr wrap="square" lIns="0" tIns="0" rIns="0" bIns="0" rtlCol="0" anchor="ctr"/>
          <a:lstStyle/>
          <a:p>
            <a:pPr indent="0" marL="0">
              <a:buNone/>
            </a:pPr>
            <a:r>
              <a:rPr lang="en-US" sz="2000" b="1" dirty="0">
                <a:solidFill>
                  <a:srgbClr val="C00000"/>
                </a:solidFill>
              </a:rPr>
              <a:t>Visits -8.4%</a:t>
            </a:r>
            <a:endParaRPr lang="en-US" sz="2000" dirty="0"/>
          </a:p>
        </p:txBody>
      </p:sp>
      <p:sp>
        <p:nvSpPr>
          <p:cNvPr id="18" name="Shape 13"/>
          <p:cNvSpPr/>
          <p:nvPr/>
        </p:nvSpPr>
        <p:spPr>
          <a:xfrm>
            <a:off x="548640" y="5532120"/>
            <a:ext cx="11091672" cy="502920"/>
          </a:xfrm>
          <a:prstGeom prst="rect">
            <a:avLst/>
          </a:prstGeom>
          <a:solidFill>
            <a:srgbClr val="1F3A5F"/>
          </a:solidFill>
          <a:ln w="12700">
            <a:solidFill>
              <a:srgbClr val="1F3A5F"/>
            </a:solidFill>
            <a:prstDash val="solid"/>
          </a:ln>
        </p:spPr>
      </p:sp>
      <p:sp>
        <p:nvSpPr>
          <p:cNvPr id="19" name="Text 14"/>
          <p:cNvSpPr txBox="1"/>
          <p:nvPr/>
        </p:nvSpPr>
        <p:spPr>
          <a:xfrm>
            <a:off x="822960" y="5532120"/>
            <a:ext cx="10543032" cy="502920"/>
          </a:xfrm>
          <a:prstGeom prst="rect">
            <a:avLst/>
          </a:prstGeom>
          <a:noFill/>
          <a:ln/>
        </p:spPr>
        <p:txBody>
          <a:bodyPr wrap="square" lIns="0" tIns="0" rIns="0" bIns="0" rtlCol="0" anchor="ctr"/>
          <a:lstStyle/>
          <a:p>
            <a:pPr indent="0" marL="0">
              <a:buNone/>
            </a:pPr>
            <a:r>
              <a:rPr lang="en-US" sz="1400" b="1" dirty="0">
                <a:solidFill>
                  <a:srgbClr val="FFFFFF"/>
                </a:solidFill>
              </a:rPr>
              <a:t>The other four cities grew visits by 4.4% to 6.1% in April to June, so this is not a problem across all cities.</a:t>
            </a:r>
            <a:endParaRPr lang="en-US" sz="1400" dirty="0"/>
          </a:p>
        </p:txBody>
      </p:sp>
      <p:sp>
        <p:nvSpPr>
          <p:cNvPr id="20" name="Text 15"/>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current bookings by appointment date, H1 2026 vs H1 2025.</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The fall is real: it is not caused by the new booking system</a:t>
            </a:r>
            <a:endParaRPr lang="en-US" sz="2800" dirty="0"/>
          </a:p>
        </p:txBody>
      </p:sp>
      <p:graphicFrame>
        <p:nvGraphicFramePr>
          <p:cNvPr id="4" name="Chart 0" descr=""/>
          <p:cNvGraphicFramePr/>
          <p:nvPr/>
        </p:nvGraphicFramePr>
        <p:xfrm>
          <a:off x="548640" y="1371600"/>
          <a:ext cx="74066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229600" y="1463040"/>
            <a:ext cx="3410712" cy="2377440"/>
          </a:xfrm>
          <a:prstGeom prst="rect">
            <a:avLst/>
          </a:prstGeom>
          <a:solidFill>
            <a:srgbClr val="F3F6F9"/>
          </a:solidFill>
          <a:ln w="12700">
            <a:solidFill>
              <a:srgbClr val="F3F6F9"/>
            </a:solidFill>
            <a:prstDash val="solid"/>
          </a:ln>
        </p:spPr>
      </p:sp>
      <p:sp>
        <p:nvSpPr>
          <p:cNvPr id="6" name="Text 2"/>
          <p:cNvSpPr txBox="1"/>
          <p:nvPr/>
        </p:nvSpPr>
        <p:spPr>
          <a:xfrm>
            <a:off x="8458200" y="1463040"/>
            <a:ext cx="2953512" cy="2377440"/>
          </a:xfrm>
          <a:prstGeom prst="rect">
            <a:avLst/>
          </a:prstGeom>
          <a:noFill/>
          <a:ln/>
        </p:spPr>
        <p:txBody>
          <a:bodyPr wrap="square" lIns="0" tIns="0" rIns="0" bIns="0" rtlCol="0" anchor="ctr"/>
          <a:lstStyle/>
          <a:p>
            <a:pPr indent="0" marL="0">
              <a:spcAft>
                <a:spcPts val="600"/>
              </a:spcAft>
              <a:buNone/>
            </a:pPr>
            <a:r>
              <a:rPr lang="en-US" sz="1500" b="1" dirty="0">
                <a:solidFill>
                  <a:srgbClr val="1F3A5F"/>
                </a:solidFill>
              </a:rPr>
              <a:t>How we checked</a:t>
            </a:r>
            <a:endParaRPr lang="en-US" sz="1500" dirty="0"/>
          </a:p>
          <a:p>
            <a:pPr indent="0" marL="0">
              <a:spcAft>
                <a:spcPts val="600"/>
              </a:spcAft>
              <a:buNone/>
            </a:pPr>
            <a:r>
              <a:rPr lang="en-US" sz="1400" dirty="0">
                <a:solidFill>
                  <a:srgbClr val="262626"/>
                </a:solidFill>
              </a:rPr>
              <a:t>If the new system only changed how bookings are counted, booked tests would fall but collected and tested counts would not.</a:t>
            </a:r>
            <a:endParaRPr lang="en-US" sz="1500" dirty="0"/>
          </a:p>
          <a:p>
            <a:pPr indent="0" marL="0">
              <a:spcAft>
                <a:spcPts val="600"/>
              </a:spcAft>
              <a:buNone/>
            </a:pPr>
            <a:r>
              <a:rPr lang="en-US" sz="1400" b="1" dirty="0">
                <a:solidFill>
                  <a:srgbClr val="262626"/>
                </a:solidFill>
              </a:rPr>
              <a:t>We see the opposite: they fell more.</a:t>
            </a:r>
            <a:endParaRPr lang="en-US" sz="1500" dirty="0"/>
          </a:p>
        </p:txBody>
      </p:sp>
      <p:sp>
        <p:nvSpPr>
          <p:cNvPr id="7" name="Shape 3"/>
          <p:cNvSpPr/>
          <p:nvPr/>
        </p:nvSpPr>
        <p:spPr>
          <a:xfrm>
            <a:off x="8229600" y="3977640"/>
            <a:ext cx="3410712" cy="1965960"/>
          </a:xfrm>
          <a:prstGeom prst="rect">
            <a:avLst/>
          </a:prstGeom>
          <a:solidFill>
            <a:srgbClr val="FBE5E1"/>
          </a:solidFill>
          <a:ln w="12700">
            <a:solidFill>
              <a:srgbClr val="FBE5E1"/>
            </a:solidFill>
            <a:prstDash val="solid"/>
          </a:ln>
        </p:spPr>
      </p:sp>
      <p:sp>
        <p:nvSpPr>
          <p:cNvPr id="8" name="Text 4"/>
          <p:cNvSpPr txBox="1"/>
          <p:nvPr/>
        </p:nvSpPr>
        <p:spPr>
          <a:xfrm>
            <a:off x="8458200" y="3977640"/>
            <a:ext cx="2953512" cy="1965960"/>
          </a:xfrm>
          <a:prstGeom prst="rect">
            <a:avLst/>
          </a:prstGeom>
          <a:noFill/>
          <a:ln/>
        </p:spPr>
        <p:txBody>
          <a:bodyPr wrap="square" lIns="0" tIns="0" rIns="0" bIns="0" rtlCol="0" anchor="ctr"/>
          <a:lstStyle/>
          <a:p>
            <a:pPr indent="0" marL="0">
              <a:spcAft>
                <a:spcPts val="400"/>
              </a:spcAft>
              <a:buNone/>
            </a:pPr>
            <a:r>
              <a:rPr lang="en-US" sz="1300" b="1" dirty="0">
                <a:solidFill>
                  <a:srgbClr val="595959"/>
                </a:solidFill>
              </a:rPr>
              <a:t>Bookings with no collection record</a:t>
            </a:r>
            <a:endParaRPr lang="en-US" sz="1300" dirty="0"/>
          </a:p>
          <a:p>
            <a:pPr indent="0" marL="0">
              <a:spcAft>
                <a:spcPts val="400"/>
              </a:spcAft>
              <a:buNone/>
            </a:pPr>
            <a:r>
              <a:rPr lang="en-US" sz="2400" b="1" dirty="0">
                <a:solidFill>
                  <a:srgbClr val="C00000"/>
                </a:solidFill>
              </a:rPr>
              <a:t>3.0% to 8.5%</a:t>
            </a:r>
            <a:endParaRPr lang="en-US" sz="1300" dirty="0"/>
          </a:p>
          <a:p>
            <a:pPr indent="0" marL="0">
              <a:spcAft>
                <a:spcPts val="400"/>
              </a:spcAft>
              <a:buNone/>
            </a:pPr>
            <a:r>
              <a:rPr lang="en-US" sz="1200" dirty="0">
                <a:solidFill>
                  <a:srgbClr val="262626"/>
                </a:solidFill>
              </a:rPr>
              <a:t>Apr-Jun, Chennai and Jaipur: about 1,375 more bookings. Booked numbers look slightly better than real.</a:t>
            </a:r>
            <a:endParaRPr lang="en-US" sz="1300" dirty="0"/>
          </a:p>
        </p:txBody>
      </p:sp>
      <p:sp>
        <p:nvSpPr>
          <p:cNvPr id="9" name="Text 5"/>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current bookings joined to collections and lab results. Same cities and months, two years.</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Other findings: home collection is growing and clinic tests are falling</a:t>
            </a:r>
            <a:endParaRPr lang="en-US" sz="2800" dirty="0"/>
          </a:p>
        </p:txBody>
      </p:sp>
      <p:graphicFrame>
        <p:nvGraphicFramePr>
          <p:cNvPr id="4" name="Chart 0" descr=""/>
          <p:cNvGraphicFramePr/>
          <p:nvPr/>
        </p:nvGraphicFramePr>
        <p:xfrm>
          <a:off x="548640" y="1371600"/>
          <a:ext cx="5362956" cy="32918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4800600"/>
            <a:ext cx="2590038" cy="1143000"/>
          </a:xfrm>
          <a:prstGeom prst="rect">
            <a:avLst/>
          </a:prstGeom>
          <a:solidFill>
            <a:srgbClr val="F3F6F9"/>
          </a:solidFill>
          <a:ln w="12700">
            <a:solidFill>
              <a:srgbClr val="F3F6F9"/>
            </a:solidFill>
            <a:prstDash val="solid"/>
          </a:ln>
        </p:spPr>
      </p:sp>
      <p:sp>
        <p:nvSpPr>
          <p:cNvPr id="6" name="Text 2"/>
          <p:cNvSpPr txBox="1"/>
          <p:nvPr/>
        </p:nvSpPr>
        <p:spPr>
          <a:xfrm>
            <a:off x="777240" y="4873752"/>
            <a:ext cx="2132838" cy="628650"/>
          </a:xfrm>
          <a:prstGeom prst="rect">
            <a:avLst/>
          </a:prstGeom>
          <a:noFill/>
          <a:ln/>
        </p:spPr>
        <p:txBody>
          <a:bodyPr wrap="square" lIns="0" tIns="0" rIns="0" bIns="0" rtlCol="0" anchor="ctr"/>
          <a:lstStyle/>
          <a:p>
            <a:pPr indent="0" marL="0">
              <a:buNone/>
            </a:pPr>
            <a:r>
              <a:rPr lang="en-US" sz="3000" b="1" dirty="0">
                <a:solidFill>
                  <a:srgbClr val="C00000"/>
                </a:solidFill>
              </a:rPr>
              <a:t>-11.9%</a:t>
            </a:r>
            <a:endParaRPr lang="en-US" sz="3000" dirty="0"/>
          </a:p>
        </p:txBody>
      </p:sp>
      <p:sp>
        <p:nvSpPr>
          <p:cNvPr id="7" name="Text 3"/>
          <p:cNvSpPr txBox="1"/>
          <p:nvPr/>
        </p:nvSpPr>
        <p:spPr>
          <a:xfrm>
            <a:off x="777240" y="5463540"/>
            <a:ext cx="2132838" cy="411480"/>
          </a:xfrm>
          <a:prstGeom prst="rect">
            <a:avLst/>
          </a:prstGeom>
          <a:noFill/>
          <a:ln/>
        </p:spPr>
        <p:txBody>
          <a:bodyPr wrap="square" lIns="0" tIns="0" rIns="0" bIns="0" rtlCol="0" anchor="t"/>
          <a:lstStyle/>
          <a:p>
            <a:pPr indent="0" marL="0">
              <a:buNone/>
            </a:pPr>
            <a:r>
              <a:rPr lang="en-US" sz="1400" dirty="0">
                <a:solidFill>
                  <a:srgbClr val="595959"/>
                </a:solidFill>
              </a:rPr>
              <a:t>Clinic tests</a:t>
            </a:r>
            <a:endParaRPr lang="en-US" sz="1400" dirty="0"/>
          </a:p>
        </p:txBody>
      </p:sp>
      <p:sp>
        <p:nvSpPr>
          <p:cNvPr id="8" name="Shape 4"/>
          <p:cNvSpPr/>
          <p:nvPr/>
        </p:nvSpPr>
        <p:spPr>
          <a:xfrm>
            <a:off x="3321558" y="4800600"/>
            <a:ext cx="2590038" cy="1143000"/>
          </a:xfrm>
          <a:prstGeom prst="rect">
            <a:avLst/>
          </a:prstGeom>
          <a:solidFill>
            <a:srgbClr val="F3F6F9"/>
          </a:solidFill>
          <a:ln w="12700">
            <a:solidFill>
              <a:srgbClr val="F3F6F9"/>
            </a:solidFill>
            <a:prstDash val="solid"/>
          </a:ln>
        </p:spPr>
      </p:sp>
      <p:sp>
        <p:nvSpPr>
          <p:cNvPr id="9" name="Text 5"/>
          <p:cNvSpPr txBox="1"/>
          <p:nvPr/>
        </p:nvSpPr>
        <p:spPr>
          <a:xfrm>
            <a:off x="3550158" y="4873752"/>
            <a:ext cx="2132838" cy="628650"/>
          </a:xfrm>
          <a:prstGeom prst="rect">
            <a:avLst/>
          </a:prstGeom>
          <a:noFill/>
          <a:ln/>
        </p:spPr>
        <p:txBody>
          <a:bodyPr wrap="square" lIns="0" tIns="0" rIns="0" bIns="0" rtlCol="0" anchor="ctr"/>
          <a:lstStyle/>
          <a:p>
            <a:pPr indent="0" marL="0">
              <a:buNone/>
            </a:pPr>
            <a:r>
              <a:rPr lang="en-US" sz="3000" b="1" dirty="0">
                <a:solidFill>
                  <a:srgbClr val="548235"/>
                </a:solidFill>
              </a:rPr>
              <a:t>+37.5%</a:t>
            </a:r>
            <a:endParaRPr lang="en-US" sz="3000" dirty="0"/>
          </a:p>
        </p:txBody>
      </p:sp>
      <p:sp>
        <p:nvSpPr>
          <p:cNvPr id="10" name="Text 6"/>
          <p:cNvSpPr txBox="1"/>
          <p:nvPr/>
        </p:nvSpPr>
        <p:spPr>
          <a:xfrm>
            <a:off x="3550158" y="5463540"/>
            <a:ext cx="2132838" cy="411480"/>
          </a:xfrm>
          <a:prstGeom prst="rect">
            <a:avLst/>
          </a:prstGeom>
          <a:noFill/>
          <a:ln/>
        </p:spPr>
        <p:txBody>
          <a:bodyPr wrap="square" lIns="0" tIns="0" rIns="0" bIns="0" rtlCol="0" anchor="t"/>
          <a:lstStyle/>
          <a:p>
            <a:pPr indent="0" marL="0">
              <a:buNone/>
            </a:pPr>
            <a:r>
              <a:rPr lang="en-US" sz="1400" dirty="0">
                <a:solidFill>
                  <a:srgbClr val="595959"/>
                </a:solidFill>
              </a:rPr>
              <a:t>Home tests</a:t>
            </a:r>
            <a:endParaRPr lang="en-US" sz="1400" dirty="0"/>
          </a:p>
        </p:txBody>
      </p:sp>
      <p:sp>
        <p:nvSpPr>
          <p:cNvPr id="11" name="Text 7"/>
          <p:cNvSpPr txBox="1"/>
          <p:nvPr/>
        </p:nvSpPr>
        <p:spPr>
          <a:xfrm>
            <a:off x="6277356" y="1417320"/>
            <a:ext cx="5362956" cy="365760"/>
          </a:xfrm>
          <a:prstGeom prst="rect">
            <a:avLst/>
          </a:prstGeom>
          <a:noFill/>
          <a:ln/>
        </p:spPr>
        <p:txBody>
          <a:bodyPr wrap="square" lIns="0" tIns="0" rIns="0" bIns="0" rtlCol="0" anchor="ctr"/>
          <a:lstStyle/>
          <a:p>
            <a:pPr indent="0" marL="0">
              <a:buNone/>
            </a:pPr>
            <a:r>
              <a:rPr lang="en-US" sz="1600" b="1" dirty="0">
                <a:solidFill>
                  <a:srgbClr val="1F3A5F"/>
                </a:solidFill>
              </a:rPr>
              <a:t>Revenue also grew, mainly because each test earns more</a:t>
            </a:r>
            <a:endParaRPr lang="en-US" sz="1600" dirty="0"/>
          </a:p>
        </p:txBody>
      </p:sp>
      <p:sp>
        <p:nvSpPr>
          <p:cNvPr id="12" name="Shape 8"/>
          <p:cNvSpPr/>
          <p:nvPr/>
        </p:nvSpPr>
        <p:spPr>
          <a:xfrm>
            <a:off x="6277356" y="1965960"/>
            <a:ext cx="5362956" cy="914400"/>
          </a:xfrm>
          <a:prstGeom prst="rect">
            <a:avLst/>
          </a:prstGeom>
          <a:solidFill>
            <a:srgbClr val="F3F6F9"/>
          </a:solidFill>
          <a:ln w="12700">
            <a:solidFill>
              <a:srgbClr val="F3F6F9"/>
            </a:solidFill>
            <a:prstDash val="solid"/>
          </a:ln>
        </p:spPr>
      </p:sp>
      <p:sp>
        <p:nvSpPr>
          <p:cNvPr id="13" name="Text 9"/>
          <p:cNvSpPr txBox="1"/>
          <p:nvPr/>
        </p:nvSpPr>
        <p:spPr>
          <a:xfrm>
            <a:off x="6505956" y="1965960"/>
            <a:ext cx="4905756" cy="914400"/>
          </a:xfrm>
          <a:prstGeom prst="rect">
            <a:avLst/>
          </a:prstGeom>
          <a:noFill/>
          <a:ln/>
        </p:spPr>
        <p:txBody>
          <a:bodyPr wrap="square" lIns="0" tIns="0" rIns="0" bIns="0" rtlCol="0" anchor="ctr"/>
          <a:lstStyle/>
          <a:p>
            <a:pPr indent="0" marL="0">
              <a:spcAft>
                <a:spcPts val="200"/>
              </a:spcAft>
              <a:buNone/>
            </a:pPr>
            <a:r>
              <a:rPr lang="en-US" sz="2200" b="1" dirty="0">
                <a:solidFill>
                  <a:srgbClr val="2E75B6"/>
                </a:solidFill>
              </a:rPr>
              <a:t>Rs 28.8 cr to Rs 32.1 cr</a:t>
            </a:r>
            <a:endParaRPr lang="en-US" sz="2200" dirty="0"/>
          </a:p>
          <a:p>
            <a:pPr indent="0" marL="0">
              <a:spcAft>
                <a:spcPts val="200"/>
              </a:spcAft>
              <a:buNone/>
            </a:pPr>
            <a:r>
              <a:rPr lang="en-US" sz="1400" dirty="0">
                <a:solidFill>
                  <a:srgbClr val="595959"/>
                </a:solidFill>
              </a:rPr>
              <a:t>Booked revenue, +11.4%</a:t>
            </a:r>
            <a:endParaRPr lang="en-US" sz="2200" dirty="0"/>
          </a:p>
        </p:txBody>
      </p:sp>
      <p:sp>
        <p:nvSpPr>
          <p:cNvPr id="14" name="Shape 10"/>
          <p:cNvSpPr/>
          <p:nvPr/>
        </p:nvSpPr>
        <p:spPr>
          <a:xfrm>
            <a:off x="6277356" y="3017520"/>
            <a:ext cx="5362956" cy="914400"/>
          </a:xfrm>
          <a:prstGeom prst="rect">
            <a:avLst/>
          </a:prstGeom>
          <a:solidFill>
            <a:srgbClr val="F3F6F9"/>
          </a:solidFill>
          <a:ln w="12700">
            <a:solidFill>
              <a:srgbClr val="F3F6F9"/>
            </a:solidFill>
            <a:prstDash val="solid"/>
          </a:ln>
        </p:spPr>
      </p:sp>
      <p:sp>
        <p:nvSpPr>
          <p:cNvPr id="15" name="Text 11"/>
          <p:cNvSpPr txBox="1"/>
          <p:nvPr/>
        </p:nvSpPr>
        <p:spPr>
          <a:xfrm>
            <a:off x="6505956" y="3017520"/>
            <a:ext cx="4905756" cy="914400"/>
          </a:xfrm>
          <a:prstGeom prst="rect">
            <a:avLst/>
          </a:prstGeom>
          <a:noFill/>
          <a:ln/>
        </p:spPr>
        <p:txBody>
          <a:bodyPr wrap="square" lIns="0" tIns="0" rIns="0" bIns="0" rtlCol="0" anchor="ctr"/>
          <a:lstStyle/>
          <a:p>
            <a:pPr indent="0" marL="0">
              <a:spcAft>
                <a:spcPts val="200"/>
              </a:spcAft>
              <a:buNone/>
            </a:pPr>
            <a:r>
              <a:rPr lang="en-US" sz="2200" b="1" dirty="0">
                <a:solidFill>
                  <a:srgbClr val="2E75B6"/>
                </a:solidFill>
              </a:rPr>
              <a:t>Rs 662 to Rs 702</a:t>
            </a:r>
            <a:endParaRPr lang="en-US" sz="2200" dirty="0"/>
          </a:p>
          <a:p>
            <a:pPr indent="0" marL="0">
              <a:spcAft>
                <a:spcPts val="200"/>
              </a:spcAft>
              <a:buNone/>
            </a:pPr>
            <a:r>
              <a:rPr lang="en-US" sz="1400" dirty="0">
                <a:solidFill>
                  <a:srgbClr val="595959"/>
                </a:solidFill>
              </a:rPr>
              <a:t>Revenue per test, +6.1%</a:t>
            </a:r>
            <a:endParaRPr lang="en-US" sz="2200" dirty="0"/>
          </a:p>
        </p:txBody>
      </p:sp>
      <p:sp>
        <p:nvSpPr>
          <p:cNvPr id="16" name="Shape 12"/>
          <p:cNvSpPr/>
          <p:nvPr/>
        </p:nvSpPr>
        <p:spPr>
          <a:xfrm>
            <a:off x="6277356" y="4069080"/>
            <a:ext cx="5362956" cy="914400"/>
          </a:xfrm>
          <a:prstGeom prst="rect">
            <a:avLst/>
          </a:prstGeom>
          <a:solidFill>
            <a:srgbClr val="F3F6F9"/>
          </a:solidFill>
          <a:ln w="12700">
            <a:solidFill>
              <a:srgbClr val="F3F6F9"/>
            </a:solidFill>
            <a:prstDash val="solid"/>
          </a:ln>
        </p:spPr>
      </p:sp>
      <p:sp>
        <p:nvSpPr>
          <p:cNvPr id="17" name="Text 13"/>
          <p:cNvSpPr txBox="1"/>
          <p:nvPr/>
        </p:nvSpPr>
        <p:spPr>
          <a:xfrm>
            <a:off x="6505956" y="4069080"/>
            <a:ext cx="4905756" cy="914400"/>
          </a:xfrm>
          <a:prstGeom prst="rect">
            <a:avLst/>
          </a:prstGeom>
          <a:noFill/>
          <a:ln/>
        </p:spPr>
        <p:txBody>
          <a:bodyPr wrap="square" lIns="0" tIns="0" rIns="0" bIns="0" rtlCol="0" anchor="ctr"/>
          <a:lstStyle/>
          <a:p>
            <a:pPr indent="0" marL="0">
              <a:spcAft>
                <a:spcPts val="200"/>
              </a:spcAft>
              <a:buNone/>
            </a:pPr>
            <a:r>
              <a:rPr lang="en-US" sz="2200" b="1" dirty="0">
                <a:solidFill>
                  <a:srgbClr val="2E75B6"/>
                </a:solidFill>
              </a:rPr>
              <a:t>26% to 33%</a:t>
            </a:r>
            <a:endParaRPr lang="en-US" sz="2200" dirty="0"/>
          </a:p>
          <a:p>
            <a:pPr indent="0" marL="0">
              <a:spcAft>
                <a:spcPts val="200"/>
              </a:spcAft>
              <a:buNone/>
            </a:pPr>
            <a:r>
              <a:rPr lang="en-US" sz="1400" dirty="0">
                <a:solidFill>
                  <a:srgbClr val="595959"/>
                </a:solidFill>
              </a:rPr>
              <a:t>Visits that include a package test</a:t>
            </a:r>
            <a:endParaRPr lang="en-US" sz="2200" dirty="0"/>
          </a:p>
        </p:txBody>
      </p:sp>
      <p:sp>
        <p:nvSpPr>
          <p:cNvPr id="18" name="Text 14"/>
          <p:cNvSpPr txBox="1"/>
          <p:nvPr/>
        </p:nvSpPr>
        <p:spPr>
          <a:xfrm>
            <a:off x="6277356" y="5212080"/>
            <a:ext cx="5362956" cy="731520"/>
          </a:xfrm>
          <a:prstGeom prst="rect">
            <a:avLst/>
          </a:prstGeom>
          <a:noFill/>
          <a:ln/>
        </p:spPr>
        <p:txBody>
          <a:bodyPr wrap="square" lIns="0" tIns="0" rIns="0" bIns="0" rtlCol="0" anchor="t"/>
          <a:lstStyle/>
          <a:p>
            <a:pPr indent="0" marL="0">
              <a:buNone/>
            </a:pPr>
            <a:r>
              <a:rPr lang="en-US" sz="1300" dirty="0">
                <a:solidFill>
                  <a:srgbClr val="595959"/>
                </a:solidFill>
              </a:rPr>
              <a:t>Dr Lal PathLabs and Metropolis also grew revenue faster than patients (revenue +19.1% and +16.6%, patients +8% and +10%).</a:t>
            </a:r>
            <a:endParaRPr lang="en-US" sz="1300" dirty="0"/>
          </a:p>
        </p:txBody>
      </p:sp>
      <p:sp>
        <p:nvSpPr>
          <p:cNvPr id="19" name="Text 15"/>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current bookings by channel. Revenue = test list price + home fee at booking, not invoiced revenue.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What to keep in mind, and what we will improve in the notebook</a:t>
            </a:r>
            <a:endParaRPr lang="en-US" sz="2800" dirty="0"/>
          </a:p>
        </p:txBody>
      </p:sp>
      <p:sp>
        <p:nvSpPr>
          <p:cNvPr id="4" name="Text 1"/>
          <p:cNvSpPr txBox="1"/>
          <p:nvPr/>
        </p:nvSpPr>
        <p:spPr>
          <a:xfrm>
            <a:off x="548640" y="1417320"/>
            <a:ext cx="5362956" cy="365760"/>
          </a:xfrm>
          <a:prstGeom prst="rect">
            <a:avLst/>
          </a:prstGeom>
          <a:noFill/>
          <a:ln/>
        </p:spPr>
        <p:txBody>
          <a:bodyPr wrap="square" lIns="0" tIns="0" rIns="0" bIns="0" rtlCol="0" anchor="ctr"/>
          <a:lstStyle/>
          <a:p>
            <a:pPr indent="0" marL="0">
              <a:buNone/>
            </a:pPr>
            <a:r>
              <a:rPr lang="en-US" sz="1800" b="1" dirty="0">
                <a:solidFill>
                  <a:srgbClr val="1F3A5F"/>
                </a:solidFill>
              </a:rPr>
              <a:t>Limits of this analysis</a:t>
            </a:r>
            <a:endParaRPr lang="en-US" sz="1800" dirty="0"/>
          </a:p>
        </p:txBody>
      </p:sp>
      <p:sp>
        <p:nvSpPr>
          <p:cNvPr id="5" name="Text 2"/>
          <p:cNvSpPr txBox="1"/>
          <p:nvPr/>
        </p:nvSpPr>
        <p:spPr>
          <a:xfrm>
            <a:off x="548640" y="1920240"/>
            <a:ext cx="5362956"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62626"/>
                </a:solidFill>
              </a:rPr>
              <a:t>Tests are counted from bookings. Collected (+4.9%) and tested (+5.0%) counts give the same result as booked (+5.0%).</a:t>
            </a:r>
            <a:endParaRPr lang="en-US" sz="1500" dirty="0"/>
          </a:p>
          <a:p>
            <a:pPr marL="342900" indent="-342900">
              <a:spcAft>
                <a:spcPts val="800"/>
              </a:spcAft>
              <a:buSzPct val="100000"/>
              <a:buChar char="•"/>
            </a:pPr>
            <a:r>
              <a:rPr lang="en-US" sz="1500" dirty="0">
                <a:solidFill>
                  <a:srgbClr val="262626"/>
                </a:solidFill>
              </a:rPr>
              <a:t>Patients are matched by phone, name and date of birth. 5,862 bookings were re-linked. Some matches may be wrong.</a:t>
            </a:r>
            <a:endParaRPr lang="en-US" sz="1500" dirty="0"/>
          </a:p>
          <a:p>
            <a:pPr marL="342900" indent="-342900">
              <a:spcAft>
                <a:spcPts val="800"/>
              </a:spcAft>
              <a:buSzPct val="100000"/>
              <a:buChar char="•"/>
            </a:pPr>
            <a:r>
              <a:rPr lang="en-US" sz="1500" dirty="0">
                <a:solidFill>
                  <a:srgbClr val="262626"/>
                </a:solidFill>
              </a:rPr>
              <a:t>1,289 test lines have no test code and 791 bookings have unusual IDs. We kept and flagged them. Each is under 0.3% of the data.</a:t>
            </a:r>
            <a:endParaRPr lang="en-US" sz="1500" dirty="0"/>
          </a:p>
          <a:p>
            <a:pPr marL="342900" indent="-342900">
              <a:spcAft>
                <a:spcPts val="800"/>
              </a:spcAft>
              <a:buSzPct val="100000"/>
              <a:buChar char="•"/>
            </a:pPr>
            <a:r>
              <a:rPr lang="en-US" sz="1500" dirty="0">
                <a:solidFill>
                  <a:srgbClr val="262626"/>
                </a:solidFill>
              </a:rPr>
              <a:t>The data shows what happened in Chennai and Jaipur, not why. A new competitor (Thyrocare) is possible but we cannot test it here.</a:t>
            </a:r>
            <a:endParaRPr lang="en-US" sz="1500" dirty="0"/>
          </a:p>
        </p:txBody>
      </p:sp>
      <p:sp>
        <p:nvSpPr>
          <p:cNvPr id="6" name="Shape 3"/>
          <p:cNvSpPr/>
          <p:nvPr/>
        </p:nvSpPr>
        <p:spPr>
          <a:xfrm>
            <a:off x="6277356" y="1417320"/>
            <a:ext cx="5362956" cy="4526280"/>
          </a:xfrm>
          <a:prstGeom prst="rect">
            <a:avLst/>
          </a:prstGeom>
          <a:solidFill>
            <a:srgbClr val="F3F6F9"/>
          </a:solidFill>
          <a:ln w="12700">
            <a:solidFill>
              <a:srgbClr val="F3F6F9"/>
            </a:solidFill>
            <a:prstDash val="solid"/>
          </a:ln>
        </p:spPr>
      </p:sp>
      <p:sp>
        <p:nvSpPr>
          <p:cNvPr id="7" name="Text 4"/>
          <p:cNvSpPr txBox="1"/>
          <p:nvPr/>
        </p:nvSpPr>
        <p:spPr>
          <a:xfrm>
            <a:off x="6551676" y="1554480"/>
            <a:ext cx="4814316" cy="365760"/>
          </a:xfrm>
          <a:prstGeom prst="rect">
            <a:avLst/>
          </a:prstGeom>
          <a:noFill/>
          <a:ln/>
        </p:spPr>
        <p:txBody>
          <a:bodyPr wrap="square" lIns="0" tIns="0" rIns="0" bIns="0" rtlCol="0" anchor="ctr"/>
          <a:lstStyle/>
          <a:p>
            <a:pPr indent="0" marL="0">
              <a:buNone/>
            </a:pPr>
            <a:r>
              <a:rPr lang="en-US" sz="1800" b="1" dirty="0">
                <a:solidFill>
                  <a:srgbClr val="1F3A5F"/>
                </a:solidFill>
              </a:rPr>
              <a:t>Improvements for the notebook</a:t>
            </a:r>
            <a:endParaRPr lang="en-US" sz="1800" dirty="0"/>
          </a:p>
        </p:txBody>
      </p:sp>
      <p:sp>
        <p:nvSpPr>
          <p:cNvPr id="8" name="Text 5"/>
          <p:cNvSpPr txBox="1"/>
          <p:nvPr/>
        </p:nvSpPr>
        <p:spPr>
          <a:xfrm>
            <a:off x="6551676" y="2057400"/>
            <a:ext cx="4814316"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62626"/>
                </a:solidFill>
              </a:rPr>
              <a:t>Add the rule that test codes must look like T### or PK##. It would reject the 1,289 lines with no code.</a:t>
            </a:r>
            <a:endParaRPr lang="en-US" sz="1500" dirty="0"/>
          </a:p>
          <a:p>
            <a:pPr marL="342900" indent="-342900">
              <a:spcAft>
                <a:spcPts val="800"/>
              </a:spcAft>
              <a:buSzPct val="100000"/>
              <a:buChar char="•"/>
            </a:pPr>
            <a:r>
              <a:rPr lang="en-US" sz="1500" dirty="0">
                <a:solidFill>
                  <a:srgbClr val="262626"/>
                </a:solidFill>
              </a:rPr>
              <a:t>Update the markdown notes that still say 'missing' for steps that are now done.</a:t>
            </a:r>
            <a:endParaRPr lang="en-US" sz="1500" dirty="0"/>
          </a:p>
          <a:p>
            <a:pPr marL="342900" indent="-342900">
              <a:spcAft>
                <a:spcPts val="800"/>
              </a:spcAft>
              <a:buSzPct val="100000"/>
              <a:buChar char="•"/>
            </a:pPr>
            <a:r>
              <a:rPr lang="en-US" sz="1500" dirty="0">
                <a:solidFill>
                  <a:srgbClr val="262626"/>
                </a:solidFill>
              </a:rPr>
              <a:t>Record how each cleaning step changes the headline growth rate.</a:t>
            </a:r>
            <a:endParaRPr lang="en-US" sz="1500" dirty="0"/>
          </a:p>
          <a:p>
            <a:pPr marL="342900" indent="-342900">
              <a:spcAft>
                <a:spcPts val="800"/>
              </a:spcAft>
              <a:buSzPct val="100000"/>
              <a:buChar char="•"/>
            </a:pPr>
            <a:r>
              <a:rPr lang="en-US" sz="1500" dirty="0">
                <a:solidFill>
                  <a:srgbClr val="262626"/>
                </a:solidFill>
              </a:rPr>
              <a:t>Move the booked, collected and tested comparison into the main flow.</a:t>
            </a:r>
            <a:endParaRPr lang="en-US" sz="1500" dirty="0"/>
          </a:p>
        </p:txBody>
      </p:sp>
      <p:sp>
        <p:nvSpPr>
          <p:cNvPr id="9" name="Text 6"/>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Source: Data_loading_and_eda.ipynb, sections 1 to 3.</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Recommendations and next steps</a:t>
            </a:r>
            <a:endParaRPr lang="en-US" sz="2800" dirty="0"/>
          </a:p>
        </p:txBody>
      </p:sp>
      <p:sp>
        <p:nvSpPr>
          <p:cNvPr id="4" name="Shape 1"/>
          <p:cNvSpPr/>
          <p:nvPr/>
        </p:nvSpPr>
        <p:spPr>
          <a:xfrm>
            <a:off x="548640" y="1463040"/>
            <a:ext cx="3514344" cy="4480560"/>
          </a:xfrm>
          <a:prstGeom prst="rect">
            <a:avLst/>
          </a:prstGeom>
          <a:solidFill>
            <a:srgbClr val="F3F6F9"/>
          </a:solidFill>
          <a:ln w="12700">
            <a:solidFill>
              <a:srgbClr val="F3F6F9"/>
            </a:solidFill>
            <a:prstDash val="solid"/>
          </a:ln>
        </p:spPr>
      </p:sp>
      <p:sp>
        <p:nvSpPr>
          <p:cNvPr id="5" name="Text 2"/>
          <p:cNvSpPr txBox="1"/>
          <p:nvPr/>
        </p:nvSpPr>
        <p:spPr>
          <a:xfrm>
            <a:off x="822960" y="1600200"/>
            <a:ext cx="731520" cy="731520"/>
          </a:xfrm>
          <a:prstGeom prst="rect">
            <a:avLst/>
          </a:prstGeom>
          <a:noFill/>
          <a:ln/>
        </p:spPr>
        <p:txBody>
          <a:bodyPr wrap="square" lIns="0" tIns="0" rIns="0" bIns="0" rtlCol="0" anchor="t"/>
          <a:lstStyle/>
          <a:p>
            <a:pPr indent="0" marL="0">
              <a:buNone/>
            </a:pPr>
            <a:r>
              <a:rPr lang="en-US" sz="4000" b="1" dirty="0">
                <a:solidFill>
                  <a:srgbClr val="2E75B6"/>
                </a:solidFill>
              </a:rPr>
              <a:t>1</a:t>
            </a:r>
            <a:endParaRPr lang="en-US" sz="4000" dirty="0"/>
          </a:p>
        </p:txBody>
      </p:sp>
      <p:sp>
        <p:nvSpPr>
          <p:cNvPr id="6" name="Text 3"/>
          <p:cNvSpPr txBox="1"/>
          <p:nvPr/>
        </p:nvSpPr>
        <p:spPr>
          <a:xfrm>
            <a:off x="822960" y="2377440"/>
            <a:ext cx="2965704" cy="914400"/>
          </a:xfrm>
          <a:prstGeom prst="rect">
            <a:avLst/>
          </a:prstGeom>
          <a:noFill/>
          <a:ln/>
        </p:spPr>
        <p:txBody>
          <a:bodyPr wrap="square" lIns="0" tIns="0" rIns="0" bIns="0" rtlCol="0" anchor="t"/>
          <a:lstStyle/>
          <a:p>
            <a:pPr indent="0" marL="0">
              <a:buNone/>
            </a:pPr>
            <a:r>
              <a:rPr lang="en-US" sz="1700" b="1" dirty="0">
                <a:solidFill>
                  <a:srgbClr val="1F3A5F"/>
                </a:solidFill>
              </a:rPr>
              <a:t>Reset the plan to what stable cities deliver</a:t>
            </a:r>
            <a:endParaRPr lang="en-US" sz="1700" dirty="0"/>
          </a:p>
        </p:txBody>
      </p:sp>
      <p:sp>
        <p:nvSpPr>
          <p:cNvPr id="7" name="Text 4"/>
          <p:cNvSpPr txBox="1"/>
          <p:nvPr/>
        </p:nvSpPr>
        <p:spPr>
          <a:xfrm>
            <a:off x="822960" y="3337560"/>
            <a:ext cx="2965704" cy="1645920"/>
          </a:xfrm>
          <a:prstGeom prst="rect">
            <a:avLst/>
          </a:prstGeom>
          <a:noFill/>
          <a:ln/>
        </p:spPr>
        <p:txBody>
          <a:bodyPr wrap="square" lIns="0" tIns="0" rIns="0" bIns="0" rtlCol="0" anchor="t"/>
          <a:lstStyle/>
          <a:p>
            <a:pPr indent="0" marL="0">
              <a:buNone/>
            </a:pPr>
            <a:r>
              <a:rPr lang="en-US" sz="1400" dirty="0">
                <a:solidFill>
                  <a:srgbClr val="262626"/>
                </a:solidFill>
              </a:rPr>
              <a:t>The four cities with no system change grew 8.4% against a plan of 19.2%. Use this run-rate for second-half targets and cost planning.</a:t>
            </a:r>
            <a:endParaRPr lang="en-US" sz="1400" dirty="0"/>
          </a:p>
        </p:txBody>
      </p:sp>
      <p:sp>
        <p:nvSpPr>
          <p:cNvPr id="8" name="Text 5"/>
          <p:cNvSpPr txBox="1"/>
          <p:nvPr/>
        </p:nvSpPr>
        <p:spPr>
          <a:xfrm>
            <a:off x="822960" y="4983480"/>
            <a:ext cx="2965704" cy="822960"/>
          </a:xfrm>
          <a:prstGeom prst="rect">
            <a:avLst/>
          </a:prstGeom>
          <a:noFill/>
          <a:ln/>
        </p:spPr>
        <p:txBody>
          <a:bodyPr wrap="square" lIns="0" tIns="0" rIns="0" bIns="0" rtlCol="0" anchor="t"/>
          <a:lstStyle/>
          <a:p>
            <a:pPr indent="0" marL="0">
              <a:buNone/>
            </a:pPr>
            <a:r>
              <a:rPr lang="en-US" sz="1400" b="1" dirty="0">
                <a:solidFill>
                  <a:srgbClr val="C55A11"/>
                </a:solidFill>
              </a:rPr>
              <a:t>One point of patient growth is about 4,350 tests.</a:t>
            </a:r>
            <a:endParaRPr lang="en-US" sz="1400" dirty="0"/>
          </a:p>
        </p:txBody>
      </p:sp>
      <p:sp>
        <p:nvSpPr>
          <p:cNvPr id="9" name="Shape 6"/>
          <p:cNvSpPr/>
          <p:nvPr/>
        </p:nvSpPr>
        <p:spPr>
          <a:xfrm>
            <a:off x="4337304" y="1463040"/>
            <a:ext cx="3514344" cy="4480560"/>
          </a:xfrm>
          <a:prstGeom prst="rect">
            <a:avLst/>
          </a:prstGeom>
          <a:solidFill>
            <a:srgbClr val="F3F6F9"/>
          </a:solidFill>
          <a:ln w="12700">
            <a:solidFill>
              <a:srgbClr val="F3F6F9"/>
            </a:solidFill>
            <a:prstDash val="solid"/>
          </a:ln>
        </p:spPr>
      </p:sp>
      <p:sp>
        <p:nvSpPr>
          <p:cNvPr id="10" name="Text 7"/>
          <p:cNvSpPr txBox="1"/>
          <p:nvPr/>
        </p:nvSpPr>
        <p:spPr>
          <a:xfrm>
            <a:off x="4611624" y="1600200"/>
            <a:ext cx="731520" cy="731520"/>
          </a:xfrm>
          <a:prstGeom prst="rect">
            <a:avLst/>
          </a:prstGeom>
          <a:noFill/>
          <a:ln/>
        </p:spPr>
        <p:txBody>
          <a:bodyPr wrap="square" lIns="0" tIns="0" rIns="0" bIns="0" rtlCol="0" anchor="t"/>
          <a:lstStyle/>
          <a:p>
            <a:pPr indent="0" marL="0">
              <a:buNone/>
            </a:pPr>
            <a:r>
              <a:rPr lang="en-US" sz="4000" b="1" dirty="0">
                <a:solidFill>
                  <a:srgbClr val="2E75B6"/>
                </a:solidFill>
              </a:rPr>
              <a:t>2</a:t>
            </a:r>
            <a:endParaRPr lang="en-US" sz="4000" dirty="0"/>
          </a:p>
        </p:txBody>
      </p:sp>
      <p:sp>
        <p:nvSpPr>
          <p:cNvPr id="11" name="Text 8"/>
          <p:cNvSpPr txBox="1"/>
          <p:nvPr/>
        </p:nvSpPr>
        <p:spPr>
          <a:xfrm>
            <a:off x="4611624" y="2377440"/>
            <a:ext cx="2965704" cy="914400"/>
          </a:xfrm>
          <a:prstGeom prst="rect">
            <a:avLst/>
          </a:prstGeom>
          <a:noFill/>
          <a:ln/>
        </p:spPr>
        <p:txBody>
          <a:bodyPr wrap="square" lIns="0" tIns="0" rIns="0" bIns="0" rtlCol="0" anchor="t"/>
          <a:lstStyle/>
          <a:p>
            <a:pPr indent="0" marL="0">
              <a:buNone/>
            </a:pPr>
            <a:r>
              <a:rPr lang="en-US" sz="1700" b="1" dirty="0">
                <a:solidFill>
                  <a:srgbClr val="1F3A5F"/>
                </a:solidFill>
              </a:rPr>
              <a:t>Find the cause in Chennai and Jaipur before cutting staff</a:t>
            </a:r>
            <a:endParaRPr lang="en-US" sz="1700" dirty="0"/>
          </a:p>
        </p:txBody>
      </p:sp>
      <p:sp>
        <p:nvSpPr>
          <p:cNvPr id="12" name="Text 9"/>
          <p:cNvSpPr txBox="1"/>
          <p:nvPr/>
        </p:nvSpPr>
        <p:spPr>
          <a:xfrm>
            <a:off x="4611624" y="3337560"/>
            <a:ext cx="2965704" cy="1645920"/>
          </a:xfrm>
          <a:prstGeom prst="rect">
            <a:avLst/>
          </a:prstGeom>
          <a:noFill/>
          <a:ln/>
        </p:spPr>
        <p:txBody>
          <a:bodyPr wrap="square" lIns="0" tIns="0" rIns="0" bIns="0" rtlCol="0" anchor="t"/>
          <a:lstStyle/>
          <a:p>
            <a:pPr indent="0" marL="0">
              <a:buNone/>
            </a:pPr>
            <a:r>
              <a:rPr lang="en-US" sz="1400" dirty="0">
                <a:solidFill>
                  <a:srgbClr val="262626"/>
                </a:solidFill>
              </a:rPr>
              <a:t>The fall is real, so action is needed, but the cause is not known. Ask the city heads when competitor centres opened and how their prices compare.</a:t>
            </a:r>
            <a:endParaRPr lang="en-US" sz="1400" dirty="0"/>
          </a:p>
        </p:txBody>
      </p:sp>
      <p:sp>
        <p:nvSpPr>
          <p:cNvPr id="13" name="Text 10"/>
          <p:cNvSpPr txBox="1"/>
          <p:nvPr/>
        </p:nvSpPr>
        <p:spPr>
          <a:xfrm>
            <a:off x="4611624" y="4983480"/>
            <a:ext cx="2965704" cy="822960"/>
          </a:xfrm>
          <a:prstGeom prst="rect">
            <a:avLst/>
          </a:prstGeom>
          <a:noFill/>
          <a:ln/>
        </p:spPr>
        <p:txBody>
          <a:bodyPr wrap="square" lIns="0" tIns="0" rIns="0" bIns="0" rtlCol="0" anchor="t"/>
          <a:lstStyle/>
          <a:p>
            <a:pPr indent="0" marL="0">
              <a:buNone/>
            </a:pPr>
            <a:r>
              <a:rPr lang="en-US" sz="1400" b="1" dirty="0">
                <a:solidFill>
                  <a:srgbClr val="C55A11"/>
                </a:solidFill>
              </a:rPr>
              <a:t>Back to last year's level: +4,239 tests. Back to plan: +25,484 tests.</a:t>
            </a:r>
            <a:endParaRPr lang="en-US" sz="1400" dirty="0"/>
          </a:p>
        </p:txBody>
      </p:sp>
      <p:sp>
        <p:nvSpPr>
          <p:cNvPr id="14" name="Shape 11"/>
          <p:cNvSpPr/>
          <p:nvPr/>
        </p:nvSpPr>
        <p:spPr>
          <a:xfrm>
            <a:off x="8125968" y="1463040"/>
            <a:ext cx="3514344" cy="4480560"/>
          </a:xfrm>
          <a:prstGeom prst="rect">
            <a:avLst/>
          </a:prstGeom>
          <a:solidFill>
            <a:srgbClr val="F3F6F9"/>
          </a:solidFill>
          <a:ln w="12700">
            <a:solidFill>
              <a:srgbClr val="F3F6F9"/>
            </a:solidFill>
            <a:prstDash val="solid"/>
          </a:ln>
        </p:spPr>
      </p:sp>
      <p:sp>
        <p:nvSpPr>
          <p:cNvPr id="15" name="Text 12"/>
          <p:cNvSpPr txBox="1"/>
          <p:nvPr/>
        </p:nvSpPr>
        <p:spPr>
          <a:xfrm>
            <a:off x="8400288" y="1600200"/>
            <a:ext cx="731520" cy="731520"/>
          </a:xfrm>
          <a:prstGeom prst="rect">
            <a:avLst/>
          </a:prstGeom>
          <a:noFill/>
          <a:ln/>
        </p:spPr>
        <p:txBody>
          <a:bodyPr wrap="square" lIns="0" tIns="0" rIns="0" bIns="0" rtlCol="0" anchor="t"/>
          <a:lstStyle/>
          <a:p>
            <a:pPr indent="0" marL="0">
              <a:buNone/>
            </a:pPr>
            <a:r>
              <a:rPr lang="en-US" sz="4000" b="1" dirty="0">
                <a:solidFill>
                  <a:srgbClr val="2E75B6"/>
                </a:solidFill>
              </a:rPr>
              <a:t>3</a:t>
            </a:r>
            <a:endParaRPr lang="en-US" sz="4000" dirty="0"/>
          </a:p>
        </p:txBody>
      </p:sp>
      <p:sp>
        <p:nvSpPr>
          <p:cNvPr id="16" name="Text 13"/>
          <p:cNvSpPr txBox="1"/>
          <p:nvPr/>
        </p:nvSpPr>
        <p:spPr>
          <a:xfrm>
            <a:off x="8400288" y="2377440"/>
            <a:ext cx="2965704" cy="914400"/>
          </a:xfrm>
          <a:prstGeom prst="rect">
            <a:avLst/>
          </a:prstGeom>
          <a:noFill/>
          <a:ln/>
        </p:spPr>
        <p:txBody>
          <a:bodyPr wrap="square" lIns="0" tIns="0" rIns="0" bIns="0" rtlCol="0" anchor="t"/>
          <a:lstStyle/>
          <a:p>
            <a:pPr indent="0" marL="0">
              <a:buNone/>
            </a:pPr>
            <a:r>
              <a:rPr lang="en-US" sz="1700" b="1" dirty="0">
                <a:solidFill>
                  <a:srgbClr val="1F3A5F"/>
                </a:solidFill>
              </a:rPr>
              <a:t>Study the growth in home collection</a:t>
            </a:r>
            <a:endParaRPr lang="en-US" sz="1700" dirty="0"/>
          </a:p>
        </p:txBody>
      </p:sp>
      <p:sp>
        <p:nvSpPr>
          <p:cNvPr id="17" name="Text 14"/>
          <p:cNvSpPr txBox="1"/>
          <p:nvPr/>
        </p:nvSpPr>
        <p:spPr>
          <a:xfrm>
            <a:off x="8400288" y="3337560"/>
            <a:ext cx="2965704" cy="1645920"/>
          </a:xfrm>
          <a:prstGeom prst="rect">
            <a:avLst/>
          </a:prstGeom>
          <a:noFill/>
          <a:ln/>
        </p:spPr>
        <p:txBody>
          <a:bodyPr wrap="square" lIns="0" tIns="0" rIns="0" bIns="0" rtlCol="0" anchor="t"/>
          <a:lstStyle/>
          <a:p>
            <a:pPr indent="0" marL="0">
              <a:buNone/>
            </a:pPr>
            <a:r>
              <a:rPr lang="en-US" sz="1400" dirty="0">
                <a:solidFill>
                  <a:srgbClr val="262626"/>
                </a:solidFill>
              </a:rPr>
              <a:t>Home tests grew by 55,754 and clinic tests fell by 33,974. Check if home brings new patients or only moves existing ones, and what it costs.</a:t>
            </a:r>
            <a:endParaRPr lang="en-US" sz="1400" dirty="0"/>
          </a:p>
        </p:txBody>
      </p:sp>
      <p:sp>
        <p:nvSpPr>
          <p:cNvPr id="18" name="Text 15"/>
          <p:cNvSpPr txBox="1"/>
          <p:nvPr/>
        </p:nvSpPr>
        <p:spPr>
          <a:xfrm>
            <a:off x="8400288" y="4983480"/>
            <a:ext cx="2965704" cy="822960"/>
          </a:xfrm>
          <a:prstGeom prst="rect">
            <a:avLst/>
          </a:prstGeom>
          <a:noFill/>
          <a:ln/>
        </p:spPr>
        <p:txBody>
          <a:bodyPr wrap="square" lIns="0" tIns="0" rIns="0" bIns="0" rtlCol="0" anchor="t"/>
          <a:lstStyle/>
          <a:p>
            <a:pPr indent="0" marL="0">
              <a:buNone/>
            </a:pPr>
            <a:r>
              <a:rPr lang="en-US" sz="1400" b="1" dirty="0">
                <a:solidFill>
                  <a:srgbClr val="C55A11"/>
                </a:solidFill>
              </a:rPr>
              <a:t>Next: campaign data (Brief E), invoices and payments (Brief C).</a:t>
            </a:r>
            <a:endParaRPr lang="en-US" sz="1400" dirty="0"/>
          </a:p>
        </p:txBody>
      </p:sp>
      <p:sp>
        <p:nvSpPr>
          <p:cNvPr id="19" name="Text 16"/>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accent6"/>
                </a:solidFill>
              </a:rPr>
              <a:t>The cost of each action is not in our data and needs to be worked out with finance.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Kalpa Review">
  <a:themeElements>
    <a:clrScheme name="Kalpa Review">
      <a:dk1>
        <a:srgbClr val="262626"/>
      </a:dk1>
      <a:lt1>
        <a:srgbClr val="FFFFFF"/>
      </a:lt1>
      <a:dk2>
        <a:srgbClr val="1F3A5F"/>
      </a:dk2>
      <a:lt2>
        <a:srgbClr val="F3F6F9"/>
      </a:lt2>
      <a:accent1>
        <a:srgbClr val="2E75B6"/>
      </a:accent1>
      <a:accent2>
        <a:srgbClr val="C00000"/>
      </a:accent2>
      <a:accent3>
        <a:srgbClr val="ED7D31"/>
      </a:accent3>
      <a:accent4>
        <a:srgbClr val="A6A6A6"/>
      </a:accent4>
      <a:accent5>
        <a:srgbClr val="548235"/>
      </a:accent5>
      <a:accent6>
        <a:srgbClr val="595959"/>
      </a:accent6>
      <a:hlink>
        <a:srgbClr val="2E75B6"/>
      </a:hlink>
      <a:folHlink>
        <a:srgbClr val="595959"/>
      </a:folHlink>
    </a:clrScheme>
    <a:fontScheme name="Kalpa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Kalpa Health: H1 2026 growth review</dc:title>
  <dc:subject>PptxGenJS Presentation</dc:subject>
  <dc:creator>Data Analytics</dc:creator>
  <cp:lastModifiedBy>Data Analytics</cp:lastModifiedBy>
  <cp:revision>1</cp:revision>
  <dcterms:created xsi:type="dcterms:W3CDTF">2026-10-24T14:16:00Z</dcterms:created>
  <dcterms:modified xsi:type="dcterms:W3CDTF">2026-10-24T14:16:00Z</dcterms:modified>
</cp:coreProperties>
</file>
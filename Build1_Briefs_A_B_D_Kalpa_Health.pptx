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66" r:id="rId18"/>
    <p:sldId id="267" r:id="rId19"/>
    <p:sldId id="259" r:id="rId11"/>
    <p:sldId id="260" r:id="rId12"/>
    <p:sldId id="268" r:id="rId20"/>
    <p:sldId id="269" r:id="rId21"/>
    <p:sldId id="261" r:id="rId13"/>
    <p:sldId id="262" r:id="rId14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clinics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A9A4C4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Sheet1!$A$2:$A$30</c:f>
              <c:numCache>
                <c:formatCode>General</c:formatCode>
                <c:ptCount val="29"/>
                <c:pt idx="0">
                  <c:v>33543</c:v>
                </c:pt>
                <c:pt idx="1">
                  <c:v>22573</c:v>
                </c:pt>
                <c:pt idx="2">
                  <c:v>17828</c:v>
                </c:pt>
                <c:pt idx="3">
                  <c:v>13373</c:v>
                </c:pt>
                <c:pt idx="4">
                  <c:v>11254</c:v>
                </c:pt>
                <c:pt idx="5">
                  <c:v>39202</c:v>
                </c:pt>
                <c:pt idx="6">
                  <c:v>26554</c:v>
                </c:pt>
                <c:pt idx="7">
                  <c:v>21137</c:v>
                </c:pt>
                <c:pt idx="8">
                  <c:v>15576</c:v>
                </c:pt>
                <c:pt idx="9">
                  <c:v>13154</c:v>
                </c:pt>
                <c:pt idx="10">
                  <c:v>10681</c:v>
                </c:pt>
                <c:pt idx="11">
                  <c:v>34303</c:v>
                </c:pt>
                <c:pt idx="12">
                  <c:v>23146</c:v>
                </c:pt>
                <c:pt idx="13">
                  <c:v>13833</c:v>
                </c:pt>
                <c:pt idx="14">
                  <c:v>11475</c:v>
                </c:pt>
                <c:pt idx="15">
                  <c:v>31487</c:v>
                </c:pt>
                <c:pt idx="16">
                  <c:v>21099</c:v>
                </c:pt>
                <c:pt idx="17">
                  <c:v>16739</c:v>
                </c:pt>
                <c:pt idx="18">
                  <c:v>12719</c:v>
                </c:pt>
                <c:pt idx="19">
                  <c:v>10384</c:v>
                </c:pt>
                <c:pt idx="20">
                  <c:v>20783</c:v>
                </c:pt>
                <c:pt idx="21">
                  <c:v>13492</c:v>
                </c:pt>
                <c:pt idx="22">
                  <c:v>11045</c:v>
                </c:pt>
                <c:pt idx="23">
                  <c:v>8080</c:v>
                </c:pt>
                <c:pt idx="24">
                  <c:v>26563</c:v>
                </c:pt>
                <c:pt idx="25">
                  <c:v>17466</c:v>
                </c:pt>
                <c:pt idx="26">
                  <c:v>14041</c:v>
                </c:pt>
                <c:pt idx="27">
                  <c:v>10743</c:v>
                </c:pt>
                <c:pt idx="28">
                  <c:v>8797</c:v>
                </c:pt>
              </c:numCache>
            </c:numRef>
          </c:xVal>
          <c:yVal>
            <c:numRef>
              <c:f>Sheet1!$B$2:$B$30</c:f>
              <c:numCache>
                <c:formatCode>General</c:formatCode>
                <c:ptCount val="29"/>
                <c:pt idx="0">
                  <c:v>14.61</c:v>
                </c:pt>
                <c:pt idx="1">
                  <c:v>14.59</c:v>
                </c:pt>
                <c:pt idx="2">
                  <c:v>14.14</c:v>
                </c:pt>
                <c:pt idx="3">
                  <c:v>14.19</c:v>
                </c:pt>
                <c:pt idx="4">
                  <c:v>14.29</c:v>
                </c:pt>
                <c:pt idx="5">
                  <c:v>14.45</c:v>
                </c:pt>
                <c:pt idx="6">
                  <c:v>14.35</c:v>
                </c:pt>
                <c:pt idx="7">
                  <c:v>14.22</c:v>
                </c:pt>
                <c:pt idx="8">
                  <c:v>14.02</c:v>
                </c:pt>
                <c:pt idx="9">
                  <c:v>14.44</c:v>
                </c:pt>
                <c:pt idx="10">
                  <c:v>14.11</c:v>
                </c:pt>
                <c:pt idx="11">
                  <c:v>14.57</c:v>
                </c:pt>
                <c:pt idx="12">
                  <c:v>14.04</c:v>
                </c:pt>
                <c:pt idx="13">
                  <c:v>13.86</c:v>
                </c:pt>
                <c:pt idx="14">
                  <c:v>14.76</c:v>
                </c:pt>
                <c:pt idx="15">
                  <c:v>14.07</c:v>
                </c:pt>
                <c:pt idx="16">
                  <c:v>14.17</c:v>
                </c:pt>
                <c:pt idx="17">
                  <c:v>14.39</c:v>
                </c:pt>
                <c:pt idx="18">
                  <c:v>14.4</c:v>
                </c:pt>
                <c:pt idx="19">
                  <c:v>14.64</c:v>
                </c:pt>
                <c:pt idx="20">
                  <c:v>14.07</c:v>
                </c:pt>
                <c:pt idx="21">
                  <c:v>14.32</c:v>
                </c:pt>
                <c:pt idx="22">
                  <c:v>14.14</c:v>
                </c:pt>
                <c:pt idx="23">
                  <c:v>14.7</c:v>
                </c:pt>
                <c:pt idx="24">
                  <c:v>14.15</c:v>
                </c:pt>
                <c:pt idx="25">
                  <c:v>14.13</c:v>
                </c:pt>
                <c:pt idx="26">
                  <c:v>14.12</c:v>
                </c:pt>
                <c:pt idx="27">
                  <c:v>14.65</c:v>
                </c:pt>
                <c:pt idx="28">
                  <c:v>14.25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Sheet1!$B$32</c:f>
              <c:strCache>
                <c:ptCount val="1"/>
                <c:pt idx="0">
                  <c:v>CHE-03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4"/>
            <c:spPr>
              <a:solidFill>
                <a:srgbClr val="E9B04C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/>
                      <a:t>CHE-03 17.3%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Sheet1!$A$33:$A$33</c:f>
              <c:numCache>
                <c:formatCode>General</c:formatCode>
                <c:ptCount val="1"/>
                <c:pt idx="0">
                  <c:v>18373</c:v>
                </c:pt>
              </c:numCache>
            </c:numRef>
          </c:xVal>
          <c:yVal>
            <c:numRef>
              <c:f>Sheet1!$B$33:$B$33</c:f>
              <c:numCache>
                <c:formatCode>General</c:formatCode>
                <c:ptCount val="1"/>
                <c:pt idx="0">
                  <c:v>17.25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JAI-05 (tiny)</c:v>
                </c:pt>
              </c:strCache>
            </c:strRef>
          </c:tx>
          <c:spPr>
            <a:ln w="47625">
              <a:noFill/>
            </a:ln>
          </c:spPr>
          <c:marker>
            <c:symbol val="triangle"/>
            <c:size val="9"/>
            <c:spPr>
              <a:solidFill>
                <a:srgbClr val="B8322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/>
                      <a:t>JAI-05 (155 visits)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Sheet1!$A$36:$A$36</c:f>
              <c:numCache>
                <c:formatCode>General</c:formatCode>
                <c:ptCount val="1"/>
                <c:pt idx="0">
                  <c:v>155</c:v>
                </c:pt>
              </c:numCache>
            </c:numRef>
          </c:xVal>
          <c:yVal>
            <c:numRef>
              <c:f>Sheet1!$B$36:$B$36</c:f>
              <c:numCache>
                <c:formatCode>General</c:formatCode>
                <c:ptCount val="1"/>
                <c:pt idx="0">
                  <c:v>17.42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Sheet1!$B$38</c:f>
              <c:strCache>
                <c:ptCount val="1"/>
                <c:pt idx="0">
                  <c:v>Chance band, 95%</c:v>
                </c:pt>
              </c:strCache>
            </c:strRef>
          </c:tx>
          <c:spPr>
            <a:ln w="22225">
              <a:solidFill>
                <a:srgbClr val="4E38AB"/>
              </a:solidFill>
            </a:ln>
          </c:spPr>
          <c:marker>
            <c:symbol val="none"/>
          </c:marker>
          <c:xVal>
            <c:numRef>
              <c:f>Sheet1!$A$39:$A$158</c:f>
              <c:numCache>
                <c:formatCode>General</c:formatCode>
                <c:ptCount val="120"/>
                <c:pt idx="0">
                  <c:v>150</c:v>
                </c:pt>
                <c:pt idx="1">
                  <c:v>758</c:v>
                </c:pt>
                <c:pt idx="2">
                  <c:v>1365</c:v>
                </c:pt>
                <c:pt idx="3">
                  <c:v>1973</c:v>
                </c:pt>
                <c:pt idx="4">
                  <c:v>2581</c:v>
                </c:pt>
                <c:pt idx="5">
                  <c:v>3188</c:v>
                </c:pt>
                <c:pt idx="6">
                  <c:v>3796</c:v>
                </c:pt>
                <c:pt idx="7">
                  <c:v>4403</c:v>
                </c:pt>
                <c:pt idx="8">
                  <c:v>5011</c:v>
                </c:pt>
                <c:pt idx="9">
                  <c:v>5619</c:v>
                </c:pt>
                <c:pt idx="10">
                  <c:v>6226</c:v>
                </c:pt>
                <c:pt idx="11">
                  <c:v>6834</c:v>
                </c:pt>
                <c:pt idx="12">
                  <c:v>7442</c:v>
                </c:pt>
                <c:pt idx="13">
                  <c:v>8049</c:v>
                </c:pt>
                <c:pt idx="14">
                  <c:v>8657</c:v>
                </c:pt>
                <c:pt idx="15">
                  <c:v>9264</c:v>
                </c:pt>
                <c:pt idx="16">
                  <c:v>9872</c:v>
                </c:pt>
                <c:pt idx="17">
                  <c:v>10480</c:v>
                </c:pt>
                <c:pt idx="18">
                  <c:v>11087</c:v>
                </c:pt>
                <c:pt idx="19">
                  <c:v>11695</c:v>
                </c:pt>
                <c:pt idx="20">
                  <c:v>12303</c:v>
                </c:pt>
                <c:pt idx="21">
                  <c:v>12910</c:v>
                </c:pt>
                <c:pt idx="22">
                  <c:v>13518</c:v>
                </c:pt>
                <c:pt idx="23">
                  <c:v>14125</c:v>
                </c:pt>
                <c:pt idx="24">
                  <c:v>14733</c:v>
                </c:pt>
                <c:pt idx="25">
                  <c:v>15341</c:v>
                </c:pt>
                <c:pt idx="26">
                  <c:v>15948</c:v>
                </c:pt>
                <c:pt idx="27">
                  <c:v>16556</c:v>
                </c:pt>
                <c:pt idx="28">
                  <c:v>17164</c:v>
                </c:pt>
                <c:pt idx="29">
                  <c:v>17771</c:v>
                </c:pt>
                <c:pt idx="30">
                  <c:v>18379</c:v>
                </c:pt>
                <c:pt idx="31">
                  <c:v>18986</c:v>
                </c:pt>
                <c:pt idx="32">
                  <c:v>19594</c:v>
                </c:pt>
                <c:pt idx="33">
                  <c:v>20202</c:v>
                </c:pt>
                <c:pt idx="34">
                  <c:v>20809</c:v>
                </c:pt>
                <c:pt idx="35">
                  <c:v>21417</c:v>
                </c:pt>
                <c:pt idx="36">
                  <c:v>22025</c:v>
                </c:pt>
                <c:pt idx="37">
                  <c:v>22632</c:v>
                </c:pt>
                <c:pt idx="38">
                  <c:v>23240</c:v>
                </c:pt>
                <c:pt idx="39">
                  <c:v>23847</c:v>
                </c:pt>
                <c:pt idx="40">
                  <c:v>24455</c:v>
                </c:pt>
                <c:pt idx="41">
                  <c:v>25063</c:v>
                </c:pt>
                <c:pt idx="42">
                  <c:v>25670</c:v>
                </c:pt>
                <c:pt idx="43">
                  <c:v>26278</c:v>
                </c:pt>
                <c:pt idx="44">
                  <c:v>26886</c:v>
                </c:pt>
                <c:pt idx="45">
                  <c:v>27493</c:v>
                </c:pt>
                <c:pt idx="46">
                  <c:v>28101</c:v>
                </c:pt>
                <c:pt idx="47">
                  <c:v>28708</c:v>
                </c:pt>
                <c:pt idx="48">
                  <c:v>29316</c:v>
                </c:pt>
                <c:pt idx="49">
                  <c:v>29924</c:v>
                </c:pt>
                <c:pt idx="50">
                  <c:v>30531</c:v>
                </c:pt>
                <c:pt idx="51">
                  <c:v>31139</c:v>
                </c:pt>
                <c:pt idx="52">
                  <c:v>31747</c:v>
                </c:pt>
                <c:pt idx="53">
                  <c:v>32354</c:v>
                </c:pt>
                <c:pt idx="54">
                  <c:v>32962</c:v>
                </c:pt>
                <c:pt idx="55">
                  <c:v>33569</c:v>
                </c:pt>
                <c:pt idx="56">
                  <c:v>34177</c:v>
                </c:pt>
                <c:pt idx="57">
                  <c:v>34785</c:v>
                </c:pt>
                <c:pt idx="58">
                  <c:v>35392</c:v>
                </c:pt>
                <c:pt idx="59">
                  <c:v>36000</c:v>
                </c:pt>
                <c:pt idx="60">
                  <c:v>36000</c:v>
                </c:pt>
                <c:pt idx="61">
                  <c:v>35392</c:v>
                </c:pt>
                <c:pt idx="62">
                  <c:v>34785</c:v>
                </c:pt>
                <c:pt idx="63">
                  <c:v>34177</c:v>
                </c:pt>
                <c:pt idx="64">
                  <c:v>33569</c:v>
                </c:pt>
                <c:pt idx="65">
                  <c:v>32962</c:v>
                </c:pt>
                <c:pt idx="66">
                  <c:v>32354</c:v>
                </c:pt>
                <c:pt idx="67">
                  <c:v>31747</c:v>
                </c:pt>
                <c:pt idx="68">
                  <c:v>31139</c:v>
                </c:pt>
                <c:pt idx="69">
                  <c:v>30531</c:v>
                </c:pt>
                <c:pt idx="70">
                  <c:v>29924</c:v>
                </c:pt>
                <c:pt idx="71">
                  <c:v>29316</c:v>
                </c:pt>
                <c:pt idx="72">
                  <c:v>28708</c:v>
                </c:pt>
                <c:pt idx="73">
                  <c:v>28101</c:v>
                </c:pt>
                <c:pt idx="74">
                  <c:v>27493</c:v>
                </c:pt>
                <c:pt idx="75">
                  <c:v>26886</c:v>
                </c:pt>
                <c:pt idx="76">
                  <c:v>26278</c:v>
                </c:pt>
                <c:pt idx="77">
                  <c:v>25670</c:v>
                </c:pt>
                <c:pt idx="78">
                  <c:v>25063</c:v>
                </c:pt>
                <c:pt idx="79">
                  <c:v>24455</c:v>
                </c:pt>
                <c:pt idx="80">
                  <c:v>23847</c:v>
                </c:pt>
                <c:pt idx="81">
                  <c:v>23240</c:v>
                </c:pt>
                <c:pt idx="82">
                  <c:v>22632</c:v>
                </c:pt>
                <c:pt idx="83">
                  <c:v>22025</c:v>
                </c:pt>
                <c:pt idx="84">
                  <c:v>21417</c:v>
                </c:pt>
                <c:pt idx="85">
                  <c:v>20809</c:v>
                </c:pt>
                <c:pt idx="86">
                  <c:v>20202</c:v>
                </c:pt>
                <c:pt idx="87">
                  <c:v>19594</c:v>
                </c:pt>
                <c:pt idx="88">
                  <c:v>18986</c:v>
                </c:pt>
                <c:pt idx="89">
                  <c:v>18379</c:v>
                </c:pt>
                <c:pt idx="90">
                  <c:v>17771</c:v>
                </c:pt>
                <c:pt idx="91">
                  <c:v>17164</c:v>
                </c:pt>
                <c:pt idx="92">
                  <c:v>16556</c:v>
                </c:pt>
                <c:pt idx="93">
                  <c:v>15948</c:v>
                </c:pt>
                <c:pt idx="94">
                  <c:v>15341</c:v>
                </c:pt>
                <c:pt idx="95">
                  <c:v>14733</c:v>
                </c:pt>
                <c:pt idx="96">
                  <c:v>14125</c:v>
                </c:pt>
                <c:pt idx="97">
                  <c:v>13518</c:v>
                </c:pt>
                <c:pt idx="98">
                  <c:v>12910</c:v>
                </c:pt>
                <c:pt idx="99">
                  <c:v>12303</c:v>
                </c:pt>
                <c:pt idx="100">
                  <c:v>11695</c:v>
                </c:pt>
                <c:pt idx="101">
                  <c:v>11087</c:v>
                </c:pt>
                <c:pt idx="102">
                  <c:v>10480</c:v>
                </c:pt>
                <c:pt idx="103">
                  <c:v>9872</c:v>
                </c:pt>
                <c:pt idx="104">
                  <c:v>9264</c:v>
                </c:pt>
                <c:pt idx="105">
                  <c:v>8657</c:v>
                </c:pt>
                <c:pt idx="106">
                  <c:v>8049</c:v>
                </c:pt>
                <c:pt idx="107">
                  <c:v>7442</c:v>
                </c:pt>
                <c:pt idx="108">
                  <c:v>6834</c:v>
                </c:pt>
                <c:pt idx="109">
                  <c:v>6226</c:v>
                </c:pt>
                <c:pt idx="110">
                  <c:v>5619</c:v>
                </c:pt>
                <c:pt idx="111">
                  <c:v>5011</c:v>
                </c:pt>
                <c:pt idx="112">
                  <c:v>4403</c:v>
                </c:pt>
                <c:pt idx="113">
                  <c:v>3796</c:v>
                </c:pt>
                <c:pt idx="114">
                  <c:v>3188</c:v>
                </c:pt>
                <c:pt idx="115">
                  <c:v>2581</c:v>
                </c:pt>
                <c:pt idx="116">
                  <c:v>1973</c:v>
                </c:pt>
                <c:pt idx="117">
                  <c:v>1365</c:v>
                </c:pt>
                <c:pt idx="118">
                  <c:v>758</c:v>
                </c:pt>
                <c:pt idx="119">
                  <c:v>150</c:v>
                </c:pt>
              </c:numCache>
            </c:numRef>
          </c:xVal>
          <c:yVal>
            <c:numRef>
              <c:f>Sheet1!$B$39:$B$158</c:f>
              <c:numCache>
                <c:formatCode>General</c:formatCode>
                <c:ptCount val="120"/>
                <c:pt idx="0">
                  <c:v>20.02</c:v>
                </c:pt>
                <c:pt idx="1">
                  <c:v>16.91</c:v>
                </c:pt>
                <c:pt idx="2">
                  <c:v>16.27</c:v>
                </c:pt>
                <c:pt idx="3">
                  <c:v>15.95</c:v>
                </c:pt>
                <c:pt idx="4">
                  <c:v>15.76</c:v>
                </c:pt>
                <c:pt idx="5">
                  <c:v>15.62</c:v>
                </c:pt>
                <c:pt idx="6">
                  <c:v>15.52</c:v>
                </c:pt>
                <c:pt idx="7">
                  <c:v>15.44</c:v>
                </c:pt>
                <c:pt idx="8">
                  <c:v>15.38</c:v>
                </c:pt>
                <c:pt idx="9">
                  <c:v>15.32</c:v>
                </c:pt>
                <c:pt idx="10">
                  <c:v>15.28</c:v>
                </c:pt>
                <c:pt idx="11">
                  <c:v>15.24</c:v>
                </c:pt>
                <c:pt idx="12">
                  <c:v>15.2</c:v>
                </c:pt>
                <c:pt idx="13">
                  <c:v>15.17</c:v>
                </c:pt>
                <c:pt idx="14">
                  <c:v>15.15</c:v>
                </c:pt>
                <c:pt idx="15">
                  <c:v>15.12</c:v>
                </c:pt>
                <c:pt idx="16">
                  <c:v>15.1</c:v>
                </c:pt>
                <c:pt idx="17">
                  <c:v>15.08</c:v>
                </c:pt>
                <c:pt idx="18">
                  <c:v>15.06</c:v>
                </c:pt>
                <c:pt idx="19">
                  <c:v>15.04</c:v>
                </c:pt>
                <c:pt idx="20">
                  <c:v>15.03</c:v>
                </c:pt>
                <c:pt idx="21">
                  <c:v>15.01</c:v>
                </c:pt>
                <c:pt idx="22">
                  <c:v>15.0</c:v>
                </c:pt>
                <c:pt idx="23">
                  <c:v>14.98</c:v>
                </c:pt>
                <c:pt idx="24">
                  <c:v>14.97</c:v>
                </c:pt>
                <c:pt idx="25">
                  <c:v>14.96</c:v>
                </c:pt>
                <c:pt idx="26">
                  <c:v>14.95</c:v>
                </c:pt>
                <c:pt idx="27">
                  <c:v>14.94</c:v>
                </c:pt>
                <c:pt idx="28">
                  <c:v>14.93</c:v>
                </c:pt>
                <c:pt idx="29">
                  <c:v>14.92</c:v>
                </c:pt>
                <c:pt idx="30">
                  <c:v>14.91</c:v>
                </c:pt>
                <c:pt idx="31">
                  <c:v>14.9</c:v>
                </c:pt>
                <c:pt idx="32">
                  <c:v>14.9</c:v>
                </c:pt>
                <c:pt idx="33">
                  <c:v>14.89</c:v>
                </c:pt>
                <c:pt idx="34">
                  <c:v>14.88</c:v>
                </c:pt>
                <c:pt idx="35">
                  <c:v>14.88</c:v>
                </c:pt>
                <c:pt idx="36">
                  <c:v>14.87</c:v>
                </c:pt>
                <c:pt idx="37">
                  <c:v>14.86</c:v>
                </c:pt>
                <c:pt idx="38">
                  <c:v>14.86</c:v>
                </c:pt>
                <c:pt idx="39">
                  <c:v>14.85</c:v>
                </c:pt>
                <c:pt idx="40">
                  <c:v>14.85</c:v>
                </c:pt>
                <c:pt idx="41">
                  <c:v>14.84</c:v>
                </c:pt>
                <c:pt idx="42">
                  <c:v>14.84</c:v>
                </c:pt>
                <c:pt idx="43">
                  <c:v>14.83</c:v>
                </c:pt>
                <c:pt idx="44">
                  <c:v>14.83</c:v>
                </c:pt>
                <c:pt idx="45">
                  <c:v>14.82</c:v>
                </c:pt>
                <c:pt idx="46">
                  <c:v>14.82</c:v>
                </c:pt>
                <c:pt idx="47">
                  <c:v>14.81</c:v>
                </c:pt>
                <c:pt idx="48">
                  <c:v>14.81</c:v>
                </c:pt>
                <c:pt idx="49">
                  <c:v>14.8</c:v>
                </c:pt>
                <c:pt idx="50">
                  <c:v>14.8</c:v>
                </c:pt>
                <c:pt idx="51">
                  <c:v>14.8</c:v>
                </c:pt>
                <c:pt idx="52">
                  <c:v>14.79</c:v>
                </c:pt>
                <c:pt idx="53">
                  <c:v>14.79</c:v>
                </c:pt>
                <c:pt idx="54">
                  <c:v>14.78</c:v>
                </c:pt>
                <c:pt idx="55">
                  <c:v>14.78</c:v>
                </c:pt>
                <c:pt idx="56">
                  <c:v>14.78</c:v>
                </c:pt>
                <c:pt idx="57">
                  <c:v>14.77</c:v>
                </c:pt>
                <c:pt idx="58">
                  <c:v>14.77</c:v>
                </c:pt>
                <c:pt idx="59">
                  <c:v>14.77</c:v>
                </c:pt>
                <c:pt idx="60">
                  <c:v>14.04</c:v>
                </c:pt>
                <c:pt idx="61">
                  <c:v>14.04</c:v>
                </c:pt>
                <c:pt idx="62">
                  <c:v>14.04</c:v>
                </c:pt>
                <c:pt idx="63">
                  <c:v>14.03</c:v>
                </c:pt>
                <c:pt idx="64">
                  <c:v>14.03</c:v>
                </c:pt>
                <c:pt idx="65">
                  <c:v>14.03</c:v>
                </c:pt>
                <c:pt idx="66">
                  <c:v>14.02</c:v>
                </c:pt>
                <c:pt idx="67">
                  <c:v>14.02</c:v>
                </c:pt>
                <c:pt idx="68">
                  <c:v>14.02</c:v>
                </c:pt>
                <c:pt idx="69">
                  <c:v>14.01</c:v>
                </c:pt>
                <c:pt idx="70">
                  <c:v>14.01</c:v>
                </c:pt>
                <c:pt idx="71">
                  <c:v>14.0</c:v>
                </c:pt>
                <c:pt idx="72">
                  <c:v>14.0</c:v>
                </c:pt>
                <c:pt idx="73">
                  <c:v>13.99</c:v>
                </c:pt>
                <c:pt idx="74">
                  <c:v>13.99</c:v>
                </c:pt>
                <c:pt idx="75">
                  <c:v>13.99</c:v>
                </c:pt>
                <c:pt idx="76">
                  <c:v>13.98</c:v>
                </c:pt>
                <c:pt idx="77">
                  <c:v>13.98</c:v>
                </c:pt>
                <c:pt idx="78">
                  <c:v>13.97</c:v>
                </c:pt>
                <c:pt idx="79">
                  <c:v>13.97</c:v>
                </c:pt>
                <c:pt idx="80">
                  <c:v>13.96</c:v>
                </c:pt>
                <c:pt idx="81">
                  <c:v>13.95</c:v>
                </c:pt>
                <c:pt idx="82">
                  <c:v>13.95</c:v>
                </c:pt>
                <c:pt idx="83">
                  <c:v>13.94</c:v>
                </c:pt>
                <c:pt idx="84">
                  <c:v>13.94</c:v>
                </c:pt>
                <c:pt idx="85">
                  <c:v>13.93</c:v>
                </c:pt>
                <c:pt idx="86">
                  <c:v>13.92</c:v>
                </c:pt>
                <c:pt idx="87">
                  <c:v>13.91</c:v>
                </c:pt>
                <c:pt idx="88">
                  <c:v>13.91</c:v>
                </c:pt>
                <c:pt idx="89">
                  <c:v>13.9</c:v>
                </c:pt>
                <c:pt idx="90">
                  <c:v>13.89</c:v>
                </c:pt>
                <c:pt idx="91">
                  <c:v>13.88</c:v>
                </c:pt>
                <c:pt idx="92">
                  <c:v>13.87</c:v>
                </c:pt>
                <c:pt idx="93">
                  <c:v>13.86</c:v>
                </c:pt>
                <c:pt idx="94">
                  <c:v>13.85</c:v>
                </c:pt>
                <c:pt idx="95">
                  <c:v>13.84</c:v>
                </c:pt>
                <c:pt idx="96">
                  <c:v>13.83</c:v>
                </c:pt>
                <c:pt idx="97">
                  <c:v>13.81</c:v>
                </c:pt>
                <c:pt idx="98">
                  <c:v>13.8</c:v>
                </c:pt>
                <c:pt idx="99">
                  <c:v>13.78</c:v>
                </c:pt>
                <c:pt idx="100">
                  <c:v>13.77</c:v>
                </c:pt>
                <c:pt idx="101">
                  <c:v>13.75</c:v>
                </c:pt>
                <c:pt idx="102">
                  <c:v>13.73</c:v>
                </c:pt>
                <c:pt idx="103">
                  <c:v>13.71</c:v>
                </c:pt>
                <c:pt idx="104">
                  <c:v>13.69</c:v>
                </c:pt>
                <c:pt idx="105">
                  <c:v>13.67</c:v>
                </c:pt>
                <c:pt idx="106">
                  <c:v>13.64</c:v>
                </c:pt>
                <c:pt idx="107">
                  <c:v>13.61</c:v>
                </c:pt>
                <c:pt idx="108">
                  <c:v>13.57</c:v>
                </c:pt>
                <c:pt idx="109">
                  <c:v>13.53</c:v>
                </c:pt>
                <c:pt idx="110">
                  <c:v>13.49</c:v>
                </c:pt>
                <c:pt idx="111">
                  <c:v>13.43</c:v>
                </c:pt>
                <c:pt idx="112">
                  <c:v>13.37</c:v>
                </c:pt>
                <c:pt idx="113">
                  <c:v>13.29</c:v>
                </c:pt>
                <c:pt idx="114">
                  <c:v>13.19</c:v>
                </c:pt>
                <c:pt idx="115">
                  <c:v>13.05</c:v>
                </c:pt>
                <c:pt idx="116">
                  <c:v>12.86</c:v>
                </c:pt>
                <c:pt idx="117">
                  <c:v>12.54</c:v>
                </c:pt>
                <c:pt idx="118">
                  <c:v>11.91</c:v>
                </c:pt>
                <c:pt idx="119">
                  <c:v>8.79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Sheet1!$B$160</c:f>
              <c:strCache>
                <c:ptCount val="1"/>
                <c:pt idx="0">
                  <c:v>Network rate</c:v>
                </c:pt>
              </c:strCache>
            </c:strRef>
          </c:tx>
          <c:spPr>
            <a:ln w="15875">
              <a:solidFill>
                <a:srgbClr val="6B6690"/>
              </a:solidFill>
              <a:prstDash val="dash"/>
            </a:ln>
          </c:spPr>
          <c:marker>
            <c:symbol val="none"/>
          </c:marker>
          <c:xVal>
            <c:numRef>
              <c:f>Sheet1!$A$161:$A$162</c:f>
              <c:numCache>
                <c:formatCode>General</c:formatCode>
                <c:ptCount val="2"/>
                <c:pt idx="0">
                  <c:v>0</c:v>
                </c:pt>
                <c:pt idx="1">
                  <c:v>36000</c:v>
                </c:pt>
              </c:numCache>
            </c:numRef>
          </c:xVal>
          <c:yVal>
            <c:numRef>
              <c:f>Sheet1!$B$161:$B$162</c:f>
              <c:numCache>
                <c:formatCode>General</c:formatCode>
                <c:ptCount val="2"/>
                <c:pt idx="0">
                  <c:v>14.41</c:v>
                </c:pt>
                <c:pt idx="1">
                  <c:v>14.41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60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Visits that reached the collection app, Jan 2025 to Jun 2026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crossAx val="-2129643912"/>
        <c:crosses val="autoZero"/>
        <c:crossBetween val="midCat"/>
        <c:majorUnit val="6000.0"/>
      </c:valAx>
      <c:valAx>
        <c:axId val="-2129643912"/>
        <c:scaling>
          <c:orientation val="minMax"/>
          <c:max val="24.0"/>
          <c:min val="8.0"/>
        </c:scaling>
        <c:delete val="0"/>
        <c:axPos val="l"/>
        <c:majorGridlines>
          <c:spPr>
            <a:ln>
              <a:solidFill>
                <a:srgbClr val="E4E0F4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No-show rate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crossAx val="-2128940872"/>
        <c:crosses val="autoZero"/>
        <c:crossBetween val="midCat"/>
        <c:majorUnit val="2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B669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Patients (people)</c:v>
                </c:pt>
              </c:strCache>
            </c:strRef>
          </c:tx>
          <c:spPr>
            <a:solidFill>
              <a:srgbClr val="4E38AB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Ahmedabad</c:v>
                </c:pt>
                <c:pt idx="1">
                  <c:v>Bengaluru</c:v>
                </c:pt>
                <c:pt idx="2">
                  <c:v>Chennai</c:v>
                </c:pt>
                <c:pt idx="3">
                  <c:v>Hyderabad</c:v>
                </c:pt>
                <c:pt idx="4">
                  <c:v>Jaipur</c:v>
                </c:pt>
                <c:pt idx="5">
                  <c:v>Pune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9.6</c:v>
                </c:pt>
                <c:pt idx="1">
                  <c:v>7.2</c:v>
                </c:pt>
                <c:pt idx="2">
                  <c:v>-5.0</c:v>
                </c:pt>
                <c:pt idx="3">
                  <c:v>8.1</c:v>
                </c:pt>
                <c:pt idx="4">
                  <c:v>-12.1</c:v>
                </c:pt>
                <c:pt idx="5">
                  <c:v>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(tests)</c:v>
                </c:pt>
              </c:strCache>
            </c:strRef>
          </c:tx>
          <c:spPr>
            <a:solidFill>
              <a:srgbClr val="E9B04C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Ahmedabad</c:v>
                </c:pt>
                <c:pt idx="1">
                  <c:v>Bengaluru</c:v>
                </c:pt>
                <c:pt idx="2">
                  <c:v>Chennai</c:v>
                </c:pt>
                <c:pt idx="3">
                  <c:v>Hyderabad</c:v>
                </c:pt>
                <c:pt idx="4">
                  <c:v>Jaipur</c:v>
                </c:pt>
                <c:pt idx="5">
                  <c:v>Pune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18.3</c:v>
                </c:pt>
                <c:pt idx="1">
                  <c:v>20.4</c:v>
                </c:pt>
                <c:pt idx="2">
                  <c:v>17.4</c:v>
                </c:pt>
                <c:pt idx="3">
                  <c:v>18.3</c:v>
                </c:pt>
                <c:pt idx="4">
                  <c:v>16.3</c:v>
                </c:pt>
                <c:pt idx="5">
                  <c:v>19.4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sz="1000">
                  <a:solidFill>
                    <a:srgbClr val="1A14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9A4C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-15.0"/>
        </c:scaling>
        <c:delete val="0"/>
        <c:axPos val="l"/>
        <c:majorGridlines>
          <c:spPr>
            <a:ln w="9525">
              <a:solidFill>
                <a:srgbClr val="E4E0F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6B669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Booked</c:v>
                </c:pt>
              </c:strCache>
            </c:strRef>
          </c:tx>
          <c:spPr>
            <a:solidFill>
              <a:srgbClr val="A9A4C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Chennai Jan-Mar (old)</c:v>
                </c:pt>
                <c:pt idx="1">
                  <c:v>Chennai Apr-Jun (new)</c:v>
                </c:pt>
                <c:pt idx="2">
                  <c:v>Jaipur Jan-Mar (old)</c:v>
                </c:pt>
                <c:pt idx="3">
                  <c:v>Jaipur Apr-Jun (new)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-2.3</c:v>
                </c:pt>
                <c:pt idx="2">
                  <c:v>-14.7</c:v>
                </c:pt>
                <c:pt idx="3">
                  <c:v>-6.3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4E38A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Chennai Jan-Mar (old)</c:v>
                </c:pt>
                <c:pt idx="1">
                  <c:v>Chennai Apr-Jun (new)</c:v>
                </c:pt>
                <c:pt idx="2">
                  <c:v>Jaipur Jan-Mar (old)</c:v>
                </c:pt>
                <c:pt idx="3">
                  <c:v>Jaipur Apr-Jun (new)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4.8</c:v>
                </c:pt>
                <c:pt idx="1">
                  <c:v>-7.7</c:v>
                </c:pt>
                <c:pt idx="2">
                  <c:v>-12.9</c:v>
                </c:pt>
                <c:pt idx="3">
                  <c:v>-12.3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Lab-tested</c:v>
                </c:pt>
              </c:strCache>
            </c:strRef>
          </c:tx>
          <c:spPr>
            <a:solidFill>
              <a:srgbClr val="E9B04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Chennai Jan-Mar (old)</c:v>
                </c:pt>
                <c:pt idx="1">
                  <c:v>Chennai Apr-Jun (new)</c:v>
                </c:pt>
                <c:pt idx="2">
                  <c:v>Jaipur Jan-Mar (old)</c:v>
                </c:pt>
                <c:pt idx="3">
                  <c:v>Jaipur Apr-Jun (new)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-7.8</c:v>
                </c:pt>
                <c:pt idx="2">
                  <c:v>-12.8</c:v>
                </c:pt>
                <c:pt idx="3">
                  <c:v>-12.3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sz="900">
                  <a:solidFill>
                    <a:srgbClr val="1A14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9A4C4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-20.0"/>
        </c:scaling>
        <c:delete val="0"/>
        <c:axPos val="l"/>
        <c:majorGridlines>
          <c:spPr>
            <a:ln w="9525">
              <a:solidFill>
                <a:srgbClr val="E4E0F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6B669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dPt>
            <c:idx val="0"/>
            <c:spPr>
              <a:solidFill>
                <a:srgbClr val="A9A4C4"/>
              </a:solidFill>
            </c:spPr>
          </c:dPt>
          <c:dPt>
            <c:idx val="1"/>
            <c:spPr>
              <a:solidFill>
                <a:srgbClr val="DCD6F7"/>
              </a:solidFill>
            </c:spPr>
          </c:dPt>
          <c:dPt>
            <c:idx val="2"/>
            <c:spPr>
              <a:solidFill>
                <a:srgbClr val="E9B04C"/>
              </a:solidFill>
            </c:spPr>
          </c:dPt>
          <c:cat>
            <c:strRef>
              <c:f>Sheet1!$A$2:$A$4</c:f>
              <c:strCache>
                <c:ptCount val="3"/>
                <c:pt idx="0">
                  <c:v>Rest of network</c:v>
                </c:pt>
                <c:pt idx="1">
                  <c:v>CHE-03 on network rates</c:v>
                </c:pt>
                <c:pt idx="2">
                  <c:v>CHE-03 actual*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</c:v>
                </c:pt>
                <c:pt idx="1">
                  <c:v>16.8</c:v>
                </c:pt>
                <c:pt idx="2">
                  <c:v>17.2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9A4C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9525">
              <a:solidFill>
                <a:srgbClr val="E4E0F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000">
          <a:solidFill>
            <a:srgbClr val="6B669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question and the claims, nothing else. Twenty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 Her words first, then the three translations, then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seconds. Point at two numbers: patients +3.8% against the 17.1% needed, and Chennai plus Jaipur holding 43% of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three sentences. Stop. Count to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Each number with its denominator. Every city's patient growth sits far below its plan growth; only Chennai and Jaipur are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seconds. Each brief: one sized caveat and one rejected approach. For D the honest verdict is that the left-over gap is small and not yet distinguishable from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 End on the cost of being wrong. Then stop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slide: shown only if the panel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seconds. Point at rung 3 (the counting difference) and rung 4 (the loss is patients).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 seconds. This is the chance reference as a picture: the band narrows as clinics get bigger. CHE-03 is far outside it; JAI-05 is the highest raw rate but sits inside the band because it has 155 visits.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If the drop were only counting, booked would fall and collected and tested would hold. After the move to Nova the opposite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minutes. Number 1: the rate with its count. Number 2: chance cannot explain CHE-03; it can explain JAI-05. Number 3: the mix. Compared like with like (same channel, booking source, evening slot, tests per visit) the gap shrinks from 2.9 points to 0.4, and the band includes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A0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A7FF"/>
                </a:solidFill>
                <a:latin typeface="Arial"/>
              </a:rPr>
              <a:t>PG Diploma in AI-ML and Agentic AI Engineering · Cohort 2 · Build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B04C"/>
                </a:solidFill>
                <a:latin typeface="Arial"/>
              </a:rPr>
              <a:t>BRIEFS A, B AND D · GROWTH, TWO CITIES, ONE CLINIC · GROUP &lt;N&gt;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Where did the 13 points go, is the fall in two cities real, and is one clinic really worse?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D6F7"/>
                </a:solidFill>
                <a:latin typeface="Arial"/>
              </a:rPr>
              <a:t>Patients are the short branch (+3.8% against +17.1% needed), the fall in Chennai and Jaipur is real, and CHE-03's no-show rate is real but 86% explained by its schedule mix.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B0E6"/>
                </a:solidFill>
                <a:latin typeface="Arial"/>
              </a:rPr>
              <a:t>&lt;Member&gt; · &lt;Member&gt; · &lt;Member&gt; · &lt;Member&gt;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1 ·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1 / 10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Which part is short, is the fall real, and is one clinic worse?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E38AB"/>
                </a:solidFill>
                <a:latin typeface="Arial"/>
              </a:rPr>
              <a:t>A: </a:t>
            </a:r>
            <a:r>
              <a:rPr sz="1300" b="0">
                <a:solidFill>
                  <a:srgbClr val="1A1440"/>
                </a:solidFill>
                <a:latin typeface="Arial"/>
              </a:rPr>
              <a:t>“Show me the part of my business that is short, by how much, and where.”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4E38AB"/>
                </a:solidFill>
                <a:latin typeface="Arial"/>
              </a:rPr>
              <a:t>B: </a:t>
            </a:r>
            <a:r>
              <a:rPr sz="1300" b="0">
                <a:solidFill>
                  <a:srgbClr val="1A1440"/>
                </a:solidFill>
                <a:latin typeface="Arial"/>
              </a:rPr>
              <a:t>“Before I cut targets or people, I need to know whether the fall is real.”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4E38AB"/>
                </a:solidFill>
                <a:latin typeface="Arial"/>
              </a:rPr>
              <a:t>D: </a:t>
            </a:r>
            <a:r>
              <a:rPr sz="1300" b="0">
                <a:solidFill>
                  <a:srgbClr val="1A1440"/>
                </a:solidFill>
                <a:latin typeface="Arial"/>
              </a:rPr>
              <a:t>“Tell me whether the difference is real, and if it is, whom it affects.”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4E38AB"/>
                </a:solidFill>
                <a:latin typeface="Arial"/>
              </a:rPr>
              <a:t>Our translation: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440"/>
                </a:solidFill>
                <a:latin typeface="Arial"/>
              </a:rPr>
              <a:t>A → the tree: </a:t>
            </a:r>
            <a:r>
              <a:rPr sz="1300" b="0">
                <a:solidFill>
                  <a:srgbClr val="1A1440"/>
                </a:solidFill>
                <a:latin typeface="Arial"/>
              </a:rPr>
              <a:t>tests = patients × visits per patient × tests per visit, both years in every box, split by city.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440"/>
                </a:solidFill>
                <a:latin typeface="Arial"/>
              </a:rPr>
              <a:t>B → the ladder: </a:t>
            </a:r>
            <a:r>
              <a:rPr sz="1300" b="0">
                <a:solidFill>
                  <a:srgbClr val="1A1440"/>
                </a:solidFill>
                <a:latin typeface="Arial"/>
              </a:rPr>
              <a:t>confirm the drop, compare like with like, remove the counting difference between the two systems, split what remains.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440"/>
                </a:solidFill>
                <a:latin typeface="Arial"/>
              </a:rPr>
              <a:t>D → the chance reference and the fair comparison: </a:t>
            </a:r>
            <a:r>
              <a:rPr sz="1300" b="0">
                <a:solidFill>
                  <a:srgbClr val="1A1440"/>
                </a:solidFill>
                <a:latin typeface="Arial"/>
              </a:rPr>
              <a:t>every clinic's rate with its visits, how often chance alone would look this bad, then the same mix of slots, sources and tests.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4E38AB"/>
                </a:solidFill>
                <a:latin typeface="Arial"/>
              </a:rPr>
              <a:t>The decision it drives: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440"/>
                </a:solidFill>
                <a:latin typeface="Arial"/>
              </a:rPr>
              <a:t>Where to spend, whether to cut targets and headcount in Chennai and Jaipur, and whether anyone's job should depend on one clinic's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2 · THE PICTURE · BRIEF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2 / 10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Tests = patients × visits per patient × tests per visit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E9B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938528"/>
            <a:ext cx="310896" cy="310896"/>
          </a:xfrm>
          <a:prstGeom prst="ellipse">
            <a:avLst/>
          </a:prstGeom>
          <a:solidFill>
            <a:srgbClr val="E9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38528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317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E38AB"/>
                </a:solidFill>
                <a:latin typeface="Georgia"/>
              </a:rPr>
              <a:t>+3.8%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926080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690"/>
                </a:solidFill>
                <a:latin typeface="Arial"/>
              </a:rPr>
              <a:t>H1 2025   94,477</a:t>
            </a:r>
          </a:p>
          <a:p>
            <a:pPr algn="l"/>
            <a:r>
              <a:rPr sz="1200" b="0">
                <a:solidFill>
                  <a:srgbClr val="6B6690"/>
                </a:solidFill>
                <a:latin typeface="Arial"/>
              </a:rPr>
              <a:t>H1 2026   98,025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377440"/>
            <a:ext cx="51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6B6690"/>
                </a:solidFill>
                <a:latin typeface="Arial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9960" y="1828800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9688" y="1938528"/>
            <a:ext cx="310896" cy="31089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879" y="1938528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Visits per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2840" y="23317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B83227"/>
                </a:solidFill>
                <a:latin typeface="Georgia"/>
              </a:rPr>
              <a:t>−1.0%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840" y="2926080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690"/>
                </a:solidFill>
                <a:latin typeface="Arial"/>
              </a:rPr>
              <a:t>H1 2025   2.01</a:t>
            </a:r>
          </a:p>
          <a:p>
            <a:pPr algn="l"/>
            <a:r>
              <a:rPr sz="1200" b="0">
                <a:solidFill>
                  <a:srgbClr val="6B6690"/>
                </a:solidFill>
                <a:latin typeface="Arial"/>
              </a:rPr>
              <a:t>H1 2026   1.99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1680" y="2377440"/>
            <a:ext cx="51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6B6690"/>
                </a:solidFill>
                <a:latin typeface="Arial"/>
              </a:rPr>
              <a:t>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9840" y="1828800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9568" y="1938528"/>
            <a:ext cx="310896" cy="31089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2760" y="1938528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Tests per 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720" y="23317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E38AB"/>
                </a:solidFill>
                <a:latin typeface="Georgia"/>
              </a:rPr>
              <a:t>+2.2%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720" y="2926080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690"/>
                </a:solidFill>
                <a:latin typeface="Arial"/>
              </a:rPr>
              <a:t>H1 2025   2.30</a:t>
            </a:r>
          </a:p>
          <a:p>
            <a:pPr algn="l"/>
            <a:r>
              <a:rPr sz="1200" b="0">
                <a:solidFill>
                  <a:srgbClr val="6B6690"/>
                </a:solidFill>
                <a:latin typeface="Arial"/>
              </a:rPr>
              <a:t>H1 2026   2.35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560" y="2377440"/>
            <a:ext cx="51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6B6690"/>
                </a:solidFill>
                <a:latin typeface="Arial"/>
              </a:rPr>
              <a:t>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1828800"/>
            <a:ext cx="2331720" cy="1783080"/>
          </a:xfrm>
          <a:prstGeom prst="roundRect">
            <a:avLst>
              <a:gd name="adj" fmla="val 8000"/>
            </a:avLst>
          </a:prstGeom>
          <a:solidFill>
            <a:srgbClr val="1A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99447" y="1938528"/>
            <a:ext cx="310896" cy="31089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938528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Test volume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23317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9B04C"/>
                </a:solidFill>
                <a:latin typeface="Georgia"/>
              </a:rPr>
              <a:t>+5.0%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2926080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CD6F7"/>
                </a:solidFill>
                <a:latin typeface="Arial"/>
              </a:rPr>
              <a:t>H1 2025   435,008</a:t>
            </a:r>
          </a:p>
          <a:p>
            <a:pPr algn="l"/>
            <a:r>
              <a:rPr sz="1200" b="0">
                <a:solidFill>
                  <a:srgbClr val="DCD6F7"/>
                </a:solidFill>
                <a:latin typeface="Arial"/>
              </a:rPr>
              <a:t>H1 2026   456,788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657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E38AB"/>
                </a:solidFill>
                <a:latin typeface="Arial"/>
              </a:rPr>
              <a:t>SHORT BRANCH: patients (outlined). With the other two as observed, patients needed +17.1% to reach the plan.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0690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5  Gap by city: tests short of plan (plan 515,740, actual 456,788)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389120"/>
            <a:ext cx="172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B83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4462272"/>
            <a:ext cx="153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Chennai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" y="47548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83227"/>
                </a:solidFill>
                <a:latin typeface="Georgia"/>
              </a:rPr>
              <a:t>−13.3K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" y="52120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grew +0.8%</a:t>
            </a:r>
          </a:p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plan +17.4%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71928" y="4389120"/>
            <a:ext cx="172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3368" y="4462272"/>
            <a:ext cx="153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Bengaluru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3368" y="47548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6690"/>
                </a:solidFill>
                <a:latin typeface="Georgia"/>
              </a:rPr>
              <a:t>−12.7K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3368" y="52120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grew +7.6%</a:t>
            </a:r>
          </a:p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plan +20.4%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03776" y="4389120"/>
            <a:ext cx="172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B83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5216" y="4462272"/>
            <a:ext cx="153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Jaipur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5216" y="47548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83227"/>
                </a:solidFill>
                <a:latin typeface="Georgia"/>
              </a:rPr>
              <a:t>−12.2K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5216" y="52120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grew −10.8%</a:t>
            </a:r>
          </a:p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plan +16.3%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35624" y="4389120"/>
            <a:ext cx="172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27064" y="4462272"/>
            <a:ext cx="153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Hyderabad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47548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6690"/>
                </a:solidFill>
                <a:latin typeface="Georgia"/>
              </a:rPr>
              <a:t>−8.0K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7064" y="52120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grew +7.4%</a:t>
            </a:r>
          </a:p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plan +18.3%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67472" y="4389120"/>
            <a:ext cx="172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58911" y="4462272"/>
            <a:ext cx="153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Pune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8911" y="47548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6690"/>
                </a:solidFill>
                <a:latin typeface="Georgia"/>
              </a:rPr>
              <a:t>−6.8K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58911" y="52120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grew +8.1%</a:t>
            </a:r>
          </a:p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plan +19.4%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99320" y="4389120"/>
            <a:ext cx="172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90760" y="4462272"/>
            <a:ext cx="153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Ahmedabad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0760" y="47548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6690"/>
                </a:solidFill>
                <a:latin typeface="Georgia"/>
              </a:rPr>
              <a:t>−6.0K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0760" y="5212080"/>
            <a:ext cx="1539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grew +10.5%</a:t>
            </a:r>
          </a:p>
          <a:p>
            <a:pPr algn="l"/>
            <a:r>
              <a:rPr sz="1000" b="0">
                <a:solidFill>
                  <a:srgbClr val="6B6690"/>
                </a:solidFill>
                <a:latin typeface="Arial"/>
              </a:rPr>
              <a:t>plan +18.3%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5 · THE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5 / 10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440"/>
                </a:solidFill>
                <a:latin typeface="Georgia"/>
              </a:rPr>
              <a:t>One sentence per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237744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E38AB"/>
                </a:solidFill>
                <a:latin typeface="Georgia"/>
              </a:rPr>
              <a:t>A: </a:t>
            </a:r>
            <a:r>
              <a:rPr sz="1700" b="1">
                <a:solidFill>
                  <a:srgbClr val="1A0F5C"/>
                </a:solidFill>
                <a:latin typeface="Georgia"/>
              </a:rPr>
              <a:t>Patients are the short branch: 3.8% growth against the 17.1% the 18.6% plan needed (H1 2026 vs H1 2025).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E38AB"/>
                </a:solidFill>
                <a:latin typeface="Georgia"/>
              </a:rPr>
              <a:t>B: </a:t>
            </a:r>
            <a:r>
              <a:rPr sz="1700" b="1">
                <a:solidFill>
                  <a:srgbClr val="1A0F5C"/>
                </a:solidFill>
                <a:latin typeface="Georgia"/>
              </a:rPr>
              <a:t>The fall in Chennai and Jaipur is real: Q2 visits are down 5.0% and 8.4% with the counting difference removed.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E38AB"/>
                </a:solidFill>
                <a:latin typeface="Georgia"/>
              </a:rPr>
              <a:t>D: </a:t>
            </a:r>
            <a:r>
              <a:rPr sz="1700" b="1">
                <a:solidFill>
                  <a:srgbClr val="1A0F5C"/>
                </a:solidFill>
                <a:latin typeface="Georgia"/>
              </a:rPr>
              <a:t>CHE-03's no-show rate (17.3% against 14.4%) is real, not chance, but 86% of the gap is its evening and phone-booking mix; what is left (+0.4 points) cannot yet be told from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6 · THE EVIDENCE · BRIEF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6 / 10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Brief A: three numbers, one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Number 1: </a:t>
            </a:r>
            <a:r>
              <a:rPr sz="1500" b="0">
                <a:solidFill>
                  <a:srgbClr val="1A1440"/>
                </a:solidFill>
                <a:latin typeface="Arial"/>
              </a:rPr>
              <a:t>patients grew 3.8%: 98,025 vs 94,477 people, H1 2026 vs H1 2025. The plan needed 17.1%.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Number 2: </a:t>
            </a:r>
            <a:r>
              <a:rPr sz="1500" b="0">
                <a:solidFill>
                  <a:srgbClr val="1A1440"/>
                </a:solidFill>
                <a:latin typeface="Arial"/>
              </a:rPr>
              <a:t>58,952 tests short: 456,788 booked against a plan of 515,740, H1 2026. Chennai and Jaipur hold 43% of it.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Number 3: </a:t>
            </a:r>
            <a:r>
              <a:rPr sz="1500" b="0">
                <a:solidFill>
                  <a:srgbClr val="1A1440"/>
                </a:solidFill>
                <a:latin typeface="Arial"/>
              </a:rPr>
              <a:t>tests per visit +2.2% (2.35 vs 2.30) and visits per patient −1.0% (1.99 vs 2.01): neither explains the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62179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Patients grew far less than the plan asked, in every city (growth, H1 2026 vs H1 2025)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577840" y="2240280"/>
          <a:ext cx="6035040" cy="3520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9 · THE CAVEAT AND THE 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9 / 10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440"/>
                </a:solidFill>
                <a:latin typeface="Georgia"/>
              </a:rPr>
              <a:t>One caveat and one rejected approach, for each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627120" cy="4206240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38AB"/>
                </a:solidFill>
                <a:latin typeface="Arial"/>
              </a:rPr>
              <a:t>BRIEF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26136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Would change it: </a:t>
            </a:r>
            <a:r>
              <a:rPr sz="1500" b="0">
                <a:solidFill>
                  <a:srgbClr val="1A1440"/>
                </a:solidFill>
                <a:latin typeface="Arial"/>
              </a:rPr>
              <a:t>Nova bookings with no collection record (8.5% of Q2 2026 bookings in Chennai and Jaipur, 3.0% a year ago). If not real, growth is +4.3%, not +5.0%.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Rejected: </a:t>
            </a:r>
            <a:r>
              <a:rPr sz="1500" b="0">
                <a:solidFill>
                  <a:srgbClr val="1A1440"/>
                </a:solidFill>
                <a:latin typeface="Arial"/>
              </a:rPr>
              <a:t>counting collections (+4.9%) or lab results (+5.0%). Moves the headline about 0.1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1645920"/>
            <a:ext cx="3627120" cy="4206240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0080" y="1737360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38AB"/>
                </a:solidFill>
                <a:latin typeface="Arial"/>
              </a:rPr>
              <a:t>BRIEF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2057400"/>
            <a:ext cx="326136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Would change it: </a:t>
            </a:r>
            <a:r>
              <a:rPr sz="1500" b="0">
                <a:solidFill>
                  <a:srgbClr val="1A1440"/>
                </a:solidFill>
                <a:latin typeface="Arial"/>
              </a:rPr>
              <a:t>the same bookings. The collected-tests fall shrinks from −9.3% to −2.9%. Patients still fall.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Rejected: </a:t>
            </a:r>
            <a:r>
              <a:rPr sz="1500" b="0">
                <a:solidFill>
                  <a:srgbClr val="1A1440"/>
                </a:solidFill>
                <a:latin typeface="Arial"/>
              </a:rPr>
              <a:t>Q2 2026 vs Q1 2026. Jaipur was already 12.1% lower in Q2 last year, so it would show −4.3%, not −8.4%.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645920"/>
            <a:ext cx="3627120" cy="4206240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737360"/>
            <a:ext cx="326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38AB"/>
                </a:solidFill>
                <a:latin typeface="Arial"/>
              </a:rPr>
              <a:t>BRIEF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057400"/>
            <a:ext cx="326136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Would change it: </a:t>
            </a:r>
            <a:r>
              <a:rPr sz="1500" b="0">
                <a:solidFill>
                  <a:srgbClr val="1A1440"/>
                </a:solidFill>
                <a:latin typeface="Arial"/>
              </a:rPr>
              <a:t>causes we cannot see. Left-over gap +0.4 points (band −0.1 to +0.9): about 130 tests at most in H1 2026.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Rejected: </a:t>
            </a:r>
            <a:r>
              <a:rPr sz="1500" b="0">
                <a:solidFill>
                  <a:srgbClr val="1A1440"/>
                </a:solidFill>
                <a:latin typeface="Arial"/>
              </a:rPr>
              <a:t>ranking on the raw rate. It implies about 280 lost tests, against about 60 once the mix is matched.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10 · THE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10 / 10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440"/>
                </a:solidFill>
                <a:latin typeface="Georgia"/>
              </a:rPr>
              <a:t>Reset the plan, hold the cut, test reminders at CHE-03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E38AB"/>
                </a:solidFill>
                <a:latin typeface="Arial"/>
              </a:rPr>
              <a:t>Do: </a:t>
            </a:r>
            <a:r>
              <a:rPr sz="1700" b="0">
                <a:solidFill>
                  <a:srgbClr val="1A1440"/>
                </a:solidFill>
                <a:latin typeface="Arial"/>
              </a:rPr>
              <a:t>(A) rebase the H2 plan on the four stable cities (+8.4% vs a +19.2% plan). (B) get competitor dates and the price gap from the two city heads; hold any cut. (D) test reminder calls at CHE-03; keep the manager.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4E38AB"/>
                </a:solidFill>
                <a:latin typeface="Arial"/>
              </a:rPr>
              <a:t>Cost: </a:t>
            </a:r>
            <a:r>
              <a:rPr sz="1700" b="0">
                <a:solidFill>
                  <a:srgbClr val="1A1440"/>
                </a:solidFill>
                <a:latin typeface="Arial"/>
              </a:rPr>
              <a:t>not in the datapack; finance to size it.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4E38AB"/>
                </a:solidFill>
                <a:latin typeface="Arial"/>
              </a:rPr>
              <a:t>If we are wrong: </a:t>
            </a:r>
            <a:r>
              <a:rPr sz="1700" b="0">
                <a:solidFill>
                  <a:srgbClr val="1A1440"/>
                </a:solidFill>
                <a:latin typeface="Arial"/>
              </a:rPr>
              <a:t>(A) part of the 58,952-test gap each half. (B) up to 25,484 tests. (D) about 130 tests.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440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4E38AB"/>
                </a:solidFill>
                <a:latin typeface="Arial"/>
              </a:rPr>
              <a:t>With two more days: </a:t>
            </a:r>
            <a:r>
              <a:rPr sz="1700" b="0">
                <a:solidFill>
                  <a:srgbClr val="1A1440"/>
                </a:solidFill>
                <a:latin typeface="Arial"/>
              </a:rPr>
              <a:t>new vs returning patients; the two cities by clinic; CHE-03 by day of week.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11 / 11</a:t>
            </a:r>
          </a:p>
        </p:txBody>
      </p:sp>
      <p:pic>
        <p:nvPicPr>
          <p:cNvPr id="5" name="Picture 4" descr="iitgn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440"/>
                </a:solidFill>
                <a:latin typeface="Georgia"/>
              </a:rPr>
              <a:t>Appendix · Decisions that moved the headline, and what else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A · Old version of a rescheduled Nova booking dropped: </a:t>
            </a:r>
            <a:r>
              <a:rPr sz="1400" b="0">
                <a:solidFill>
                  <a:srgbClr val="1A1440"/>
                </a:solidFill>
                <a:latin typeface="Arial"/>
              </a:rPr>
              <a:t>1,499 bookings. Without it, growth is +5.82%, not +5.01%.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A · Slot before creation time rejected: </a:t>
            </a:r>
            <a:r>
              <a:rPr sz="1400" b="0">
                <a:solidFill>
                  <a:srgbClr val="1A1440"/>
                </a:solidFill>
                <a:latin typeface="Arial"/>
              </a:rPr>
              <a:t>1,030 bookings; growth +4.97% without it. </a:t>
            </a:r>
            <a:r>
              <a:rPr sz="1400" b="1">
                <a:solidFill>
                  <a:srgbClr val="4E38AB"/>
                </a:solidFill>
                <a:latin typeface="Arial"/>
              </a:rPr>
              <a:t>Bangalore → Bengaluru: </a:t>
            </a:r>
            <a:r>
              <a:rPr sz="1400" b="0">
                <a:solidFill>
                  <a:srgbClr val="1A1440"/>
                </a:solidFill>
                <a:latin typeface="Arial"/>
              </a:rPr>
              <a:t>needed for the plan join.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B · One Nova booking = one visit: </a:t>
            </a:r>
            <a:r>
              <a:rPr sz="1400" b="0">
                <a:solidFill>
                  <a:srgbClr val="1A1440"/>
                </a:solidFill>
                <a:latin typeface="Arial"/>
              </a:rPr>
              <a:t>counting rows in both systems gives Chennai −56%, Jaipur −58%.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D · Visits that reached the collection app: </a:t>
            </a:r>
            <a:r>
              <a:rPr sz="1400" b="0">
                <a:solidFill>
                  <a:srgbClr val="1A1440"/>
                </a:solidFill>
                <a:latin typeface="Arial"/>
              </a:rPr>
              <a:t>collected or no-show, 2,894 double scans removed; evening = from 16:00; 18,165 of CHE-03's visits matched.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Extra: </a:t>
            </a:r>
            <a:r>
              <a:rPr sz="1400" b="0">
                <a:solidFill>
                  <a:srgbClr val="1A1440"/>
                </a:solidFill>
                <a:latin typeface="Arial"/>
              </a:rPr>
              <a:t>home tests +37.5%, clinic −11.9%; booked revenue +11.4% (not invoiced).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Open: </a:t>
            </a:r>
            <a:r>
              <a:rPr sz="1400" b="0">
                <a:solidFill>
                  <a:srgbClr val="1A1440"/>
                </a:solidFill>
                <a:latin typeface="Arial"/>
              </a:rPr>
              <a:t>an earlier version recovered more legacy IDs: 436,302 → 458,089 (+4.99%) vs 435,008 → 456,788 (+5.01%) here. Same story; not reconciled.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Cold run: </a:t>
            </a:r>
            <a:r>
              <a:rPr sz="1400" b="0">
                <a:solidFill>
                  <a:srgbClr val="1A1440"/>
                </a:solidFill>
                <a:latin typeface="Arial"/>
              </a:rPr>
              <a:t>ran clean locally on 24 Oct 2026. A fresh Codespace run is still to 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3 · THE PICTURE · BRIEF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3 / 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The ladder: five rungs from “is it real?” to “why?”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10512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965960"/>
            <a:ext cx="402336" cy="40233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847088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Confirm the drop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47088"/>
            <a:ext cx="7635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440"/>
                </a:solidFill>
                <a:latin typeface="Arial"/>
              </a:rPr>
              <a:t>Q2 visits: Chennai 17,458 → 16,585 (−5.0%); Jaipur 9,161 → 8,394 (−8.4%).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578608"/>
            <a:ext cx="10469880" cy="713232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9576" y="2734056"/>
            <a:ext cx="402336" cy="40233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2615184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Compare like with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615184"/>
            <a:ext cx="7223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440"/>
                </a:solidFill>
                <a:latin typeface="Arial"/>
              </a:rPr>
              <a:t>Same quarter, same city, every count labelled by system (Q2 2025 legacy, Q2 2026 Nova). Q1, legacy in both years: Chennai +1.0%, Jaipur −15.8%.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346704"/>
            <a:ext cx="10058400" cy="713232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91056" y="3502152"/>
            <a:ext cx="402336" cy="40233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3832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Remove the counting 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6812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440"/>
                </a:solidFill>
                <a:latin typeface="Arial"/>
              </a:rPr>
              <a:t>Legacy has one row per test, Nova one object per booking. Counting rows in both shows Chennai −56% and Jaipur −58%. One booking = one visit gives −5.0% and −8.4%.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114800"/>
            <a:ext cx="9646920" cy="713232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02536" y="4270248"/>
            <a:ext cx="402336" cy="402336"/>
          </a:xfrm>
          <a:prstGeom prst="ellipse">
            <a:avLst/>
          </a:prstGeom>
          <a:solidFill>
            <a:srgbClr val="4E3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4151376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440"/>
                </a:solidFill>
                <a:latin typeface="Arial"/>
              </a:rPr>
              <a:t>Split what remains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4151376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440"/>
                </a:solidFill>
                <a:latin typeface="Arial"/>
              </a:rPr>
              <a:t>Patients −6.7% / −9.2%; visits per patient +1.8% / +0.9%; tests per visit +2.9% / +2.2% (Chennai / Jaipur). The loss is patients.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882896"/>
            <a:ext cx="9235440" cy="713232"/>
          </a:xfrm>
          <a:prstGeom prst="roundRect">
            <a:avLst>
              <a:gd name="adj" fmla="val 8000"/>
            </a:avLst>
          </a:prstGeom>
          <a:solidFill>
            <a:srgbClr val="1A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14016" y="5038344"/>
            <a:ext cx="402336" cy="402336"/>
          </a:xfrm>
          <a:prstGeom prst="ellipse">
            <a:avLst/>
          </a:prstGeom>
          <a:solidFill>
            <a:srgbClr val="E9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919472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Hypothesise, and say what settles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919472"/>
            <a:ext cx="5989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DCD6F7"/>
                </a:solidFill>
                <a:latin typeface="Arial"/>
              </a:rPr>
              <a:t>Competitor centres (Thyrocare) or service? Ask both city heads for opening dates and the price gap; split by clinic.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4 · THE PICTURE · BRIEF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4 / 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Each clinic's rate against its size, with the chance band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783080"/>
          <a:ext cx="758952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58200" y="1783080"/>
            <a:ext cx="3246120" cy="3977639"/>
          </a:xfrm>
          <a:prstGeom prst="roundRect">
            <a:avLst>
              <a:gd name="adj" fmla="val 8000"/>
            </a:avLst>
          </a:prstGeom>
          <a:solidFill>
            <a:srgbClr val="EDE9FA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874519"/>
            <a:ext cx="2926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4E38AB"/>
                </a:solidFill>
                <a:latin typeface="Arial"/>
              </a:rPr>
              <a:t>How to read it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A1440"/>
                </a:solidFill>
                <a:latin typeface="Arial"/>
              </a:rPr>
              <a:t>Each dot is a clinic. Inside the band, chance alone could produce the rate.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1A1440"/>
                </a:solidFill>
                <a:latin typeface="Arial"/>
              </a:rPr>
              <a:t>CHE-03</a:t>
            </a:r>
            <a:r>
              <a:rPr sz="1100" b="0">
                <a:solidFill>
                  <a:srgbClr val="1A1440"/>
                </a:solidFill>
                <a:latin typeface="Arial"/>
              </a:rPr>
              <a:t> sits above the band: 3,170 no-shows in 18,373 visits (17.3%) against 14.4% for the network.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1A1440"/>
                </a:solidFill>
                <a:latin typeface="Arial"/>
              </a:rPr>
              <a:t>JAI-05</a:t>
            </a:r>
            <a:r>
              <a:rPr sz="1100" b="0">
                <a:solidFill>
                  <a:srgbClr val="1A1440"/>
                </a:solidFill>
                <a:latin typeface="Arial"/>
              </a:rPr>
              <a:t> has the highest raw rate (17.4%) but only 155 visits; 17% of simulated clinics that size reach it. That is noise.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7 · THE EVIDENCE · BRIEF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7 / 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Brief B: three numbers, one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Number 1: </a:t>
            </a:r>
            <a:r>
              <a:rPr sz="1500" b="0">
                <a:solidFill>
                  <a:srgbClr val="1A1440"/>
                </a:solidFill>
                <a:latin typeface="Arial"/>
              </a:rPr>
              <a:t>5.0% fewer visits in Chennai (16,585 vs 17,458 bookings) and 8.4% fewer in Jaipur (8,394 vs 9,161), Q2 2026 vs Q2 2025.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Number 2: </a:t>
            </a:r>
            <a:r>
              <a:rPr sz="1500" b="0">
                <a:solidFill>
                  <a:srgbClr val="1A1440"/>
                </a:solidFill>
                <a:latin typeface="Arial"/>
              </a:rPr>
              <a:t>collected tests fell 7.7% and 12.3%, lab-tested 7.8% and 12.3%, against booked 2.3% and 6.3%: not a counting effect.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E38AB"/>
                </a:solidFill>
                <a:latin typeface="Arial"/>
              </a:rPr>
              <a:t>Number 3: </a:t>
            </a:r>
            <a:r>
              <a:rPr sz="1500" b="0">
                <a:solidFill>
                  <a:srgbClr val="1A1440"/>
                </a:solidFill>
                <a:latin typeface="Arial"/>
              </a:rPr>
              <a:t>patients −6.7% in Chennai (10,466 vs 11,213 people) and −9.2% in Jaipur (5,388 vs 5,934); tests per visit rose.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62179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Growth in booked, collected and lab-tested counts, same quarter last year = 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577840" y="2240280"/>
          <a:ext cx="603504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8000"/>
            </a:avLst>
          </a:prstGeom>
          <a:solidFill>
            <a:srgbClr val="4E3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38AB"/>
                </a:solidFill>
                <a:latin typeface="Arial"/>
              </a:rPr>
              <a:t>8 · THE EVIDENCE · BRIEF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28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690"/>
                </a:solidFill>
                <a:latin typeface="Arial"/>
              </a:rPr>
              <a:t>8 / 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6690"/>
                </a:solidFill>
                <a:latin typeface="Arial"/>
              </a:rPr>
              <a:t>Indian Institute of Technology Gandhinagar · PG Diploma in AI-ML and Agentic AI Engineering · Cohort 2 · Build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440"/>
                </a:solidFill>
                <a:latin typeface="Georgia"/>
              </a:rPr>
              <a:t>Brief D: three numbers, one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Number 1: </a:t>
            </a:r>
            <a:r>
              <a:rPr sz="1400" b="0">
                <a:solidFill>
                  <a:srgbClr val="1A1440"/>
                </a:solidFill>
                <a:latin typeface="Arial"/>
              </a:rPr>
              <a:t>17.3% no-show at CHE-03: 3,170 of 18,373 visits that reached the collection app, Jan 2025 to Jun 2026, against 14.4% for the network (79,172 of 549,598).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Number 2: </a:t>
            </a:r>
            <a:r>
              <a:rPr sz="1400" b="0">
                <a:solidFill>
                  <a:srgbClr val="1A1440"/>
                </a:solidFill>
                <a:latin typeface="Arial"/>
              </a:rPr>
              <a:t>0 in 20,000 simulated clinics of that size reach 17.3% at the network rate, so it is not chance. JAI-05 (tiny, 155 visits) is the one that chance does explain.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4E38AB"/>
                </a:solidFill>
                <a:latin typeface="Arial"/>
              </a:rPr>
              <a:t>Number 3: </a:t>
            </a:r>
            <a:r>
              <a:rPr sz="1400" b="0">
                <a:solidFill>
                  <a:srgbClr val="1A1440"/>
                </a:solidFill>
                <a:latin typeface="Arial"/>
              </a:rPr>
              <a:t>50% of CHE-03's visits are evening slots (network 26%) and 44% phone bookings (30%). On that mix the network would show 16.8%: 86% of the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62179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440"/>
                </a:solidFill>
                <a:latin typeface="Arial"/>
              </a:rPr>
              <a:t>No-show rate: the network, CHE-03 on its own mix, and CHE-03 actual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577840" y="2194560"/>
          <a:ext cx="60350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530352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E38AB"/>
                </a:solidFill>
                <a:latin typeface="Arial"/>
              </a:rPr>
              <a:t>Left over after matching: +0.4 points (95% band −0.1 to +0.9).</a:t>
            </a:r>
          </a:p>
          <a:p>
            <a:pPr algn="l"/>
            <a:r>
              <a:rPr sz="950" b="0">
                <a:solidFill>
                  <a:srgbClr val="6B6690"/>
                </a:solidFill>
                <a:latin typeface="Arial"/>
              </a:rPr>
              <a:t>*Rates use the 18,165 of CHE-03's 18,373 visits that match a booking.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